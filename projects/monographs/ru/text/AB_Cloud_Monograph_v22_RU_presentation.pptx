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61572" y="289322"/>
            <a:ext cx="4564856" cy="45648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361634" y="789384"/>
            <a:ext cx="3564731" cy="356473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825978" y="1253728"/>
            <a:ext cx="2636044" cy="2636044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8254603" y="1682353"/>
            <a:ext cx="1778794" cy="1778794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8647509" y="2075259"/>
            <a:ext cx="992981" cy="992981"/>
          </a:xfrm>
          <a:prstGeom prst="ellipse">
            <a:avLst/>
          </a:prstGeom>
          <a:solidFill>
            <a:srgbClr val="4FC3F7">
              <a:alpha val="4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9111853" y="1646634"/>
            <a:ext cx="64294" cy="64294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33350" dist="50800" dir="16200000">
              <a:srgbClr val="4FC3F7">
                <a:alpha val="9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490347" y="3175397"/>
            <a:ext cx="50006" cy="50006"/>
          </a:xfrm>
          <a:prstGeom prst="ellipse">
            <a:avLst/>
          </a:prstGeom>
          <a:solidFill>
            <a:srgbClr val="4FC3F7">
              <a:alpha val="75000"/>
            </a:srgbClr>
          </a:solidFill>
          <a:ln/>
          <a:effectLst>
            <a:outerShdw sx="100000" sy="100000" kx="0" ky="0" algn="bl" rotWithShape="0" blurRad="133350" dist="50800" dir="16200000">
              <a:srgbClr val="4FC3F7">
                <a:alpha val="9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186738" y="1614488"/>
            <a:ext cx="42863" cy="42863"/>
          </a:xfrm>
          <a:prstGeom prst="ellipse">
            <a:avLst/>
          </a:prstGeom>
          <a:solidFill>
            <a:srgbClr val="4FC3F7">
              <a:alpha val="60000"/>
            </a:srgbClr>
          </a:solidFill>
          <a:ln/>
          <a:effectLst>
            <a:outerShdw sx="100000" sy="100000" kx="0" ky="0" algn="bl" rotWithShape="0" blurRad="133350" dist="50800" dir="16200000">
              <a:srgbClr val="4FC3F7">
                <a:alpha val="9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752415" y="2928938"/>
            <a:ext cx="2391585" cy="22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75"/>
              </a:lnSpc>
              <a:buNone/>
            </a:pPr>
            <a:r>
              <a:rPr lang="en-US" sz="21375" b="1" dirty="0">
                <a:solidFill>
                  <a:srgbClr val="EAF2FA">
                    <a:alpha val="4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ζ</a:t>
            </a:r>
            <a:endParaRPr lang="en-US" sz="21375" dirty="0"/>
          </a:p>
        </p:txBody>
      </p:sp>
      <p:sp>
        <p:nvSpPr>
          <p:cNvPr id="13" name="Text 9"/>
          <p:cNvSpPr/>
          <p:nvPr/>
        </p:nvSpPr>
        <p:spPr>
          <a:xfrm>
            <a:off x="514350" y="704217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VERIFIED NUMERICS · 37 TESTS · V19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14350" y="956035"/>
            <a:ext cx="7543800" cy="194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38"/>
              </a:lnSpc>
              <a:buNone/>
            </a:pPr>
            <a:r>
              <a:rPr lang="en-US" sz="4388" b="1" spc="-44" kern="0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AB-облако</a:t>
            </a:r>
            <a:endParaRPr lang="en-US" sz="4388" dirty="0"/>
          </a:p>
          <a:p>
            <a:pPr algn="l" indent="0" marL="0">
              <a:lnSpc>
                <a:spcPts val="4738"/>
              </a:lnSpc>
              <a:buNone/>
            </a:pPr>
            <a:r>
              <a:rPr lang="en-US" sz="4388" b="1" spc="-44" kern="0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как </a:t>
            </a:r>
            <a:pPr algn="l" indent="0" marL="0">
              <a:lnSpc>
                <a:spcPts val="4738"/>
              </a:lnSpc>
              <a:buNone/>
            </a:pPr>
            <a:r>
              <a:rPr lang="en-US" sz="4388" b="1" spc="-44" kern="0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фазовый резонатор</a:t>
            </a:r>
            <a:endParaRPr lang="en-US" sz="4388" dirty="0"/>
          </a:p>
        </p:txBody>
      </p:sp>
      <p:sp>
        <p:nvSpPr>
          <p:cNvPr id="15" name="Text 11"/>
          <p:cNvSpPr/>
          <p:nvPr/>
        </p:nvSpPr>
        <p:spPr>
          <a:xfrm>
            <a:off x="514350" y="2947020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14350" y="3139901"/>
            <a:ext cx="5929313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Нули ζ(s), GUE-универсальность и топологическое вихревое вещество — полное численное исследование с независимой верификацией</a:t>
            </a:r>
            <a:endParaRPr lang="en-US" sz="1069" dirty="0"/>
          </a:p>
        </p:txBody>
      </p:sp>
      <p:sp>
        <p:nvSpPr>
          <p:cNvPr id="17" name="Text 13"/>
          <p:cNvSpPr/>
          <p:nvPr/>
        </p:nvSpPr>
        <p:spPr>
          <a:xfrm>
            <a:off x="514350" y="3746227"/>
            <a:ext cx="8115300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Исаев Исхак Хамзатович · </a:t>
            </a:r>
            <a:pPr algn="l" indent="0" marL="0">
              <a:lnSpc>
                <a:spcPts val="1392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ORCID 0009-0003-7299-0701</a:t>
            </a:r>
            <a:endParaRPr lang="en-US" sz="928" dirty="0"/>
          </a:p>
        </p:txBody>
      </p:sp>
      <p:sp>
        <p:nvSpPr>
          <p:cNvPr id="18" name="Text 14"/>
          <p:cNvSpPr/>
          <p:nvPr/>
        </p:nvSpPr>
        <p:spPr>
          <a:xfrm>
            <a:off x="517922" y="4202311"/>
            <a:ext cx="2280084" cy="314325"/>
          </a:xfrm>
          <a:prstGeom prst="roundRect">
            <a:avLst>
              <a:gd name="adj" fmla="val 3027273"/>
            </a:avLst>
          </a:prstGeom>
          <a:solidFill>
            <a:srgbClr val="122640">
              <a:alpha val="75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64369" y="4298752"/>
            <a:ext cx="143014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0.585 ± 0.026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792035" y="4298752"/>
            <a:ext cx="87597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GUE 0.5992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893018" y="4185937"/>
            <a:ext cx="1610313" cy="347072"/>
          </a:xfrm>
          <a:prstGeom prst="roundRect">
            <a:avLst>
              <a:gd name="adj" fmla="val 2741643"/>
            </a:avLst>
          </a:prstGeom>
          <a:solidFill>
            <a:srgbClr val="122640">
              <a:alpha val="75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065897" y="4298752"/>
            <a:ext cx="82794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Байерс–Янг: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758177" y="4298752"/>
            <a:ext cx="60263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3.5·10⁻¹ⁱ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598343" y="4202311"/>
            <a:ext cx="1918878" cy="314325"/>
          </a:xfrm>
          <a:prstGeom prst="roundRect">
            <a:avLst>
              <a:gd name="adj" fmla="val 3027273"/>
            </a:avLst>
          </a:prstGeom>
          <a:solidFill>
            <a:srgbClr val="122640">
              <a:alpha val="75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744789" y="4298752"/>
            <a:ext cx="28914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985779" y="4298752"/>
            <a:ext cx="14680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10.5281/zenodo.21825394</a:t>
            </a:r>
            <a:endParaRPr lang="en-US" sz="788" dirty="0"/>
          </a:p>
        </p:txBody>
      </p:sp>
      <p:sp>
        <p:nvSpPr>
          <p:cNvPr id="27" name="Text 23"/>
          <p:cNvSpPr/>
          <p:nvPr/>
        </p:nvSpPr>
        <p:spPr>
          <a:xfrm>
            <a:off x="0" y="467737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55" kern="0" dirty="0">
                <a:solidFill>
                  <a:srgbClr val="9DB4CC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МОНОГРАФИЯ V22 · АВГУСТ 2026 · RESEARCH-PAPERS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КОНТЕКСТ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Программа Гильберта–Поля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071897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0772" y="1757028"/>
            <a:ext cx="5522119" cy="1080381"/>
          </a:xfrm>
          <a:prstGeom prst="roundRect">
            <a:avLst>
              <a:gd name="adj" fmla="val 1058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78656" y="1924906"/>
            <a:ext cx="4904073" cy="532955"/>
          </a:xfrm>
          <a:prstGeom prst="rect">
            <a:avLst/>
          </a:prstGeom>
          <a:noFill/>
          <a:ln/>
        </p:spPr>
        <p:txBody>
          <a:bodyPr wrap="square" lIns="214313" tIns="171450" rIns="200025" bIns="17145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Если существует самосопряжённый оператор, спектр которого — ординаты нулей ζ(s), то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50376" y="1546287"/>
            <a:ext cx="692301" cy="84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88"/>
              </a:lnSpc>
              <a:buNone/>
            </a:pPr>
            <a:r>
              <a:rPr lang="en-US" sz="6188" b="1" dirty="0">
                <a:solidFill>
                  <a:srgbClr val="4FC3F7">
                    <a:alpha val="28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</a:t>
            </a:r>
            <a:endParaRPr lang="en-US" sz="6188" dirty="0"/>
          </a:p>
        </p:txBody>
      </p:sp>
      <p:sp>
        <p:nvSpPr>
          <p:cNvPr id="10" name="Text 6"/>
          <p:cNvSpPr/>
          <p:nvPr/>
        </p:nvSpPr>
        <p:spPr>
          <a:xfrm>
            <a:off x="678656" y="2168351"/>
            <a:ext cx="4817008" cy="494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гипотеза Римана становится теоремой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0772" y="2958852"/>
            <a:ext cx="2707481" cy="534330"/>
          </a:xfrm>
          <a:prstGeom prst="roundRect">
            <a:avLst>
              <a:gd name="adj" fmla="val 21391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78644" y="3062436"/>
            <a:ext cx="247173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1972 · Монтгомери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78644" y="3258889"/>
            <a:ext cx="142121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парная корреляция нулей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275409" y="2958852"/>
            <a:ext cx="2707481" cy="534330"/>
          </a:xfrm>
          <a:prstGeom prst="roundRect">
            <a:avLst>
              <a:gd name="adj" fmla="val 21391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393281" y="3062436"/>
            <a:ext cx="2581465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Чаеп Принстонского института · Дисон: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393281" y="3244602"/>
            <a:ext cx="2471738" cy="144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парная корреляция 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60772" y="3600338"/>
            <a:ext cx="2707481" cy="679326"/>
          </a:xfrm>
          <a:prstGeom prst="roundRect">
            <a:avLst>
              <a:gd name="adj" fmla="val 1682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78644" y="3703923"/>
            <a:ext cx="247173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1980-е · Одлыжко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78644" y="3886088"/>
            <a:ext cx="258146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численное подтверждение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сотнях тысяч нулей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275409" y="3600338"/>
            <a:ext cx="2707481" cy="679326"/>
          </a:xfrm>
          <a:prstGeom prst="roundRect">
            <a:avLst>
              <a:gd name="adj" fmla="val 1682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393281" y="3703923"/>
            <a:ext cx="247173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1985 · Берри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393281" y="3886088"/>
            <a:ext cx="2471738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конечновыборочные поправки: на высотах 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T≲10⁵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чистый GUE 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отвергается, и это правильно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172200" y="1753456"/>
            <a:ext cx="2514600" cy="2529780"/>
          </a:xfrm>
          <a:prstGeom prst="roundRect">
            <a:avLst>
              <a:gd name="adj" fmla="val 4545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6172200" y="1757028"/>
            <a:ext cx="2514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683228" y="1753456"/>
            <a:ext cx="0" cy="252978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172200" y="4279664"/>
            <a:ext cx="2514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82916" y="1753456"/>
            <a:ext cx="0" cy="2529780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65081" y="1932050"/>
            <a:ext cx="2143125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Наша позиция</a:t>
            </a:r>
            <a:endParaRPr lang="en-US" sz="1181" dirty="0"/>
          </a:p>
        </p:txBody>
      </p:sp>
      <p:sp>
        <p:nvSpPr>
          <p:cNvPr id="29" name="Text 25"/>
          <p:cNvSpPr/>
          <p:nvPr/>
        </p:nvSpPr>
        <p:spPr>
          <a:xfrm>
            <a:off x="6365081" y="2242803"/>
            <a:ext cx="2143125" cy="986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</a:t>
            </a:r>
            <a:pPr algn="l" indent="0" marL="0">
              <a:lnSpc>
                <a:spcPts val="1439"/>
              </a:lnSpc>
              <a:buNone/>
            </a:pPr>
            <a:r>
              <a:rPr lang="en-US" sz="928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доказываем</a:t>
            </a:r>
            <a:pPr algn="l" indent="0" marL="0">
              <a:lnSpc>
                <a:spcPts val="1439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гипотезу Римана. Мы строим полную </a:t>
            </a:r>
            <a:pPr algn="l" indent="0" marL="0">
              <a:lnSpc>
                <a:spcPts val="1439"/>
              </a:lnSpc>
              <a:buNone/>
            </a:pPr>
            <a:r>
              <a:rPr lang="en-US" sz="928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количественную карту</a:t>
            </a:r>
            <a:pPr algn="l" indent="0" marL="0">
              <a:lnSpc>
                <a:spcPts val="1439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того, как конечные решёточные ансамбли приближаются к универсальной статистике</a:t>
            </a:r>
            <a:endParaRPr lang="en-US" sz="928" dirty="0"/>
          </a:p>
        </p:txBody>
      </p:sp>
      <p:sp>
        <p:nvSpPr>
          <p:cNvPr id="30" name="Shape 26"/>
          <p:cNvSpPr/>
          <p:nvPr/>
        </p:nvSpPr>
        <p:spPr>
          <a:xfrm>
            <a:off x="6365081" y="3863541"/>
            <a:ext cx="2143125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dash"/>
          </a:ln>
        </p:spPr>
      </p:sp>
      <p:sp>
        <p:nvSpPr>
          <p:cNvPr id="31" name="Text 27"/>
          <p:cNvSpPr/>
          <p:nvPr/>
        </p:nvSpPr>
        <p:spPr>
          <a:xfrm>
            <a:off x="6365081" y="3859969"/>
            <a:ext cx="2143125" cy="244673"/>
          </a:xfrm>
          <a:prstGeom prst="rect">
            <a:avLst/>
          </a:prstGeom>
          <a:noFill/>
          <a:ln/>
        </p:spPr>
        <p:txBody>
          <a:bodyPr wrap="none" lIns="0" tIns="11430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91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MAP, NOT PROOF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ТАКОЕ AB-ОБЛАКО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AB-облако: решётка, фазы, вихри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314785"/>
            <a:ext cx="8229600" cy="738262"/>
          </a:xfrm>
          <a:prstGeom prst="roundRect">
            <a:avLst>
              <a:gd name="adj" fmla="val 15482"/>
            </a:avLst>
          </a:prstGeom>
          <a:solidFill>
            <a:srgbClr val="1630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457200" y="1318357"/>
            <a:ext cx="8229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683228" y="1314785"/>
            <a:ext cx="0" cy="738262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049475"/>
            <a:ext cx="8229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7916" y="1314785"/>
            <a:ext cx="0" cy="738262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1314785"/>
            <a:ext cx="8229600" cy="797323"/>
          </a:xfrm>
          <a:prstGeom prst="rect">
            <a:avLst/>
          </a:prstGeom>
          <a:noFill/>
          <a:ln/>
        </p:spPr>
        <p:txBody>
          <a:bodyPr wrap="square" lIns="157163" tIns="100013" rIns="157163" bIns="10001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ts val="1800"/>
              </a:lnSpc>
              <a:buNone/>
            </a:pPr>
            <a:r>
              <a:rPr lang="en-US" sz="938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−exp(iφ</a:t>
            </a:r>
            <a:pPr algn="l" indent="0" marL="0">
              <a:lnSpc>
                <a:spcPts val="1800"/>
              </a:lnSpc>
              <a:buNone/>
            </a:pPr>
            <a:r>
              <a:rPr lang="en-US" sz="938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pPr algn="l" indent="0" marL="0">
              <a:lnSpc>
                <a:spcPts val="1800"/>
              </a:lnSpc>
              <a:buNone/>
            </a:pPr>
            <a:r>
              <a:rPr lang="en-US" sz="938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2πα·j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pPr algn="l" indent="0" marL="0">
              <a:lnSpc>
                <a:spcPts val="1800"/>
              </a:lnSpc>
              <a:buNone/>
            </a:pPr>
            <a:r>
              <a:rPr lang="en-US" sz="938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algn="l" indent="0" marL="0">
              <a:lnSpc>
                <a:spcPts val="1800"/>
              </a:lnSpc>
              <a:buNone/>
            </a:pPr>
            <a:r>
              <a:rPr lang="en-US" sz="938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·[arg(r</a:t>
            </a:r>
            <a:pPr algn="l" indent="0" marL="0">
              <a:lnSpc>
                <a:spcPts val="1800"/>
              </a:lnSpc>
              <a:buNone/>
            </a:pPr>
            <a:r>
              <a:rPr lang="en-US" sz="938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−r</a:t>
            </a:r>
            <a:pPr algn="l" indent="0" marL="0">
              <a:lnSpc>
                <a:spcPts val="1800"/>
              </a:lnSpc>
              <a:buNone/>
            </a:pPr>
            <a:r>
              <a:rPr lang="en-US" sz="938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− arg(r</a:t>
            </a:r>
            <a:pPr algn="l" indent="0" marL="0">
              <a:lnSpc>
                <a:spcPts val="1800"/>
              </a:lnSpc>
              <a:buNone/>
            </a:pPr>
            <a:r>
              <a:rPr lang="en-US" sz="938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−r</a:t>
            </a:r>
            <a:pPr algn="l" indent="0" marL="0">
              <a:lnSpc>
                <a:spcPts val="1800"/>
              </a:lnSpc>
              <a:buNone/>
            </a:pPr>
            <a:r>
              <a:rPr lang="en-US" sz="938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φ^строка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446227" y="2198422"/>
            <a:ext cx="262377" cy="220028"/>
          </a:xfrm>
          <a:prstGeom prst="roundRect">
            <a:avLst>
              <a:gd name="adj" fmla="val 34632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" y="2210209"/>
            <a:ext cx="24043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11932" y="2195922"/>
            <a:ext cx="430299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Калибровка Ландау: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фаза столбца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2πα·j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46227" y="3008010"/>
            <a:ext cx="262377" cy="220028"/>
          </a:xfrm>
          <a:prstGeom prst="roundRect">
            <a:avLst>
              <a:gd name="adj" fmla="val 34632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57200" y="3019797"/>
            <a:ext cx="24043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11932" y="3005510"/>
            <a:ext cx="4302993" cy="206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Вихрь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algn="l" indent="0" marL="0">
              <a:lnSpc>
                <a:spcPts val="1350"/>
              </a:lnSpc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закручивает фазу на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2πq</a:t>
            </a:r>
            <a:pPr algn="l" indent="0" marL="0">
              <a:lnSpc>
                <a:spcPts val="1350"/>
              </a:lnSpc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46227" y="3817709"/>
            <a:ext cx="262377" cy="220028"/>
          </a:xfrm>
          <a:prstGeom prst="roundRect">
            <a:avLst>
              <a:gd name="adj" fmla="val 34632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57200" y="3829496"/>
            <a:ext cx="24043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11932" y="3815209"/>
            <a:ext cx="430299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Дираковская нить: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−2πq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пересекаемых связях — поток ровно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2πq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через одну ячейку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6227" y="4759456"/>
            <a:ext cx="262377" cy="220028"/>
          </a:xfrm>
          <a:prstGeom prst="roundRect">
            <a:avLst>
              <a:gd name="adj" fmla="val 34632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57200" y="4771244"/>
            <a:ext cx="24043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811932" y="4756956"/>
            <a:ext cx="430299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Беспорядок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узлах, фиксированное зерно RNG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329238" y="2195922"/>
            <a:ext cx="3357563" cy="2703909"/>
          </a:xfrm>
          <a:prstGeom prst="roundRect">
            <a:avLst>
              <a:gd name="adj" fmla="val 35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2" descr="/tmp/h2p-fit-1787909716114-bnzw7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675" y="2267359"/>
            <a:ext cx="3214688" cy="235743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00675" y="4624797"/>
            <a:ext cx="3214688" cy="203597"/>
          </a:xfrm>
          <a:prstGeom prst="rect">
            <a:avLst/>
          </a:prstGeom>
          <a:noFill/>
          <a:ln/>
        </p:spPr>
        <p:txBody>
          <a:bodyPr wrap="square" lIns="42863" tIns="57150" rIns="42863" bIns="14288" rtlCol="0" anchor="t"/>
          <a:lstStyle/>
          <a:p>
            <a:pPr algn="ct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4A5B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Фазовое „облако" вихревой пары </a:t>
            </a:r>
            <a:pPr algn="ct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4A5B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q=±1</a:t>
            </a:r>
            <a:pPr algn="ct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4A5B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поверх калибровки Ландау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:DIRAC VS :MONUMENTAL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Две калибровки фаз — главный вилок сюиты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071897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1379079"/>
            <a:ext cx="4021931" cy="2753581"/>
          </a:xfrm>
          <a:prstGeom prst="roundRect">
            <a:avLst>
              <a:gd name="adj" fmla="val 4151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457200" y="1389794"/>
            <a:ext cx="4021931" cy="0"/>
          </a:xfrm>
          <a:prstGeom prst="line">
            <a:avLst/>
          </a:prstGeom>
          <a:noFill/>
          <a:ln w="21431">
            <a:solidFill>
              <a:srgbClr val="FFA72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475559" y="1379079"/>
            <a:ext cx="0" cy="2753581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4129088"/>
            <a:ext cx="4021931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0772" y="1379079"/>
            <a:ext cx="0" cy="2753581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0081" y="1586247"/>
            <a:ext cx="72680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:dirac</a:t>
            </a:r>
            <a:endParaRPr lang="en-US" sz="1238" dirty="0"/>
          </a:p>
        </p:txBody>
      </p:sp>
      <p:sp>
        <p:nvSpPr>
          <p:cNvPr id="13" name="Text 9"/>
          <p:cNvSpPr/>
          <p:nvPr/>
        </p:nvSpPr>
        <p:spPr>
          <a:xfrm>
            <a:off x="1312552" y="1579104"/>
            <a:ext cx="1061604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9DB4C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— явная нить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3801011" y="1573446"/>
            <a:ext cx="503902" cy="250631"/>
          </a:xfrm>
          <a:prstGeom prst="roundRect">
            <a:avLst>
              <a:gd name="adj" fmla="val 3796607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819674" y="1586247"/>
            <a:ext cx="46657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50081" y="1925575"/>
            <a:ext cx="3636169" cy="216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600" dirty="0">
                <a:solidFill>
                  <a:srgbClr val="FFA72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Целые заряды калибровочно невидимы (Байерс–Янг)</a:t>
            </a:r>
            <a:endParaRPr lang="en-US" sz="872" dirty="0"/>
          </a:p>
          <a:p>
            <a:pPr algn="l" indent="0" marL="0">
              <a:lnSpc>
                <a:spcPts val="1264"/>
              </a:lnSpc>
              <a:buNone/>
            </a:pPr>
            <a:r>
              <a:rPr lang="en-US" sz="600" dirty="0">
                <a:solidFill>
                  <a:srgbClr val="FFA72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Матрица вещественная: τ(H)=0 → класс GOE</a:t>
            </a:r>
            <a:endParaRPr lang="en-US" sz="872" dirty="0"/>
          </a:p>
          <a:p>
            <a:pPr algn="l" indent="0" marL="0">
              <a:lnSpc>
                <a:spcPts val="1264"/>
              </a:lnSpc>
              <a:buNone/>
            </a:pPr>
            <a:r>
              <a:rPr lang="en-US" sz="600" dirty="0">
                <a:solidFill>
                  <a:srgbClr val="FFA72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⟨r⟩ = 0.513 — потолок GOE, disorder не помогает</a:t>
            </a:r>
            <a:endParaRPr lang="en-US" sz="872" dirty="0"/>
          </a:p>
        </p:txBody>
      </p:sp>
      <p:sp>
        <p:nvSpPr>
          <p:cNvPr id="17" name="Text 13"/>
          <p:cNvSpPr/>
          <p:nvPr/>
        </p:nvSpPr>
        <p:spPr>
          <a:xfrm>
            <a:off x="4664869" y="1379079"/>
            <a:ext cx="4021931" cy="2753581"/>
          </a:xfrm>
          <a:prstGeom prst="roundRect">
            <a:avLst>
              <a:gd name="adj" fmla="val 4151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4664869" y="1389794"/>
            <a:ext cx="4021931" cy="0"/>
          </a:xfrm>
          <a:prstGeom prst="line">
            <a:avLst/>
          </a:prstGeom>
          <a:noFill/>
          <a:ln w="21431">
            <a:solidFill>
              <a:srgbClr val="66BB6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83228" y="1379079"/>
            <a:ext cx="0" cy="2753581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64869" y="4129088"/>
            <a:ext cx="4021931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68441" y="1379079"/>
            <a:ext cx="0" cy="2753581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57750" y="1586247"/>
            <a:ext cx="12198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:monumental</a:t>
            </a:r>
            <a:endParaRPr lang="en-US" sz="1238" dirty="0"/>
          </a:p>
        </p:txBody>
      </p:sp>
      <p:sp>
        <p:nvSpPr>
          <p:cNvPr id="23" name="Text 19"/>
          <p:cNvSpPr/>
          <p:nvPr/>
        </p:nvSpPr>
        <p:spPr>
          <a:xfrm>
            <a:off x="5993271" y="1579104"/>
            <a:ext cx="1605904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9DB4C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— гладкая atan-модель</a:t>
            </a:r>
            <a:endParaRPr lang="en-US" sz="1013" dirty="0"/>
          </a:p>
        </p:txBody>
      </p:sp>
      <p:sp>
        <p:nvSpPr>
          <p:cNvPr id="24" name="Text 20"/>
          <p:cNvSpPr/>
          <p:nvPr/>
        </p:nvSpPr>
        <p:spPr>
          <a:xfrm>
            <a:off x="8008680" y="1573446"/>
            <a:ext cx="503902" cy="250631"/>
          </a:xfrm>
          <a:prstGeom prst="roundRect">
            <a:avLst>
              <a:gd name="adj" fmla="val 3796607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8027343" y="1586247"/>
            <a:ext cx="46657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857750" y="1925575"/>
            <a:ext cx="3636169" cy="216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600" dirty="0">
                <a:solidFill>
                  <a:srgbClr val="66BB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Фазы комплексны при любом q</a:t>
            </a:r>
            <a:endParaRPr lang="en-US" sz="872" dirty="0"/>
          </a:p>
          <a:p>
            <a:pPr algn="l" indent="0" marL="0">
              <a:lnSpc>
                <a:spcPts val="1264"/>
              </a:lnSpc>
              <a:buNone/>
            </a:pPr>
            <a:r>
              <a:rPr lang="en-US" sz="600" dirty="0">
                <a:solidFill>
                  <a:srgbClr val="66BB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τ(H) = 0.225 → нарушение T-симметрии</a:t>
            </a:r>
            <a:endParaRPr lang="en-US" sz="872" dirty="0"/>
          </a:p>
          <a:p>
            <a:pPr algn="l" indent="0" marL="0">
              <a:lnSpc>
                <a:spcPts val="1264"/>
              </a:lnSpc>
              <a:buNone/>
            </a:pPr>
            <a:r>
              <a:rPr lang="en-US" sz="600" dirty="0">
                <a:solidFill>
                  <a:srgbClr val="66BB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⟨r⟩ = 0.585 — полоса GUE</a:t>
            </a:r>
            <a:endParaRPr lang="en-US" sz="872" dirty="0"/>
          </a:p>
        </p:txBody>
      </p:sp>
      <p:sp>
        <p:nvSpPr>
          <p:cNvPr id="27" name="Text 23"/>
          <p:cNvSpPr/>
          <p:nvPr/>
        </p:nvSpPr>
        <p:spPr>
          <a:xfrm>
            <a:off x="457200" y="4289822"/>
            <a:ext cx="8229600" cy="453628"/>
          </a:xfrm>
          <a:prstGeom prst="roundRect">
            <a:avLst>
              <a:gd name="adj" fmla="val 25197"/>
            </a:avLst>
          </a:prstGeom>
          <a:solidFill>
            <a:srgbClr val="1630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457200" y="4293394"/>
            <a:ext cx="8229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683228" y="4289822"/>
            <a:ext cx="0" cy="453628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57200" y="4739878"/>
            <a:ext cx="8229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67916" y="4289822"/>
            <a:ext cx="0" cy="453628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7200" y="4289822"/>
            <a:ext cx="8229600" cy="489918"/>
          </a:xfrm>
          <a:prstGeom prst="rect">
            <a:avLst/>
          </a:prstGeom>
          <a:noFill/>
          <a:ln/>
        </p:spPr>
        <p:txBody>
          <a:bodyPr wrap="square" lIns="171450" tIns="128588" rIns="171450" bIns="128588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Мораль: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калибровка фаз — часть физической спецификации. Все исторические расхождения версий сюиты объясняются этим вилком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ТОПОЛОГИЧЕСКИЕ ТЕОРЕМЫ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Топологический каркас: машинная точность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071897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0772" y="1368363"/>
            <a:ext cx="2659819" cy="1395487"/>
          </a:xfrm>
          <a:prstGeom prst="roundRect">
            <a:avLst>
              <a:gd name="adj" fmla="val 819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506" y="1500522"/>
            <a:ext cx="233835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3.5·10⁻¹ⁱ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621506" y="1829135"/>
            <a:ext cx="23383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БАЙЕРС–ЯНГ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1506" y="2280754"/>
            <a:ext cx="2338350" cy="350937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целый заряд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q=1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спектрально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невидим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дробный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q=0.3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даёт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0.342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(PASS)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242035" y="1368363"/>
            <a:ext cx="2659819" cy="1395487"/>
          </a:xfrm>
          <a:prstGeom prst="roundRect">
            <a:avLst>
              <a:gd name="adj" fmla="val 819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402769" y="1500522"/>
            <a:ext cx="233835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10⁻¹⁴ </a:t>
            </a:r>
            <a:pPr algn="l" indent="0" marL="0">
              <a:lnSpc>
                <a:spcPts val="2475"/>
              </a:lnSpc>
              <a:buNone/>
            </a:pPr>
            <a:r>
              <a:rPr lang="en-US" sz="1181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рад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3402769" y="1829135"/>
            <a:ext cx="23383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ДИРАКОВСКАЯ НИТЬ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402769" y="2280754"/>
            <a:ext cx="2338350" cy="350937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макс.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|поток|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224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пустых ячейках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(дираковская нить точна)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23297" y="1368363"/>
            <a:ext cx="2659931" cy="1395487"/>
          </a:xfrm>
          <a:prstGeom prst="roundRect">
            <a:avLst>
              <a:gd name="adj" fmla="val 819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184032" y="1500522"/>
            <a:ext cx="2338462" cy="3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</a:t>
            </a:r>
            <a:pPr algn="l" indent="0" marL="0">
              <a:lnSpc>
                <a:spcPts val="2475"/>
              </a:lnSpc>
              <a:buNone/>
            </a:pPr>
            <a:r>
              <a:rPr lang="en-US" sz="1181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нулевые моды при α=1/2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6184032" y="1829135"/>
            <a:ext cx="23384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САМОДУАЛЬНОСТЬ КОННА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184032" y="2420503"/>
            <a:ext cx="2448190" cy="211187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дефект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E→−E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1.4·10⁻¹ⁱ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(PASS)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60772" y="2885294"/>
            <a:ext cx="4050506" cy="1395599"/>
          </a:xfrm>
          <a:prstGeom prst="roundRect">
            <a:avLst>
              <a:gd name="adj" fmla="val 819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1506" y="3017453"/>
            <a:ext cx="3729038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</a:t>
            </a:r>
            <a:endParaRPr lang="en-US" sz="2250" dirty="0"/>
          </a:p>
        </p:txBody>
      </p:sp>
      <p:sp>
        <p:nvSpPr>
          <p:cNvPr id="21" name="Text 17"/>
          <p:cNvSpPr/>
          <p:nvPr/>
        </p:nvSpPr>
        <p:spPr>
          <a:xfrm>
            <a:off x="621506" y="3346066"/>
            <a:ext cx="3729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ХИРАЛЬНЫЙ ДЕФЕКТ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21506" y="3937546"/>
            <a:ext cx="3838766" cy="211187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ΓHΓ=−H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при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W=0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при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W=4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5.9·10⁻³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632722" y="2885294"/>
            <a:ext cx="4050506" cy="1395599"/>
          </a:xfrm>
          <a:prstGeom prst="roundRect">
            <a:avLst>
              <a:gd name="adj" fmla="val 819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793456" y="3017453"/>
            <a:ext cx="3729038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C₁ = 2</a:t>
            </a:r>
            <a:endParaRPr lang="en-US" sz="2250" dirty="0"/>
          </a:p>
        </p:txBody>
      </p:sp>
      <p:sp>
        <p:nvSpPr>
          <p:cNvPr id="25" name="Text 21"/>
          <p:cNvSpPr/>
          <p:nvPr/>
        </p:nvSpPr>
        <p:spPr>
          <a:xfrm>
            <a:off x="4793456" y="3346066"/>
            <a:ext cx="37290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ЧИСЛО ЧЕРНА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793456" y="3937546"/>
            <a:ext cx="3729038" cy="211187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число Черна нижней зоны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(Fukui–Hatsugai–Suzuki,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8×8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твистов)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60772" y="4402336"/>
            <a:ext cx="8222456" cy="337542"/>
          </a:xfrm>
          <a:prstGeom prst="roundRect">
            <a:avLst>
              <a:gd name="adj" fmla="val 33862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21506" y="4498777"/>
            <a:ext cx="3733391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Каждое число — отдельный тест с полным журналом; воспроизводится командой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04903" y="4501455"/>
            <a:ext cx="4124734" cy="141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julia ab_cloud_v19.jl --test 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1487" y="342900"/>
            <a:ext cx="36609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 33 · МНОГОРЕАЛИЗАЦИОННЫЙ БУТСТРАП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8709" y="594717"/>
            <a:ext cx="7993884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3"/>
              </a:lnSpc>
              <a:buNone/>
            </a:pPr>
            <a:r>
              <a:rPr lang="en-US" sz="4050" spc="-40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0.5848 </a:t>
            </a:r>
            <a:pPr algn="ctr" indent="0" marL="0">
              <a:lnSpc>
                <a:spcPts val="4253"/>
              </a:lnSpc>
              <a:buNone/>
            </a:pPr>
            <a:r>
              <a:rPr lang="en-US" sz="4050" spc="-40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 0.0260</a:t>
            </a:r>
            <a:endParaRPr lang="en-US" sz="4050" dirty="0"/>
          </a:p>
        </p:txBody>
      </p:sp>
      <p:sp>
        <p:nvSpPr>
          <p:cNvPr id="6" name="Text 2"/>
          <p:cNvSpPr/>
          <p:nvPr/>
        </p:nvSpPr>
        <p:spPr>
          <a:xfrm>
            <a:off x="7461089" y="693279"/>
            <a:ext cx="831242" cy="342900"/>
          </a:xfrm>
          <a:prstGeom prst="roundRect">
            <a:avLst>
              <a:gd name="adj" fmla="val 2775000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457517" y="689707"/>
            <a:ext cx="838386" cy="378047"/>
          </a:xfrm>
          <a:prstGeom prst="rect">
            <a:avLst/>
          </a:prstGeom>
          <a:noFill/>
          <a:ln/>
        </p:spPr>
        <p:txBody>
          <a:bodyPr wrap="none" lIns="185738" tIns="71438" rIns="185738" bIns="71438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013" dirty="0"/>
          </a:p>
        </p:txBody>
      </p:sp>
      <p:sp>
        <p:nvSpPr>
          <p:cNvPr id="8" name="Text 4"/>
          <p:cNvSpPr/>
          <p:nvPr/>
        </p:nvSpPr>
        <p:spPr>
          <a:xfrm>
            <a:off x="2341811" y="1249040"/>
            <a:ext cx="4460267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GUE-цель 0.5992 </a:t>
            </a:r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отклонение −2.4%</a:t>
            </a:r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 95% ДИ [0.5588; 0.6108]</a:t>
            </a:r>
            <a:endParaRPr lang="en-US" sz="956" dirty="0"/>
          </a:p>
        </p:txBody>
      </p:sp>
      <p:sp>
        <p:nvSpPr>
          <p:cNvPr id="9" name="Text 5"/>
          <p:cNvSpPr/>
          <p:nvPr/>
        </p:nvSpPr>
        <p:spPr>
          <a:xfrm>
            <a:off x="460772" y="1649090"/>
            <a:ext cx="2650331" cy="856580"/>
          </a:xfrm>
          <a:prstGeom prst="roundRect">
            <a:avLst>
              <a:gd name="adj" fmla="val 1334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92931" y="1752674"/>
            <a:ext cx="2386013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КОНФИГУРАЦИЯ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92931" y="1920553"/>
            <a:ext cx="2386013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тор 16×16 · N_v=2 · q=±1 · α=1/2 · W=4 · 3 реализации</a:t>
            </a:r>
            <a:endParaRPr lang="en-US" sz="816" dirty="0"/>
          </a:p>
        </p:txBody>
      </p:sp>
      <p:sp>
        <p:nvSpPr>
          <p:cNvPr id="12" name="Text 8"/>
          <p:cNvSpPr/>
          <p:nvPr/>
        </p:nvSpPr>
        <p:spPr>
          <a:xfrm>
            <a:off x="3246834" y="1649090"/>
            <a:ext cx="2650331" cy="856580"/>
          </a:xfrm>
          <a:prstGeom prst="roundRect">
            <a:avLst>
              <a:gd name="adj" fmla="val 1334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378994" y="1752674"/>
            <a:ext cx="2386013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РЕАЛИЗАЦИИ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378994" y="1920553"/>
            <a:ext cx="2386013" cy="481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real 1: 0.5639 ·</a:t>
            </a:r>
            <a:endParaRPr lang="en-US" sz="816" dirty="0"/>
          </a:p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real 2: 0.5811 ·</a:t>
            </a:r>
            <a:endParaRPr lang="en-US" sz="816" dirty="0"/>
          </a:p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real 3: 0.6094</a:t>
            </a:r>
            <a:endParaRPr lang="en-US" sz="816" dirty="0"/>
          </a:p>
        </p:txBody>
      </p:sp>
      <p:sp>
        <p:nvSpPr>
          <p:cNvPr id="15" name="Text 11"/>
          <p:cNvSpPr/>
          <p:nvPr/>
        </p:nvSpPr>
        <p:spPr>
          <a:xfrm>
            <a:off x="6032897" y="1649090"/>
            <a:ext cx="2650331" cy="856580"/>
          </a:xfrm>
          <a:prstGeom prst="roundRect">
            <a:avLst>
              <a:gd name="adj" fmla="val 1334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165056" y="1752674"/>
            <a:ext cx="2495740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КОНТРОЛЬ (Q=0.3, ОТКРЫТЫЕ ГРАНИЦЫ)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165056" y="1920553"/>
            <a:ext cx="2386012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0.4417 ± 0.0555</a:t>
            </a:r>
            <a:endParaRPr lang="en-US" sz="816" dirty="0"/>
          </a:p>
        </p:txBody>
      </p:sp>
      <p:sp>
        <p:nvSpPr>
          <p:cNvPr id="18" name="Text 14"/>
          <p:cNvSpPr/>
          <p:nvPr/>
        </p:nvSpPr>
        <p:spPr>
          <a:xfrm>
            <a:off x="6165056" y="2123926"/>
            <a:ext cx="2386013" cy="27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краевые состояния примешивают пуассоновскую компоненту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009154" y="4057650"/>
            <a:ext cx="10871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ОПОРНАЯ ШКАЛА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392875" y="4396978"/>
            <a:ext cx="1364456" cy="78581"/>
          </a:xfrm>
          <a:prstGeom prst="roundRect">
            <a:avLst>
              <a:gd name="adj" fmla="val 84849"/>
            </a:avLst>
          </a:prstGeom>
          <a:solidFill>
            <a:srgbClr val="4FC3F7">
              <a:alpha val="14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1143000" y="4429125"/>
            <a:ext cx="6858000" cy="14288"/>
          </a:xfrm>
          <a:prstGeom prst="rect">
            <a:avLst/>
          </a:prstGeom>
          <a:solidFill>
            <a:srgbClr val="9DB4CC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828465" y="4379119"/>
            <a:ext cx="14288" cy="114300"/>
          </a:xfrm>
          <a:prstGeom prst="rect">
            <a:avLst/>
          </a:prstGeom>
          <a:solidFill>
            <a:srgbClr val="9DB4CC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641553" y="4379119"/>
            <a:ext cx="14288" cy="114300"/>
          </a:xfrm>
          <a:prstGeom prst="rect">
            <a:avLst/>
          </a:prstGeom>
          <a:solidFill>
            <a:srgbClr val="9DB4CC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458856" y="4379119"/>
            <a:ext cx="14288" cy="114300"/>
          </a:xfrm>
          <a:prstGeom prst="rect">
            <a:avLst/>
          </a:prstGeom>
          <a:solidFill>
            <a:srgbClr val="9DB4CC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1383962" y="4557713"/>
            <a:ext cx="9032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Пуассон 0.3863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26112" y="4557713"/>
            <a:ext cx="6451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GOE 0.5307</a:t>
            </a:r>
            <a:endParaRPr lang="en-US" sz="675" dirty="0"/>
          </a:p>
        </p:txBody>
      </p:sp>
      <p:sp>
        <p:nvSpPr>
          <p:cNvPr id="27" name="Text 23"/>
          <p:cNvSpPr/>
          <p:nvPr/>
        </p:nvSpPr>
        <p:spPr>
          <a:xfrm>
            <a:off x="7143415" y="4557713"/>
            <a:ext cx="6451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GUE 0.5996</a:t>
            </a:r>
            <a:endParaRPr lang="en-US" sz="675" dirty="0"/>
          </a:p>
        </p:txBody>
      </p:sp>
      <p:sp>
        <p:nvSpPr>
          <p:cNvPr id="28" name="Text 24"/>
          <p:cNvSpPr/>
          <p:nvPr/>
        </p:nvSpPr>
        <p:spPr>
          <a:xfrm rot="2700000">
            <a:off x="7009435" y="4320594"/>
            <a:ext cx="131336" cy="131336"/>
          </a:xfrm>
          <a:prstGeom prst="roundRect">
            <a:avLst>
              <a:gd name="adj" fmla="val 14505"/>
            </a:avLst>
          </a:prstGeom>
          <a:solidFill>
            <a:srgbClr val="4FC3F7"/>
          </a:solidFill>
          <a:ln/>
          <a:effectLst>
            <a:outerShdw sx="100000" sy="100000" kx="0" ky="0" algn="bl" rotWithShape="0" blurRad="114300" dist="50800" dir="16200000">
              <a:srgbClr val="4FC3F7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671872" y="4214813"/>
            <a:ext cx="8064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0.5848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СКОЛЬЖЕНИЕ ПО РАЗМЕРАМ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Тест 34: сходимость с размером решётки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071897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1368140"/>
            <a:ext cx="5164931" cy="3357563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fit-1787909716120-l2yjs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439577"/>
            <a:ext cx="5022056" cy="32146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25728" y="1680679"/>
            <a:ext cx="2857500" cy="698302"/>
          </a:xfrm>
          <a:prstGeom prst="roundRect">
            <a:avLst>
              <a:gd name="adj" fmla="val 1636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943600" y="1777119"/>
            <a:ext cx="262175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q=0.3 (открытые):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5943600" y="1944998"/>
            <a:ext cx="2731484" cy="170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0.548 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0.592 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0.605 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0.595</a:t>
            </a:r>
            <a:endParaRPr lang="en-US" sz="928" dirty="0"/>
          </a:p>
        </p:txBody>
      </p:sp>
      <p:sp>
        <p:nvSpPr>
          <p:cNvPr id="12" name="Text 7"/>
          <p:cNvSpPr/>
          <p:nvPr/>
        </p:nvSpPr>
        <p:spPr>
          <a:xfrm>
            <a:off x="5943600" y="2143237"/>
            <a:ext cx="26217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монотонно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5825728" y="2486137"/>
            <a:ext cx="2857500" cy="537567"/>
          </a:xfrm>
          <a:prstGeom prst="roundRect">
            <a:avLst>
              <a:gd name="adj" fmla="val 21262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943600" y="2582577"/>
            <a:ext cx="262175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q=1 (тор):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5943600" y="2750455"/>
            <a:ext cx="2731484" cy="176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0.574 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0.568 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0.604 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92"/>
              </a:lnSpc>
              <a:buNone/>
            </a:pPr>
            <a:r>
              <a:rPr lang="en-US" sz="928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0.586</a:t>
            </a:r>
            <a:endParaRPr lang="en-US" sz="928" dirty="0"/>
          </a:p>
        </p:txBody>
      </p:sp>
      <p:sp>
        <p:nvSpPr>
          <p:cNvPr id="16" name="Text 11"/>
          <p:cNvSpPr/>
          <p:nvPr/>
        </p:nvSpPr>
        <p:spPr>
          <a:xfrm>
            <a:off x="5825728" y="3130860"/>
            <a:ext cx="2857500" cy="516136"/>
          </a:xfrm>
          <a:prstGeom prst="roundRect">
            <a:avLst>
              <a:gd name="adj" fmla="val 22145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943600" y="3227301"/>
            <a:ext cx="262175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L≥30: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943600" y="3395179"/>
            <a:ext cx="273148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плато </a:t>
            </a:r>
            <a:pPr algn="l" indent="0" marL="0">
              <a:lnSpc>
                <a:spcPts val="1223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≈0.60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двух стандартных ошибках от GUE</a:t>
            </a:r>
            <a:endParaRPr lang="en-US" sz="816" dirty="0"/>
          </a:p>
        </p:txBody>
      </p:sp>
      <p:sp>
        <p:nvSpPr>
          <p:cNvPr id="19" name="Text 14"/>
          <p:cNvSpPr/>
          <p:nvPr/>
        </p:nvSpPr>
        <p:spPr>
          <a:xfrm>
            <a:off x="5822156" y="3750580"/>
            <a:ext cx="2864644" cy="666155"/>
          </a:xfrm>
          <a:prstGeom prst="roundRect">
            <a:avLst>
              <a:gd name="adj" fmla="val 17158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5822156" y="3754152"/>
            <a:ext cx="2864644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3228" y="3750580"/>
            <a:ext cx="0" cy="666155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822156" y="4413163"/>
            <a:ext cx="2864644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832872" y="3750580"/>
            <a:ext cx="0" cy="666155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957888" y="3850593"/>
            <a:ext cx="2607469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„Парадокс затухания" v13 снят: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занижение было артефактом малых решёток и вещественной калибровки</a:t>
            </a:r>
            <a:endParaRPr lang="en-US" sz="81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СЮИТА AB-ОБЛАКО · ТЕСТЫ 4–6, 11, 12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Конечновыборочные эффекты в ζ-статистике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836154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957597"/>
            <a:ext cx="4014788" cy="2328863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fit-1787909716206-y69w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029035"/>
            <a:ext cx="3871913" cy="21859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3350754"/>
            <a:ext cx="4014788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b(N) ≈ 7.03·N</a:t>
            </a:r>
            <a:pPr algn="l" indent="0" marL="0">
              <a:lnSpc>
                <a:spcPts val="1101"/>
              </a:lnSpc>
              <a:buNone/>
            </a:pPr>
            <a:r>
              <a:rPr lang="en-US" sz="800" baseline="300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−0.169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R² = 0.99; лучше — 1/ln N: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R² = 0.9999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672013" y="957597"/>
            <a:ext cx="4014788" cy="2328863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/tmp/h2p-fit-1787909716208-lj122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1029035"/>
            <a:ext cx="3871913" cy="21859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72013" y="3350754"/>
            <a:ext cx="4335971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R₂(0)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берри-обрезом: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−2.3394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добавка ~T</a:t>
            </a:r>
            <a:pPr algn="l" indent="0" marL="0">
              <a:lnSpc>
                <a:spcPts val="1101"/>
              </a:lnSpc>
              <a:buNone/>
            </a:pPr>
            <a:r>
              <a:rPr lang="en-US" sz="800" baseline="300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−1/2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460772" y="3622663"/>
            <a:ext cx="8222456" cy="1117216"/>
          </a:xfrm>
          <a:prstGeom prst="roundRect">
            <a:avLst>
              <a:gd name="adj" fmla="val 1023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621506" y="3945471"/>
            <a:ext cx="296809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ТЕСТЫ 4–6, 11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21506" y="4099061"/>
            <a:ext cx="2211437" cy="34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 = 0.088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при критич.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0.006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χ², A² — GUE отвергнут</a:t>
            </a:r>
            <a:endParaRPr lang="en-US" sz="844" dirty="0"/>
          </a:p>
        </p:txBody>
      </p:sp>
      <p:sp>
        <p:nvSpPr>
          <p:cNvPr id="16" name="Text 10"/>
          <p:cNvSpPr/>
          <p:nvPr/>
        </p:nvSpPr>
        <p:spPr>
          <a:xfrm>
            <a:off x="3018681" y="3769109"/>
            <a:ext cx="7144" cy="824322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3211562" y="3941899"/>
            <a:ext cx="416907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 12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3211562" y="4095490"/>
            <a:ext cx="2874913" cy="35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двухвыборочный KS против GUE-матрицы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2000×2000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 = 0.041, p = 0.139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НЕ отвергнут</a:t>
            </a:r>
            <a:endParaRPr lang="en-US" sz="844" dirty="0"/>
          </a:p>
        </p:txBody>
      </p:sp>
      <p:sp>
        <p:nvSpPr>
          <p:cNvPr id="19" name="Text 13"/>
          <p:cNvSpPr/>
          <p:nvPr/>
        </p:nvSpPr>
        <p:spPr>
          <a:xfrm>
            <a:off x="6272213" y="3769109"/>
            <a:ext cx="7144" cy="824322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6465094" y="4016239"/>
            <a:ext cx="205740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928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Нули неотличимы от GUE-матрицы конечного размера</a:t>
            </a:r>
            <a:endParaRPr lang="en-US" sz="92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 35 · МОНТГОМЕРИ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Прямое сравнение с нулями ζ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836154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957597"/>
            <a:ext cx="5129213" cy="3274182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fit-1787909721536-csh6t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029035"/>
            <a:ext cx="4986338" cy="31313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61434" y="961169"/>
            <a:ext cx="2921794" cy="1027026"/>
          </a:xfrm>
          <a:prstGeom prst="roundRect">
            <a:avLst>
              <a:gd name="adj" fmla="val 11129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8194944" y="1039643"/>
            <a:ext cx="41433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8138852" y="1050466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5922169" y="1200150"/>
            <a:ext cx="260032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5922169" y="1360884"/>
            <a:ext cx="2600325" cy="220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40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 = 0.117 </a:t>
            </a:r>
            <a:pPr algn="l" indent="0" marL="0">
              <a:lnSpc>
                <a:spcPts val="1617"/>
              </a:lnSpc>
              <a:buNone/>
            </a:pPr>
            <a:r>
              <a:rPr lang="en-US" sz="844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617"/>
              </a:lnSpc>
              <a:buNone/>
            </a:pPr>
            <a:r>
              <a:rPr lang="en-US" sz="140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17"/>
              </a:lnSpc>
              <a:buNone/>
            </a:pPr>
            <a:r>
              <a:rPr lang="en-US" sz="95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= 6.7·10⁻⁴</a:t>
            </a:r>
            <a:endParaRPr lang="en-US" sz="1406" dirty="0"/>
          </a:p>
        </p:txBody>
      </p:sp>
      <p:sp>
        <p:nvSpPr>
          <p:cNvPr id="14" name="Text 9"/>
          <p:cNvSpPr/>
          <p:nvPr/>
        </p:nvSpPr>
        <p:spPr>
          <a:xfrm>
            <a:off x="5922169" y="1609130"/>
            <a:ext cx="2710053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поточечного совпадения нет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5761434" y="2081064"/>
            <a:ext cx="2921794" cy="1027137"/>
          </a:xfrm>
          <a:prstGeom prst="roundRect">
            <a:avLst>
              <a:gd name="adj" fmla="val 1112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922169" y="2320156"/>
            <a:ext cx="2710053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КОРРЕЛЯЦИОННАЯ ДЫРА ВОСПРОИЗВЕДЕНА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922169" y="2480890"/>
            <a:ext cx="2600325" cy="220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40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R₂(0.05) ≤ 0.005</a:t>
            </a:r>
            <a:endParaRPr lang="en-US" sz="1406" dirty="0"/>
          </a:p>
        </p:txBody>
      </p:sp>
      <p:sp>
        <p:nvSpPr>
          <p:cNvPr id="18" name="Text 13"/>
          <p:cNvSpPr/>
          <p:nvPr/>
        </p:nvSpPr>
        <p:spPr>
          <a:xfrm>
            <a:off x="5922169" y="2729136"/>
            <a:ext cx="2600325" cy="15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 обеих кривых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761434" y="3201070"/>
            <a:ext cx="2921794" cy="1027137"/>
          </a:xfrm>
          <a:prstGeom prst="roundRect">
            <a:avLst>
              <a:gd name="adj" fmla="val 1112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922169" y="3539951"/>
            <a:ext cx="260032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БЛИЖЕ К GUE, ЧЕМ К ПУАССОНУ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922169" y="3700686"/>
            <a:ext cx="260032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ts val="1485"/>
              </a:lnSpc>
              <a:buNone/>
            </a:pPr>
            <a:r>
              <a:rPr lang="en-US" sz="928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0.140 </a:t>
            </a:r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</a:t>
            </a:r>
            <a:pPr algn="l" indent="0" marL="0">
              <a:lnSpc>
                <a:spcPts val="1485"/>
              </a:lnSpc>
              <a:buNone/>
            </a:pPr>
            <a:r>
              <a:rPr lang="en-US" sz="928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</a:t>
            </a:r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0.227</a:t>
            </a:r>
            <a:endParaRPr lang="en-US" sz="1238" dirty="0"/>
          </a:p>
        </p:txBody>
      </p:sp>
      <p:sp>
        <p:nvSpPr>
          <p:cNvPr id="22" name="Text 17"/>
          <p:cNvSpPr/>
          <p:nvPr/>
        </p:nvSpPr>
        <p:spPr>
          <a:xfrm>
            <a:off x="460772" y="4335363"/>
            <a:ext cx="8222456" cy="404515"/>
          </a:xfrm>
          <a:prstGeom prst="roundRect">
            <a:avLst>
              <a:gd name="adj" fmla="val 2825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592931" y="445903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B7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547" dirty="0"/>
          </a:p>
        </p:txBody>
      </p:sp>
      <p:sp>
        <p:nvSpPr>
          <p:cNvPr id="24" name="Text 19"/>
          <p:cNvSpPr/>
          <p:nvPr/>
        </p:nvSpPr>
        <p:spPr>
          <a:xfrm>
            <a:off x="850106" y="4453235"/>
            <a:ext cx="7700963" cy="168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9"/>
              </a:lnSpc>
              <a:buNone/>
            </a:pPr>
            <a:r>
              <a:rPr lang="en-US" sz="984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Та же универсальность — </a:t>
            </a:r>
            <a:pPr algn="l" indent="0" marL="0">
              <a:lnSpc>
                <a:spcPts val="1329"/>
              </a:lnSpc>
              <a:buNone/>
            </a:pPr>
            <a:r>
              <a:rPr lang="en-US" sz="984" dirty="0">
                <a:solidFill>
                  <a:srgbClr val="66BB6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да</a:t>
            </a:r>
            <a:pPr algn="l" indent="0" marL="0">
              <a:lnSpc>
                <a:spcPts val="1329"/>
              </a:lnSpc>
              <a:buNone/>
            </a:pPr>
            <a:r>
              <a:rPr lang="en-US" sz="984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; тот же спектр — </a:t>
            </a:r>
            <a:pPr algn="l" indent="0" marL="0">
              <a:lnSpc>
                <a:spcPts val="1329"/>
              </a:lnSpc>
              <a:buNone/>
            </a:pPr>
            <a:r>
              <a:rPr lang="en-US" sz="984" dirty="0">
                <a:solidFill>
                  <a:srgbClr val="FFA72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нет</a:t>
            </a:r>
            <a:pPr algn="l" indent="0" marL="0">
              <a:lnSpc>
                <a:spcPts val="1329"/>
              </a:lnSpc>
              <a:buNone/>
            </a:pPr>
            <a:r>
              <a:rPr lang="en-US" sz="984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. Расстояние фиксируем </a:t>
            </a:r>
            <a:pPr algn="l" indent="0" marL="0">
              <a:lnSpc>
                <a:spcPts val="1329"/>
              </a:lnSpc>
              <a:buNone/>
            </a:pPr>
            <a:r>
              <a:rPr lang="en-US" sz="984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числом</a:t>
            </a:r>
            <a:pPr algn="l" indent="0" marL="0">
              <a:lnSpc>
                <a:spcPts val="1329"/>
              </a:lnSpc>
              <a:buNone/>
            </a:pPr>
            <a:r>
              <a:rPr lang="en-US" sz="984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, а не прилагательным</a:t>
            </a:r>
            <a:endParaRPr lang="en-US" sz="9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 36 · ФОРМФАКТОР K(T)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Формфактор — пределы малых ансамблей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836154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0772" y="961169"/>
            <a:ext cx="2921794" cy="874998"/>
          </a:xfrm>
          <a:prstGeom prst="roundRect">
            <a:avLst>
              <a:gd name="adj" fmla="val 1306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506" y="1228948"/>
            <a:ext cx="1051560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19" dirty="0">
                <a:solidFill>
                  <a:srgbClr val="FFA7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0.93</a:t>
            </a:r>
            <a:endParaRPr lang="en-US" sz="1519" dirty="0"/>
          </a:p>
        </p:txBody>
      </p:sp>
      <p:sp>
        <p:nvSpPr>
          <p:cNvPr id="9" name="Text 5"/>
          <p:cNvSpPr/>
          <p:nvPr/>
        </p:nvSpPr>
        <p:spPr>
          <a:xfrm>
            <a:off x="621506" y="1450404"/>
            <a:ext cx="10384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393031" y="1253617"/>
            <a:ext cx="1559766" cy="1286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 к рампе GUE</a:t>
            </a:r>
            <a:endParaRPr lang="en-US" sz="816" dirty="0"/>
          </a:p>
        </p:txBody>
      </p:sp>
      <p:sp>
        <p:nvSpPr>
          <p:cNvPr id="11" name="Text 7"/>
          <p:cNvSpPr/>
          <p:nvPr/>
        </p:nvSpPr>
        <p:spPr>
          <a:xfrm>
            <a:off x="1393031" y="1409663"/>
            <a:ext cx="15597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порог PASS 0.30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822844" y="1297600"/>
            <a:ext cx="41433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838190" y="1308422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60772" y="1929036"/>
            <a:ext cx="2921794" cy="875109"/>
          </a:xfrm>
          <a:prstGeom prst="roundRect">
            <a:avLst>
              <a:gd name="adj" fmla="val 1306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21506" y="2196926"/>
            <a:ext cx="1051560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19" dirty="0">
                <a:solidFill>
                  <a:srgbClr val="FFA7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0.018</a:t>
            </a:r>
            <a:endParaRPr lang="en-US" sz="1519" dirty="0"/>
          </a:p>
        </p:txBody>
      </p:sp>
      <p:sp>
        <p:nvSpPr>
          <p:cNvPr id="16" name="Text 12"/>
          <p:cNvSpPr/>
          <p:nvPr/>
        </p:nvSpPr>
        <p:spPr>
          <a:xfrm>
            <a:off x="621506" y="2418383"/>
            <a:ext cx="10384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393031" y="2221595"/>
            <a:ext cx="1559766" cy="1286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Корреляция с теорией</a:t>
            </a:r>
            <a:endParaRPr lang="en-US" sz="816" dirty="0"/>
          </a:p>
        </p:txBody>
      </p:sp>
      <p:sp>
        <p:nvSpPr>
          <p:cNvPr id="18" name="Text 14"/>
          <p:cNvSpPr/>
          <p:nvPr/>
        </p:nvSpPr>
        <p:spPr>
          <a:xfrm>
            <a:off x="1393031" y="2377641"/>
            <a:ext cx="15597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порог 0.50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822844" y="2265578"/>
            <a:ext cx="41433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838190" y="2276401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60772" y="2897014"/>
            <a:ext cx="2921794" cy="874998"/>
          </a:xfrm>
          <a:prstGeom prst="roundRect">
            <a:avLst>
              <a:gd name="adj" fmla="val 1306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21506" y="3164793"/>
            <a:ext cx="1051560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19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0.86</a:t>
            </a:r>
            <a:endParaRPr lang="en-US" sz="1519" dirty="0"/>
          </a:p>
        </p:txBody>
      </p:sp>
      <p:sp>
        <p:nvSpPr>
          <p:cNvPr id="23" name="Text 19"/>
          <p:cNvSpPr/>
          <p:nvPr/>
        </p:nvSpPr>
        <p:spPr>
          <a:xfrm>
            <a:off x="621506" y="3386249"/>
            <a:ext cx="8412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ζ-5000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393031" y="3146487"/>
            <a:ext cx="1828800" cy="44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Даже ζ-5000 даёт RMS </a:t>
            </a:r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0.86</a:t>
            </a:r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жёсткие пороги откалиброваны под </a:t>
            </a:r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≥3000</a:t>
            </a:r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зазоров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60772" y="3864880"/>
            <a:ext cx="2921794" cy="874998"/>
          </a:xfrm>
          <a:prstGeom prst="roundRect">
            <a:avLst>
              <a:gd name="adj" fmla="val 1306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21506" y="4132659"/>
            <a:ext cx="1038416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19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≥10⁴</a:t>
            </a:r>
            <a:endParaRPr lang="en-US" sz="1519" dirty="0"/>
          </a:p>
        </p:txBody>
      </p:sp>
      <p:sp>
        <p:nvSpPr>
          <p:cNvPr id="27" name="Text 23"/>
          <p:cNvSpPr/>
          <p:nvPr/>
        </p:nvSpPr>
        <p:spPr>
          <a:xfrm>
            <a:off x="621506" y="4354116"/>
            <a:ext cx="8412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зазоров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393031" y="4114354"/>
            <a:ext cx="1828800" cy="44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Прогноз: PASS достижим при ансамбле </a:t>
            </a:r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≥10⁴</a:t>
            </a:r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зазоров (большие решётки × реализации × сдвиги вихрей)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557588" y="957597"/>
            <a:ext cx="5129213" cy="3785853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2" descr="/tmp/h2p-fit-1787909720760-91aq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1029035"/>
            <a:ext cx="4986338" cy="36429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КРИТИЧЕСКАЯ ПРЯМАЯ Σ = 1/2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Дираковская динамика: конус, провал, скин-эффект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836154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0772" y="961169"/>
            <a:ext cx="2950369" cy="1021445"/>
          </a:xfrm>
          <a:prstGeom prst="roundRect">
            <a:avLst>
              <a:gd name="adj" fmla="val 1119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506" y="1223702"/>
            <a:ext cx="21887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КОНУС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2812322" y="1223702"/>
            <a:ext cx="450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 = 12…48</a:t>
            </a:r>
            <a:endParaRPr lang="en-US" sz="619" dirty="0"/>
          </a:p>
        </p:txBody>
      </p:sp>
      <p:sp>
        <p:nvSpPr>
          <p:cNvPr id="10" name="Text 6"/>
          <p:cNvSpPr/>
          <p:nvPr/>
        </p:nvSpPr>
        <p:spPr>
          <a:xfrm>
            <a:off x="621506" y="1391580"/>
            <a:ext cx="2628900" cy="171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lnSpc>
                <a:spcPts val="1283"/>
              </a:lnSpc>
              <a:buNone/>
            </a:pPr>
            <a:r>
              <a:rPr lang="en-US" sz="802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0.0202 + 11.83/L</a:t>
            </a:r>
            <a:endParaRPr lang="en-US" sz="1069" dirty="0"/>
          </a:p>
        </p:txBody>
      </p:sp>
      <p:sp>
        <p:nvSpPr>
          <p:cNvPr id="11" name="Text 7"/>
          <p:cNvSpPr/>
          <p:nvPr/>
        </p:nvSpPr>
        <p:spPr>
          <a:xfrm>
            <a:off x="621506" y="1590154"/>
            <a:ext cx="2738628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R² = 0.9997 · 4 нулевые моды · v</a:t>
            </a:r>
            <a:pPr algn="l" indent="0" marL="0">
              <a:lnSpc>
                <a:spcPts val="1024"/>
              </a:lnSpc>
              <a:buNone/>
            </a:pPr>
            <a:r>
              <a:rPr lang="en-US" sz="800" baseline="-400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b/2π ≈ 1.88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60772" y="2075483"/>
            <a:ext cx="2950369" cy="1021445"/>
          </a:xfrm>
          <a:prstGeom prst="roundRect">
            <a:avLst>
              <a:gd name="adj" fmla="val 1119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21506" y="2273052"/>
            <a:ext cx="22834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ПРОВАЛ DOS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919226" y="2273052"/>
            <a:ext cx="331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1/2</a:t>
            </a:r>
            <a:endParaRPr lang="en-US" sz="619" dirty="0"/>
          </a:p>
        </p:txBody>
      </p:sp>
      <p:sp>
        <p:nvSpPr>
          <p:cNvPr id="15" name="Text 11"/>
          <p:cNvSpPr/>
          <p:nvPr/>
        </p:nvSpPr>
        <p:spPr>
          <a:xfrm>
            <a:off x="621506" y="2440930"/>
            <a:ext cx="2628900" cy="171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ρ = 0.010 </a:t>
            </a:r>
            <a:pPr algn="l" indent="0" marL="0">
              <a:lnSpc>
                <a:spcPts val="1283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против</a:t>
            </a:r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0.200</a:t>
            </a:r>
            <a:endParaRPr lang="en-US" sz="1069" dirty="0"/>
          </a:p>
        </p:txBody>
      </p:sp>
      <p:sp>
        <p:nvSpPr>
          <p:cNvPr id="16" name="Text 12"/>
          <p:cNvSpPr/>
          <p:nvPr/>
        </p:nvSpPr>
        <p:spPr>
          <a:xfrm>
            <a:off x="621506" y="2639504"/>
            <a:ext cx="2628900" cy="30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α = 0.4/0.6 — контраст 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20×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критическая точка между холловскими фазами C₁ = +1/−1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60772" y="3189796"/>
            <a:ext cx="2950369" cy="1021445"/>
          </a:xfrm>
          <a:prstGeom prst="roundRect">
            <a:avLst>
              <a:gd name="adj" fmla="val 1119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21506" y="3462598"/>
            <a:ext cx="19522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ХАТАНО–НЕЛЬСОН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588047" y="3462598"/>
            <a:ext cx="662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скин g = 0.322</a:t>
            </a:r>
            <a:endParaRPr lang="en-US" sz="619" dirty="0"/>
          </a:p>
        </p:txBody>
      </p:sp>
      <p:sp>
        <p:nvSpPr>
          <p:cNvPr id="20" name="Text 16"/>
          <p:cNvSpPr/>
          <p:nvPr/>
        </p:nvSpPr>
        <p:spPr>
          <a:xfrm>
            <a:off x="621506" y="3630476"/>
            <a:ext cx="2628900" cy="150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0.5 </a:t>
            </a:r>
            <a:pPr algn="l" indent="0" marL="0">
              <a:lnSpc>
                <a:spcPts val="1177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177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спектр веществен</a:t>
            </a:r>
            <a:endParaRPr lang="en-US" sz="872" dirty="0"/>
          </a:p>
        </p:txBody>
      </p:sp>
      <p:sp>
        <p:nvSpPr>
          <p:cNvPr id="21" name="Text 17"/>
          <p:cNvSpPr/>
          <p:nvPr/>
        </p:nvSpPr>
        <p:spPr>
          <a:xfrm>
            <a:off x="621506" y="3808512"/>
            <a:ext cx="2738628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σ = 0.7 → весь спектр комплексен (max|Im E| = 0.623)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586163" y="957597"/>
            <a:ext cx="5100638" cy="3257215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/tmp/h2p-fit-1787909720747-c2ll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29035"/>
            <a:ext cx="4957763" cy="31143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0772" y="4318397"/>
            <a:ext cx="8222456" cy="421481"/>
          </a:xfrm>
          <a:prstGeom prst="roundRect">
            <a:avLst>
              <a:gd name="adj" fmla="val 27119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92931" y="4425125"/>
            <a:ext cx="518480" cy="208026"/>
          </a:xfrm>
          <a:prstGeom prst="roundRect">
            <a:avLst>
              <a:gd name="adj" fmla="val 45782967"/>
            </a:avLst>
          </a:prstGeom>
          <a:noFill/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92931" y="4436269"/>
            <a:ext cx="51848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1/2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211424" y="4442408"/>
            <a:ext cx="7339645" cy="17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Критическая прямая </a:t>
            </a:r>
            <a:pPr algn="l" indent="0" marL="0">
              <a:lnSpc>
                <a:spcPts val="1253"/>
              </a:lnSpc>
              <a:buNone/>
            </a:pPr>
            <a:r>
              <a:rPr lang="en-US" sz="928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1/2</a:t>
            </a:r>
            <a:pPr algn="l" indent="0" marL="0">
              <a:lnSpc>
                <a:spcPts val="1253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выделена трижды: </a:t>
            </a:r>
            <a:pPr algn="l" indent="0" marL="0">
              <a:lnSpc>
                <a:spcPts val="1253"/>
              </a:lnSpc>
              <a:buNone/>
            </a:pPr>
            <a:r>
              <a:rPr lang="en-US" sz="928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самодуальность Конна</a:t>
            </a:r>
            <a:pPr algn="l" indent="0" marL="0">
              <a:lnSpc>
                <a:spcPts val="1253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+ </a:t>
            </a:r>
            <a:pPr algn="l" indent="0" marL="0">
              <a:lnSpc>
                <a:spcPts val="1253"/>
              </a:lnSpc>
              <a:buNone/>
            </a:pPr>
            <a:r>
              <a:rPr lang="en-US" sz="928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эрмитовость</a:t>
            </a:r>
            <a:pPr algn="l" indent="0" marL="0">
              <a:lnSpc>
                <a:spcPts val="1253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+ </a:t>
            </a:r>
            <a:pPr algn="l" indent="0" marL="0">
              <a:lnSpc>
                <a:spcPts val="1253"/>
              </a:lnSpc>
              <a:buNone/>
            </a:pPr>
            <a:r>
              <a:rPr lang="en-US" sz="928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дираковский провал</a:t>
            </a:r>
            <a:endParaRPr lang="en-US" sz="92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ТЕСТЫ 21 · 22 · 23 · ТОЧНЫЕ ТОЖДЕСТВА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Аналитические структуры: π/7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836154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0772" y="961169"/>
            <a:ext cx="5207794" cy="996553"/>
          </a:xfrm>
          <a:prstGeom prst="roundRect">
            <a:avLst>
              <a:gd name="adj" fmla="val 1147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98646" y="1196136"/>
            <a:ext cx="647358" cy="152019"/>
          </a:xfrm>
          <a:prstGeom prst="roundRect">
            <a:avLst>
              <a:gd name="adj" fmla="val 625939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21506" y="1204280"/>
            <a:ext cx="601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 22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1506" y="1402519"/>
            <a:ext cx="4886325" cy="181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81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pPr algn="l" indent="0" marL="0">
              <a:lnSpc>
                <a:spcPts val="1418"/>
              </a:lnSpc>
              <a:buNone/>
            </a:pPr>
            <a:r>
              <a:rPr lang="en-US" sz="886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pPr algn="l" indent="0" marL="0">
              <a:lnSpc>
                <a:spcPts val="1418"/>
              </a:lnSpc>
              <a:buNone/>
            </a:pPr>
            <a:r>
              <a:rPr lang="en-US" sz="1181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2π/14 = </a:t>
            </a:r>
            <a:pPr algn="l" indent="0" marL="0">
              <a:lnSpc>
                <a:spcPts val="1418"/>
              </a:lnSpc>
              <a:buNone/>
            </a:pPr>
            <a:r>
              <a:rPr lang="en-US" sz="118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π/7</a:t>
            </a:r>
            <a:endParaRPr lang="en-US" sz="1181" dirty="0"/>
          </a:p>
        </p:txBody>
      </p:sp>
      <p:sp>
        <p:nvSpPr>
          <p:cNvPr id="11" name="Text 7"/>
          <p:cNvSpPr/>
          <p:nvPr/>
        </p:nvSpPr>
        <p:spPr>
          <a:xfrm>
            <a:off x="621506" y="1611027"/>
            <a:ext cx="49960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точное тождество для q/e = 1/14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60772" y="2050591"/>
            <a:ext cx="5207794" cy="996665"/>
          </a:xfrm>
          <a:prstGeom prst="roundRect">
            <a:avLst>
              <a:gd name="adj" fmla="val 1146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98646" y="2287344"/>
            <a:ext cx="647358" cy="152019"/>
          </a:xfrm>
          <a:prstGeom prst="roundRect">
            <a:avLst>
              <a:gd name="adj" fmla="val 625939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21506" y="2295488"/>
            <a:ext cx="601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 21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21506" y="2493727"/>
            <a:ext cx="4886325" cy="156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γ* = a</a:t>
            </a:r>
            <a:pPr algn="l" indent="0" marL="0">
              <a:lnSpc>
                <a:spcPts val="1221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i·b</a:t>
            </a:r>
            <a:pPr algn="l" indent="0" marL="0">
              <a:lnSpc>
                <a:spcPts val="1221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</a:t>
            </a:r>
            <a:pPr algn="l" indent="0" marL="0">
              <a:lnSpc>
                <a:spcPts val="1221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(π/7)⁵/22 = 8.276·10⁻⁴, b</a:t>
            </a:r>
            <a:pPr algn="l" indent="0" marL="0">
              <a:lnSpc>
                <a:spcPts val="1221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2sin²(π/7) = 0.3765</a:t>
            </a:r>
            <a:endParaRPr lang="en-US" sz="872" dirty="0"/>
          </a:p>
        </p:txBody>
      </p:sp>
      <p:sp>
        <p:nvSpPr>
          <p:cNvPr id="16" name="Text 12"/>
          <p:cNvSpPr/>
          <p:nvPr/>
        </p:nvSpPr>
        <p:spPr>
          <a:xfrm>
            <a:off x="621506" y="2677232"/>
            <a:ext cx="48863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arg γ* = 89.87° ≈ π/2</a:t>
            </a:r>
            <a:endParaRPr lang="en-US" sz="844" dirty="0"/>
          </a:p>
        </p:txBody>
      </p:sp>
      <p:sp>
        <p:nvSpPr>
          <p:cNvPr id="17" name="Text 13"/>
          <p:cNvSpPr/>
          <p:nvPr/>
        </p:nvSpPr>
        <p:spPr>
          <a:xfrm>
            <a:off x="460772" y="3140125"/>
            <a:ext cx="5207794" cy="996553"/>
          </a:xfrm>
          <a:prstGeom prst="roundRect">
            <a:avLst>
              <a:gd name="adj" fmla="val 1147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98646" y="3387593"/>
            <a:ext cx="647358" cy="152019"/>
          </a:xfrm>
          <a:prstGeom prst="roundRect">
            <a:avLst>
              <a:gd name="adj" fmla="val 625939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21506" y="3395737"/>
            <a:ext cx="601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 23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21506" y="3593976"/>
            <a:ext cx="4886325" cy="156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= exp(2πi/22)·exp(i·2.854·ln 22) = −0.950+0.312i, |CF| = 1</a:t>
            </a:r>
            <a:endParaRPr lang="en-US" sz="872" dirty="0"/>
          </a:p>
        </p:txBody>
      </p:sp>
      <p:sp>
        <p:nvSpPr>
          <p:cNvPr id="21" name="Text 17"/>
          <p:cNvSpPr/>
          <p:nvPr/>
        </p:nvSpPr>
        <p:spPr>
          <a:xfrm>
            <a:off x="621506" y="3777481"/>
            <a:ext cx="49960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эмпирич. вход CF_hard →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097"/>
              </a:lnSpc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0.0206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843588" y="1134405"/>
            <a:ext cx="2843213" cy="2828925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/tmp/h2p-fit-1787909721170-jfv9x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025" y="1205843"/>
            <a:ext cx="2700338" cy="26860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0772" y="4243834"/>
            <a:ext cx="2493169" cy="496044"/>
          </a:xfrm>
          <a:prstGeom prst="roundRect">
            <a:avLst>
              <a:gd name="adj" fmla="val 23042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92931" y="4390843"/>
            <a:ext cx="383642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92931" y="4401666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062298" y="4424549"/>
            <a:ext cx="1766627" cy="14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формул — машинная</a:t>
            </a:r>
            <a:endParaRPr lang="en-US" sz="816" dirty="0"/>
          </a:p>
        </p:txBody>
      </p:sp>
      <p:sp>
        <p:nvSpPr>
          <p:cNvPr id="28" name="Text 23"/>
          <p:cNvSpPr/>
          <p:nvPr/>
        </p:nvSpPr>
        <p:spPr>
          <a:xfrm>
            <a:off x="3061097" y="4243834"/>
            <a:ext cx="5622131" cy="496044"/>
          </a:xfrm>
          <a:prstGeom prst="roundRect">
            <a:avLst>
              <a:gd name="adj" fmla="val 23042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3193256" y="4390843"/>
            <a:ext cx="581434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3193256" y="4401666"/>
            <a:ext cx="58143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ГИПОТЕЗА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860416" y="4361706"/>
            <a:ext cx="4690653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Физическая интерпретация (Печчеи–Квинн, PSL(2,7)⊂Monster) — гипотеза: сюита не противоречит, но не доказывает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 NOTES · V19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Инфраструктура доверия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836154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0772" y="961169"/>
            <a:ext cx="2669307" cy="1594619"/>
          </a:xfrm>
          <a:prstGeom prst="roundRect">
            <a:avLst>
              <a:gd name="adj" fmla="val 716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506" y="143075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9" name="Text 5"/>
          <p:cNvSpPr/>
          <p:nvPr/>
        </p:nvSpPr>
        <p:spPr>
          <a:xfrm>
            <a:off x="835819" y="1430759"/>
            <a:ext cx="21335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1506" y="1645072"/>
            <a:ext cx="2347838" cy="5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PDF-райтер MethodError →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ложных WARN и неработающий второй проход; исправлено типизацией списка строк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237235" y="961169"/>
            <a:ext cx="2669418" cy="1594619"/>
          </a:xfrm>
          <a:prstGeom prst="roundRect">
            <a:avLst>
              <a:gd name="adj" fmla="val 716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397969" y="1427187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3" name="Text 9"/>
          <p:cNvSpPr/>
          <p:nvPr/>
        </p:nvSpPr>
        <p:spPr>
          <a:xfrm>
            <a:off x="3612282" y="1427187"/>
            <a:ext cx="21336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397969" y="1641500"/>
            <a:ext cx="2347950" cy="51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 любого формата отчёта больше не влияет на вердикт (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try/catch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вокруг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_write_test_report!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13810" y="961169"/>
            <a:ext cx="2669307" cy="1594619"/>
          </a:xfrm>
          <a:prstGeom prst="roundRect">
            <a:avLst>
              <a:gd name="adj" fmla="val 716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174544" y="150309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77" dirty="0"/>
          </a:p>
        </p:txBody>
      </p:sp>
      <p:sp>
        <p:nvSpPr>
          <p:cNvPr id="17" name="Text 13"/>
          <p:cNvSpPr/>
          <p:nvPr/>
        </p:nvSpPr>
        <p:spPr>
          <a:xfrm>
            <a:off x="6388857" y="1503090"/>
            <a:ext cx="21335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FIX-R3 / R4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174544" y="1717402"/>
            <a:ext cx="2347838" cy="33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тест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(область видимости) и тест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(α·Ny∈ℤ, кратные 6)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60772" y="2662944"/>
            <a:ext cx="2669307" cy="1594731"/>
          </a:xfrm>
          <a:prstGeom prst="roundRect">
            <a:avLst>
              <a:gd name="adj" fmla="val 7167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1506" y="3201293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77" dirty="0"/>
          </a:p>
        </p:txBody>
      </p:sp>
      <p:sp>
        <p:nvSpPr>
          <p:cNvPr id="21" name="Text 17"/>
          <p:cNvSpPr/>
          <p:nvPr/>
        </p:nvSpPr>
        <p:spPr>
          <a:xfrm>
            <a:off x="835819" y="3201293"/>
            <a:ext cx="21335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21506" y="3415605"/>
            <a:ext cx="234783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быстрая проверка — ζ≤5000, без GIF, флаг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--quick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реально оба прохода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16×16→32×32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37235" y="2662944"/>
            <a:ext cx="5445882" cy="1594731"/>
          </a:xfrm>
          <a:prstGeom prst="roundRect">
            <a:avLst>
              <a:gd name="adj" fmla="val 7167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397969" y="3205311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FFB7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25" name="Text 21"/>
          <p:cNvSpPr/>
          <p:nvPr/>
        </p:nvSpPr>
        <p:spPr>
          <a:xfrm>
            <a:off x="3612282" y="3194596"/>
            <a:ext cx="49101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Две системы вердиктов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397969" y="3437483"/>
            <a:ext cx="3204884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ФОРМУЛЬНЫЕ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397969" y="3583930"/>
            <a:ext cx="2608960" cy="16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машинные ε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10⁻¹²…10⁻¹⁶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бинарный PASS/FAIL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956548" y="3437483"/>
            <a:ext cx="7144" cy="288541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106567" y="3437483"/>
            <a:ext cx="241581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СТАТИСТИЧЕСКИЕ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106567" y="3583930"/>
            <a:ext cx="2525543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калиброванные полосы, PASS/WARN/FAIL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60772" y="4364831"/>
            <a:ext cx="8222456" cy="375047"/>
          </a:xfrm>
          <a:prstGeom prst="roundRect">
            <a:avLst>
              <a:gd name="adj" fmla="val 3047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2455552" y="448806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3" name="Text 29"/>
          <p:cNvSpPr/>
          <p:nvPr/>
        </p:nvSpPr>
        <p:spPr>
          <a:xfrm>
            <a:off x="2662721" y="4482703"/>
            <a:ext cx="588834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Каждый запуск: каталог с логами, md/html/pdf/docx, PNG 600 dpi, SVG, GIF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37733" y="-428625"/>
            <a:ext cx="2706267" cy="331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8"/>
              </a:lnSpc>
              <a:buNone/>
            </a:pPr>
            <a:r>
              <a:rPr lang="en-US" sz="24188" b="1" dirty="0">
                <a:solidFill>
                  <a:srgbClr val="4FC3F7">
                    <a:alpha val="5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ζ</a:t>
            </a:r>
            <a:endParaRPr lang="en-US" sz="24188" dirty="0"/>
          </a:p>
        </p:txBody>
      </p:sp>
      <p:sp>
        <p:nvSpPr>
          <p:cNvPr id="5" name="Text 1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ЗАКЛЮЧЕНИЕ · AB-ОБЛАКО КАК ФАЗОВЫЙ РЕЗОНАТОР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623292"/>
            <a:ext cx="8636000" cy="40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8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Выводы</a:t>
            </a:r>
            <a:endParaRPr lang="en-US" sz="2588" dirty="0"/>
          </a:p>
        </p:txBody>
      </p:sp>
      <p:sp>
        <p:nvSpPr>
          <p:cNvPr id="7" name="Text 3"/>
          <p:cNvSpPr/>
          <p:nvPr/>
        </p:nvSpPr>
        <p:spPr>
          <a:xfrm>
            <a:off x="457200" y="1069330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60772" y="1208633"/>
            <a:ext cx="4057650" cy="1238659"/>
          </a:xfrm>
          <a:prstGeom prst="roundRect">
            <a:avLst>
              <a:gd name="adj" fmla="val 922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21506" y="1536799"/>
            <a:ext cx="3736181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61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ТОЧНОСТЬ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1506" y="1704677"/>
            <a:ext cx="3736181" cy="17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потоки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10⁻¹⁴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Байерс–Янг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3.5·10⁻¹⁵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Конн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нулевые моды</a:t>
            </a:r>
            <a:endParaRPr lang="en-US" sz="844" dirty="0"/>
          </a:p>
        </p:txBody>
      </p:sp>
      <p:sp>
        <p:nvSpPr>
          <p:cNvPr id="11" name="Text 7"/>
          <p:cNvSpPr/>
          <p:nvPr/>
        </p:nvSpPr>
        <p:spPr>
          <a:xfrm>
            <a:off x="598646" y="1927812"/>
            <a:ext cx="627154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21506" y="1938635"/>
            <a:ext cx="58143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доказано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625578" y="1208633"/>
            <a:ext cx="4057650" cy="1238659"/>
          </a:xfrm>
          <a:prstGeom prst="roundRect">
            <a:avLst>
              <a:gd name="adj" fmla="val 922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86313" y="1536799"/>
            <a:ext cx="3736181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61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УНИВЕРСАЛЬНОСТЬ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786313" y="1704677"/>
            <a:ext cx="3845909" cy="17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0.585±0.026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плато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0.595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при L≥30</a:t>
            </a:r>
            <a:endParaRPr lang="en-US" sz="844" dirty="0"/>
          </a:p>
        </p:txBody>
      </p:sp>
      <p:sp>
        <p:nvSpPr>
          <p:cNvPr id="16" name="Text 12"/>
          <p:cNvSpPr/>
          <p:nvPr/>
        </p:nvSpPr>
        <p:spPr>
          <a:xfrm>
            <a:off x="4763453" y="1927812"/>
            <a:ext cx="1072299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86313" y="1938635"/>
            <a:ext cx="1026579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 воспроизведён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60772" y="2554449"/>
            <a:ext cx="4057650" cy="1238659"/>
          </a:xfrm>
          <a:prstGeom prst="roundRect">
            <a:avLst>
              <a:gd name="adj" fmla="val 922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21506" y="2882615"/>
            <a:ext cx="3736181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61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ЧЕСТНОСТЬ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21506" y="3050493"/>
            <a:ext cx="3845909" cy="17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R₂ качественно совпадает, KS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= 6.7·10⁻⁴</a:t>
            </a:r>
            <a:endParaRPr lang="en-US" sz="844" dirty="0"/>
          </a:p>
        </p:txBody>
      </p:sp>
      <p:sp>
        <p:nvSpPr>
          <p:cNvPr id="21" name="Text 17"/>
          <p:cNvSpPr/>
          <p:nvPr/>
        </p:nvSpPr>
        <p:spPr>
          <a:xfrm>
            <a:off x="598646" y="3273628"/>
            <a:ext cx="1171307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21506" y="3284451"/>
            <a:ext cx="112558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расстояние измерено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625578" y="2554449"/>
            <a:ext cx="4057650" cy="1238659"/>
          </a:xfrm>
          <a:prstGeom prst="roundRect">
            <a:avLst>
              <a:gd name="adj" fmla="val 922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786313" y="2882615"/>
            <a:ext cx="3736181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61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ДИНАМИКА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786313" y="3050493"/>
            <a:ext cx="3845909" cy="17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конус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R² = 0.9997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провал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20×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скин-эффект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4789884" y="3288023"/>
            <a:ext cx="1464580" cy="173236"/>
          </a:xfrm>
          <a:prstGeom prst="roundRect">
            <a:avLst>
              <a:gd name="adj" fmla="val 5492782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786313" y="3284451"/>
            <a:ext cx="1471724" cy="240925"/>
          </a:xfrm>
          <a:prstGeom prst="rect">
            <a:avLst/>
          </a:prstGeom>
          <a:noFill/>
          <a:ln/>
        </p:spPr>
        <p:txBody>
          <a:bodyPr wrap="none" lIns="85725" tIns="21431" rIns="85725" bIns="21431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критическая прямая σ = 1/2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71513" y="3925267"/>
            <a:ext cx="7800975" cy="50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1"/>
              </a:lnSpc>
              <a:buNone/>
            </a:pPr>
            <a:r>
              <a:rPr lang="en-US" sz="1322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AB-облако — </a:t>
            </a:r>
            <a:pPr algn="ctr" indent="0" marL="0">
              <a:lnSpc>
                <a:spcPts val="1851"/>
              </a:lnSpc>
              <a:buNone/>
            </a:pPr>
            <a:r>
              <a:rPr lang="en-US" sz="1322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фазовый резонатор</a:t>
            </a:r>
            <a:pPr algn="ctr" indent="0" marL="0">
              <a:lnSpc>
                <a:spcPts val="1851"/>
              </a:lnSpc>
              <a:buNone/>
            </a:pPr>
            <a:r>
              <a:rPr lang="en-US" sz="1322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с воспроизводимой GUE-статистикой: программа </a:t>
            </a:r>
            <a:pPr algn="ctr" indent="0" marL="0">
              <a:lnSpc>
                <a:spcPts val="1851"/>
              </a:lnSpc>
              <a:buNone/>
            </a:pPr>
            <a:r>
              <a:rPr lang="en-US" sz="1322" dirty="0">
                <a:solidFill>
                  <a:srgbClr val="FFB74D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Гильберта–Поля</a:t>
            </a:r>
            <a:pPr algn="ctr" indent="0" marL="0">
              <a:lnSpc>
                <a:spcPts val="1851"/>
              </a:lnSpc>
              <a:buNone/>
            </a:pPr>
            <a:r>
              <a:rPr lang="en-US" sz="1322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как количественная, проверяемая программа</a:t>
            </a:r>
            <a:endParaRPr lang="en-US" sz="1322" dirty="0"/>
          </a:p>
        </p:txBody>
      </p:sp>
      <p:sp>
        <p:nvSpPr>
          <p:cNvPr id="29" name="Text 25"/>
          <p:cNvSpPr/>
          <p:nvPr/>
        </p:nvSpPr>
        <p:spPr>
          <a:xfrm>
            <a:off x="2504331" y="4513064"/>
            <a:ext cx="4135227" cy="226814"/>
          </a:xfrm>
          <a:prstGeom prst="roundRect">
            <a:avLst>
              <a:gd name="adj" fmla="val 4195277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2500759" y="4509492"/>
            <a:ext cx="6186041" cy="287487"/>
          </a:xfrm>
          <a:prstGeom prst="rect">
            <a:avLst/>
          </a:prstGeom>
          <a:noFill/>
          <a:ln/>
        </p:spPr>
        <p:txBody>
          <a:bodyPr wrap="square" lIns="128588" tIns="42863" rIns="128588" bIns="42863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julia ab_cloud_v19.jl --test all · --quick · DOI 10.5281/zenodo.21825394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2026-08-28T09:35:21Z</dcterms:created>
  <dcterms:modified xsi:type="dcterms:W3CDTF">2026-08-28T09:35:21Z</dcterms:modified>
</cp:coreProperties>
</file>