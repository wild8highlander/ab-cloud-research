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32947" y="-425053"/>
            <a:ext cx="4564856" cy="4564856"/>
          </a:xfrm>
          <a:prstGeom prst="ellipse">
            <a:avLst/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933009" y="217884"/>
            <a:ext cx="3278981" cy="3278981"/>
          </a:xfrm>
          <a:prstGeom prst="ellipse">
            <a:avLst/>
          </a:prstGeom>
          <a:noFill/>
          <a:ln w="7144">
            <a:solidFill>
              <a:srgbClr val="4FC3F7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433072" y="860822"/>
            <a:ext cx="1993106" cy="1993106"/>
          </a:xfrm>
          <a:prstGeom prst="ellipse">
            <a:avLst/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856532" y="500063"/>
            <a:ext cx="3287468" cy="1249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13"/>
              </a:lnSpc>
              <a:buNone/>
            </a:pPr>
            <a:r>
              <a:rPr lang="en-US" sz="10125" b="1" spc="-203" kern="0" dirty="0">
                <a:solidFill>
                  <a:srgbClr val="4FC3F7">
                    <a:alpha val="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ζ(s)</a:t>
            </a:r>
            <a:endParaRPr lang="en-US" sz="10125" dirty="0"/>
          </a:p>
        </p:txBody>
      </p:sp>
      <p:sp>
        <p:nvSpPr>
          <p:cNvPr id="7" name="Text 4"/>
          <p:cNvSpPr/>
          <p:nvPr/>
        </p:nvSpPr>
        <p:spPr>
          <a:xfrm>
            <a:off x="6011131" y="3220492"/>
            <a:ext cx="3132869" cy="610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4950" b="1" spc="-99" kern="0" dirty="0">
                <a:solidFill>
                  <a:srgbClr val="FFB74D">
                    <a:alpha val="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exp(iφ)</a:t>
            </a:r>
            <a:endParaRPr lang="en-US" sz="4950" dirty="0"/>
          </a:p>
        </p:txBody>
      </p:sp>
      <p:sp>
        <p:nvSpPr>
          <p:cNvPr id="8" name="Text 5"/>
          <p:cNvSpPr/>
          <p:nvPr/>
        </p:nvSpPr>
        <p:spPr>
          <a:xfrm>
            <a:off x="7729538" y="928688"/>
            <a:ext cx="57150" cy="57150"/>
          </a:xfrm>
          <a:prstGeom prst="ellipse">
            <a:avLst/>
          </a:prstGeom>
          <a:solidFill>
            <a:srgbClr val="4FC3F7"/>
          </a:solidFill>
          <a:ln/>
          <a:effectLst>
            <a:outerShdw sx="100000" sy="100000" kx="0" ky="0" algn="bl" rotWithShape="0" blurRad="133350" dist="50800" dir="16200000">
              <a:srgbClr val="4FC3F7">
                <a:alpha val="9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629650" y="2428875"/>
            <a:ext cx="42863" cy="42863"/>
          </a:xfrm>
          <a:prstGeom prst="ellipse">
            <a:avLst/>
          </a:prstGeom>
          <a:solidFill>
            <a:srgbClr val="FFB74D"/>
          </a:solidFill>
          <a:ln/>
          <a:effectLst>
            <a:outerShdw sx="100000" sy="100000" kx="0" ky="0" algn="bl" rotWithShape="0" blurRad="114300" dist="50800" dir="16200000">
              <a:srgbClr val="FFB74D">
                <a:alpha val="9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750844" y="4036219"/>
            <a:ext cx="35719" cy="35719"/>
          </a:xfrm>
          <a:prstGeom prst="ellipse">
            <a:avLst/>
          </a:prstGeom>
          <a:solidFill>
            <a:srgbClr val="4FC3F7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57200" y="4418409"/>
            <a:ext cx="82296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0" y="4875609"/>
            <a:ext cx="91440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1088082"/>
            <a:ext cx="6557963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9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SCIENTIFIC MONOGRAPH · 2026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57200" y="1330970"/>
            <a:ext cx="6679406" cy="981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78"/>
              </a:lnSpc>
              <a:buNone/>
            </a:pPr>
            <a:r>
              <a:rPr lang="en-US" sz="3375" b="1" spc="-51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AB-Cloud as a</a:t>
            </a:r>
            <a:endParaRPr lang="en-US" sz="3375" dirty="0"/>
          </a:p>
          <a:p>
            <a:pPr algn="l" indent="0" marL="0">
              <a:lnSpc>
                <a:spcPts val="3578"/>
              </a:lnSpc>
              <a:buNone/>
            </a:pPr>
            <a:r>
              <a:rPr lang="en-US" sz="3375" b="1" spc="-51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Resonator</a:t>
            </a:r>
            <a:endParaRPr lang="en-US" sz="3375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82441"/>
            <a:ext cx="542925" cy="142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7200" y="2539603"/>
            <a:ext cx="6784848" cy="39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spc="110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HILBERT–PÓLYA HYPOTHESIS, ZEROS OF THE RIEMANN ZETA FUNCTION, AND THE TOPOLOGY OF ELEMENTARY PARTICLES</a:t>
            </a:r>
            <a:endParaRPr lang="en-US" sz="844" dirty="0"/>
          </a:p>
        </p:txBody>
      </p:sp>
      <p:sp>
        <p:nvSpPr>
          <p:cNvPr id="17" name="Text 13"/>
          <p:cNvSpPr/>
          <p:nvPr/>
        </p:nvSpPr>
        <p:spPr>
          <a:xfrm>
            <a:off x="457200" y="3046809"/>
            <a:ext cx="5286375" cy="39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numerical study linking the Aharonov–Bohm effect, random matrices (GUE/GOE/Poisson), and the electron/positron model as topological vortices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57200" y="3571929"/>
            <a:ext cx="1093329" cy="224028"/>
          </a:xfrm>
          <a:prstGeom prst="roundRect">
            <a:avLst>
              <a:gd name="adj" fmla="val 4247449"/>
            </a:avLst>
          </a:prstGeom>
          <a:solidFill>
            <a:srgbClr val="4FC3F7">
              <a:alpha val="7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57200" y="3583930"/>
            <a:ext cx="1136191" cy="227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ζ(1/2+iγ</a:t>
            </a:r>
            <a:pPr algn="l" indent="0" marL="0">
              <a:buNone/>
            </a:pPr>
            <a:r>
              <a:rPr lang="en-US" sz="800" baseline="-40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) = 0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1636254" y="3571929"/>
            <a:ext cx="722635" cy="224028"/>
          </a:xfrm>
          <a:prstGeom prst="roundRect">
            <a:avLst>
              <a:gd name="adj" fmla="val 4247449"/>
            </a:avLst>
          </a:prstGeom>
          <a:solidFill>
            <a:srgbClr val="FFB74D">
              <a:alpha val="6000"/>
            </a:srgbClr>
          </a:solidFill>
          <a:ln w="7144">
            <a:solidFill>
              <a:srgbClr val="FFB7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1636254" y="3583930"/>
            <a:ext cx="72263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Δφ = qΦ/ℏ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2444614" y="3571929"/>
            <a:ext cx="1053815" cy="224028"/>
          </a:xfrm>
          <a:prstGeom prst="roundRect">
            <a:avLst>
              <a:gd name="adj" fmla="val 4247449"/>
            </a:avLst>
          </a:prstGeom>
          <a:solidFill>
            <a:srgbClr val="4FC3F7">
              <a:alpha val="7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2444614" y="3583930"/>
            <a:ext cx="4084774" cy="227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⟨r⟩</a:t>
            </a:r>
            <a:pPr algn="l" indent="0" marL="0">
              <a:buNone/>
            </a:pPr>
            <a:r>
              <a:rPr lang="en-US" sz="800" baseline="-40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</a:t>
            </a:r>
            <a:pPr algn="l"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= 0.5996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57200" y="4597003"/>
            <a:ext cx="750757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AUTHOR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1026802" y="4586288"/>
            <a:ext cx="1498808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Isaev Iskhak Khamzatovich</a:t>
            </a:r>
            <a:endParaRPr lang="en-US" sz="844" dirty="0"/>
          </a:p>
        </p:txBody>
      </p:sp>
      <p:sp>
        <p:nvSpPr>
          <p:cNvPr id="26" name="Text 22"/>
          <p:cNvSpPr/>
          <p:nvPr/>
        </p:nvSpPr>
        <p:spPr>
          <a:xfrm>
            <a:off x="2518172" y="4554141"/>
            <a:ext cx="1537022" cy="185738"/>
          </a:xfrm>
          <a:prstGeom prst="roundRect">
            <a:avLst>
              <a:gd name="adj" fmla="val 5123063"/>
            </a:avLst>
          </a:prstGeom>
          <a:solidFill>
            <a:srgbClr val="4FC3F7">
              <a:alpha val="7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2514600" y="4550569"/>
            <a:ext cx="1594172" cy="192881"/>
          </a:xfrm>
          <a:prstGeom prst="rect">
            <a:avLst/>
          </a:prstGeom>
          <a:noFill/>
          <a:ln/>
        </p:spPr>
        <p:txBody>
          <a:bodyPr wrap="none" lIns="92869" tIns="35719" rIns="92869" bIns="35719" rtlCol="0" anchor="t"/>
          <a:lstStyle/>
          <a:p>
            <a:pPr algn="l" indent="0" marL="0">
              <a:buNone/>
            </a:pPr>
            <a:r>
              <a:rPr lang="en-US" sz="703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ORCID 0009-0003-7299-0701</a:t>
            </a:r>
            <a:endParaRPr lang="en-US" sz="703" dirty="0"/>
          </a:p>
        </p:txBody>
      </p:sp>
      <p:sp>
        <p:nvSpPr>
          <p:cNvPr id="28" name="Text 24"/>
          <p:cNvSpPr/>
          <p:nvPr/>
        </p:nvSpPr>
        <p:spPr>
          <a:xfrm>
            <a:off x="4162351" y="4554141"/>
            <a:ext cx="1644514" cy="185738"/>
          </a:xfrm>
          <a:prstGeom prst="roundRect">
            <a:avLst>
              <a:gd name="adj" fmla="val 5123063"/>
            </a:avLst>
          </a:prstGeom>
          <a:solidFill>
            <a:srgbClr val="4FC3F7">
              <a:alpha val="7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4158779" y="4550569"/>
            <a:ext cx="1651657" cy="192881"/>
          </a:xfrm>
          <a:prstGeom prst="rect">
            <a:avLst/>
          </a:prstGeom>
          <a:noFill/>
          <a:ln/>
        </p:spPr>
        <p:txBody>
          <a:bodyPr wrap="none" lIns="92869" tIns="35719" rIns="92869" bIns="35719" rtlCol="0" anchor="t"/>
          <a:lstStyle/>
          <a:p>
            <a:pPr algn="l" indent="0" marL="0">
              <a:buNone/>
            </a:pPr>
            <a:r>
              <a:rPr lang="en-US" sz="703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DOI 10.5281/zenodo.21825394</a:t>
            </a:r>
            <a:endParaRPr lang="en-US" sz="703" dirty="0"/>
          </a:p>
        </p:txBody>
      </p:sp>
      <p:sp>
        <p:nvSpPr>
          <p:cNvPr id="30" name="Text 26"/>
          <p:cNvSpPr/>
          <p:nvPr/>
        </p:nvSpPr>
        <p:spPr>
          <a:xfrm>
            <a:off x="5963469" y="4554141"/>
            <a:ext cx="2719760" cy="185738"/>
          </a:xfrm>
          <a:prstGeom prst="roundRect">
            <a:avLst>
              <a:gd name="adj" fmla="val 5123063"/>
            </a:avLst>
          </a:prstGeom>
          <a:solidFill>
            <a:srgbClr val="FFB74D">
              <a:alpha val="6000"/>
            </a:srgbClr>
          </a:solidFill>
          <a:ln w="7144">
            <a:solidFill>
              <a:srgbClr val="FFB7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5959897" y="4550569"/>
            <a:ext cx="2726903" cy="192881"/>
          </a:xfrm>
          <a:prstGeom prst="rect">
            <a:avLst/>
          </a:prstGeom>
          <a:noFill/>
          <a:ln/>
        </p:spPr>
        <p:txBody>
          <a:bodyPr wrap="none" lIns="92869" tIns="35719" rIns="92869" bIns="35719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 author edition v21 · with verification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0" y="4872038"/>
            <a:ext cx="9144000" cy="271463"/>
          </a:xfrm>
          <a:prstGeom prst="rect">
            <a:avLst/>
          </a:prstGeom>
          <a:solidFill>
            <a:srgbClr val="09111E">
              <a:alpha val="7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457200" y="4961334"/>
            <a:ext cx="773400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AB-Cloud </a:t>
            </a:r>
            <a:pPr algn="l" indent="0" marL="0">
              <a:buNone/>
            </a:pPr>
            <a:r>
              <a:rPr lang="en-US" sz="800" spc="68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Monograph v21 </a:t>
            </a:r>
            <a:pPr algn="l" indent="0" marL="0">
              <a:buNone/>
            </a:pPr>
            <a:r>
              <a:rPr lang="en-US" sz="800" spc="68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Author Edition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8205490" y="4961334"/>
            <a:ext cx="48131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16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75884" y="3289697"/>
            <a:ext cx="3278981" cy="3278981"/>
          </a:xfrm>
          <a:prstGeom prst="ellipse">
            <a:avLst/>
          </a:prstGeom>
          <a:noFill/>
          <a:ln w="7144">
            <a:solidFill>
              <a:srgbClr val="4FC3F7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833778" y="528638"/>
            <a:ext cx="2310222" cy="111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9000" b="1" spc="-180" kern="0" dirty="0">
                <a:solidFill>
                  <a:srgbClr val="4FC3F7">
                    <a:alpha val="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⟨r⟩</a:t>
            </a:r>
            <a:endParaRPr lang="en-US" sz="9000" dirty="0"/>
          </a:p>
        </p:txBody>
      </p:sp>
      <p:sp>
        <p:nvSpPr>
          <p:cNvPr id="5" name="Shape 2"/>
          <p:cNvSpPr/>
          <p:nvPr/>
        </p:nvSpPr>
        <p:spPr>
          <a:xfrm>
            <a:off x="592931" y="1699766"/>
            <a:ext cx="23955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984860" y="1696194"/>
            <a:ext cx="0" cy="356629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2931" y="2049252"/>
            <a:ext cx="23955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3647" y="1696194"/>
            <a:ext cx="0" cy="356629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74194" y="1699766"/>
            <a:ext cx="23955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66122" y="1696194"/>
            <a:ext cx="0" cy="359866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74194" y="2052489"/>
            <a:ext cx="23955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84910" y="1696194"/>
            <a:ext cx="0" cy="359866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55457" y="1699766"/>
            <a:ext cx="2395612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47497" y="1696194"/>
            <a:ext cx="0" cy="356629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55457" y="2049252"/>
            <a:ext cx="2395612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66172" y="1696194"/>
            <a:ext cx="0" cy="356629"/>
          </a:xfrm>
          <a:prstGeom prst="line">
            <a:avLst/>
          </a:prstGeom>
          <a:noFill/>
          <a:ln w="21431">
            <a:solidFill>
              <a:srgbClr val="FFB74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4200525"/>
            <a:ext cx="82296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83228" y="4196953"/>
            <a:ext cx="0" cy="546497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4739878"/>
            <a:ext cx="82296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7916" y="4196953"/>
            <a:ext cx="0" cy="546497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0" y="4875609"/>
            <a:ext cx="91440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357188"/>
            <a:ext cx="863600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9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FRAMING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57200" y="535781"/>
            <a:ext cx="8636000" cy="304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9"/>
              </a:lnSpc>
              <a:buNone/>
            </a:pPr>
            <a:r>
              <a:rPr lang="en-US" sz="1913" b="1" spc="-23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 fundamental areas in </a:t>
            </a:r>
            <a:pPr algn="l" indent="0" marL="0">
              <a:lnSpc>
                <a:spcPts val="2219"/>
              </a:lnSpc>
              <a:buNone/>
            </a:pPr>
            <a:r>
              <a:rPr lang="en-US" sz="1913" b="1" spc="-23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study</a:t>
            </a:r>
            <a:endParaRPr lang="en-US" sz="1913" dirty="0"/>
          </a:p>
        </p:txBody>
      </p:sp>
      <p:sp>
        <p:nvSpPr>
          <p:cNvPr id="24" name="Text 21"/>
          <p:cNvSpPr/>
          <p:nvPr/>
        </p:nvSpPr>
        <p:spPr>
          <a:xfrm>
            <a:off x="460772" y="978247"/>
            <a:ext cx="2659819" cy="3100834"/>
          </a:xfrm>
          <a:prstGeom prst="roundRect">
            <a:avLst>
              <a:gd name="adj" fmla="val 4297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96503" y="1099691"/>
            <a:ext cx="235744" cy="235744"/>
          </a:xfrm>
          <a:prstGeom prst="roundRect">
            <a:avLst>
              <a:gd name="adj" fmla="val 36364"/>
            </a:avLst>
          </a:prstGeom>
          <a:solidFill>
            <a:srgbClr val="4FC3F7">
              <a:alpha val="10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92931" y="1096119"/>
            <a:ext cx="28575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44" dirty="0"/>
          </a:p>
        </p:txBody>
      </p:sp>
      <p:sp>
        <p:nvSpPr>
          <p:cNvPr id="27" name="Text 24"/>
          <p:cNvSpPr/>
          <p:nvPr/>
        </p:nvSpPr>
        <p:spPr>
          <a:xfrm>
            <a:off x="921544" y="1167557"/>
            <a:ext cx="2066888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RANDOM MATRIX THEORY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92931" y="1439019"/>
            <a:ext cx="239550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72" spc="17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Universality of ⟨r⟩</a:t>
            </a:r>
            <a:endParaRPr lang="en-US" sz="872" dirty="0"/>
          </a:p>
        </p:txBody>
      </p:sp>
      <p:sp>
        <p:nvSpPr>
          <p:cNvPr id="29" name="Text 26"/>
          <p:cNvSpPr/>
          <p:nvPr/>
        </p:nvSpPr>
        <p:spPr>
          <a:xfrm>
            <a:off x="592931" y="1696194"/>
            <a:ext cx="2395500" cy="356629"/>
          </a:xfrm>
          <a:prstGeom prst="roundRect">
            <a:avLst>
              <a:gd name="adj" fmla="val 21367"/>
            </a:avLst>
          </a:prstGeom>
          <a:solidFill>
            <a:srgbClr val="0E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92931" y="1696194"/>
            <a:ext cx="2395500" cy="385160"/>
          </a:xfrm>
          <a:prstGeom prst="rect">
            <a:avLst/>
          </a:prstGeom>
          <a:noFill/>
          <a:ln/>
        </p:spPr>
        <p:txBody>
          <a:bodyPr wrap="none" lIns="107156" tIns="85725" rIns="107156" bIns="85725" rtlCol="0" anchor="t"/>
          <a:lstStyle/>
          <a:p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 · GOE · GSE · Poisson</a:t>
            </a:r>
            <a:endParaRPr lang="en-US" sz="816" dirty="0"/>
          </a:p>
        </p:txBody>
      </p:sp>
      <p:sp>
        <p:nvSpPr>
          <p:cNvPr id="31" name="Text 28"/>
          <p:cNvSpPr/>
          <p:nvPr/>
        </p:nvSpPr>
        <p:spPr>
          <a:xfrm>
            <a:off x="592931" y="2138549"/>
            <a:ext cx="2395500" cy="50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Spectral statistics of complex quantum systems fall into universal classes; the adjacent-gap ratio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⟨r⟩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is the fingerprint of universality.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3242035" y="978247"/>
            <a:ext cx="2659819" cy="3100834"/>
          </a:xfrm>
          <a:prstGeom prst="roundRect">
            <a:avLst>
              <a:gd name="adj" fmla="val 4297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3377766" y="1099691"/>
            <a:ext cx="235744" cy="235744"/>
          </a:xfrm>
          <a:prstGeom prst="roundRect">
            <a:avLst>
              <a:gd name="adj" fmla="val 36364"/>
            </a:avLst>
          </a:prstGeom>
          <a:solidFill>
            <a:srgbClr val="4FC3F7">
              <a:alpha val="10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3374194" y="1096119"/>
            <a:ext cx="28575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44" dirty="0"/>
          </a:p>
        </p:txBody>
      </p:sp>
      <p:sp>
        <p:nvSpPr>
          <p:cNvPr id="35" name="Text 32"/>
          <p:cNvSpPr/>
          <p:nvPr/>
        </p:nvSpPr>
        <p:spPr>
          <a:xfrm>
            <a:off x="3702807" y="1167557"/>
            <a:ext cx="2066888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HILBERT–PÓLYA HYPOTHESIS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3374194" y="1439019"/>
            <a:ext cx="239550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72" spc="17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Zeta zeros as a spectrum</a:t>
            </a:r>
            <a:endParaRPr lang="en-US" sz="872" dirty="0"/>
          </a:p>
        </p:txBody>
      </p:sp>
      <p:sp>
        <p:nvSpPr>
          <p:cNvPr id="37" name="Text 34"/>
          <p:cNvSpPr/>
          <p:nvPr/>
        </p:nvSpPr>
        <p:spPr>
          <a:xfrm>
            <a:off x="3374194" y="1696194"/>
            <a:ext cx="2395500" cy="359866"/>
          </a:xfrm>
          <a:prstGeom prst="roundRect">
            <a:avLst>
              <a:gd name="adj" fmla="val 21175"/>
            </a:avLst>
          </a:prstGeom>
          <a:solidFill>
            <a:srgbClr val="0E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3374194" y="1696194"/>
            <a:ext cx="2395500" cy="409448"/>
          </a:xfrm>
          <a:prstGeom prst="rect">
            <a:avLst/>
          </a:prstGeom>
          <a:noFill/>
          <a:ln/>
        </p:spPr>
        <p:txBody>
          <a:bodyPr wrap="square" lIns="107156" tIns="85725" rIns="107156" bIns="85725" rtlCol="0" anchor="t"/>
          <a:lstStyle/>
          <a:p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ζ(1/2+iγ</a:t>
            </a:r>
            <a:pPr algn="l" indent="0" marL="0">
              <a:lnSpc>
                <a:spcPts val="1253"/>
              </a:lnSpc>
              <a:buNone/>
            </a:pPr>
            <a:r>
              <a:rPr lang="en-US" sz="800" baseline="-40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)=0 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⟺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Hψ</a:t>
            </a:r>
            <a:pPr algn="l" indent="0" marL="0">
              <a:lnSpc>
                <a:spcPts val="1253"/>
              </a:lnSpc>
              <a:buNone/>
            </a:pPr>
            <a:r>
              <a:rPr lang="en-US" sz="800" baseline="-40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=γ</a:t>
            </a:r>
            <a:pPr algn="l" indent="0" marL="0">
              <a:lnSpc>
                <a:spcPts val="1253"/>
              </a:lnSpc>
              <a:buNone/>
            </a:pPr>
            <a:r>
              <a:rPr lang="en-US" sz="800" baseline="-40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ψ</a:t>
            </a:r>
            <a:pPr algn="l" indent="0" marL="0">
              <a:lnSpc>
                <a:spcPts val="1253"/>
              </a:lnSpc>
              <a:buNone/>
            </a:pPr>
            <a:r>
              <a:rPr lang="en-US" sz="800" baseline="-40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γ</a:t>
            </a:r>
            <a:pPr algn="l" indent="0" marL="0">
              <a:lnSpc>
                <a:spcPts val="1253"/>
              </a:lnSpc>
              <a:buNone/>
            </a:pPr>
            <a:r>
              <a:rPr lang="en-US" sz="800" baseline="-40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∈ℝ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3374194" y="2141786"/>
            <a:ext cx="2395500" cy="521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Zeta zeros appear as eigenvalues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γ</a:t>
            </a:r>
            <a:pPr algn="l" indent="0" marL="0">
              <a:lnSpc>
                <a:spcPts val="1221"/>
              </a:lnSpc>
              <a:buNone/>
            </a:pPr>
            <a:r>
              <a:rPr lang="en-US" sz="800" baseline="-40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of a Hermitian operator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the spectrum route to the Riemann Hypothesis.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023297" y="978247"/>
            <a:ext cx="2659931" cy="3100834"/>
          </a:xfrm>
          <a:prstGeom prst="roundRect">
            <a:avLst>
              <a:gd name="adj" fmla="val 4297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6159029" y="1099691"/>
            <a:ext cx="235744" cy="235744"/>
          </a:xfrm>
          <a:prstGeom prst="roundRect">
            <a:avLst>
              <a:gd name="adj" fmla="val 36364"/>
            </a:avLst>
          </a:prstGeom>
          <a:solidFill>
            <a:srgbClr val="4FC3F7">
              <a:alpha val="10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6155457" y="1096119"/>
            <a:ext cx="28575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44" dirty="0"/>
          </a:p>
        </p:txBody>
      </p:sp>
      <p:sp>
        <p:nvSpPr>
          <p:cNvPr id="43" name="Text 40"/>
          <p:cNvSpPr/>
          <p:nvPr/>
        </p:nvSpPr>
        <p:spPr>
          <a:xfrm>
            <a:off x="6484069" y="1167557"/>
            <a:ext cx="2066999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TOPOLOGICAL PARTICLE MODEL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6155457" y="1439019"/>
            <a:ext cx="2395612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72" spc="17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Vortices and the AB effect</a:t>
            </a:r>
            <a:endParaRPr lang="en-US" sz="872" dirty="0"/>
          </a:p>
        </p:txBody>
      </p:sp>
      <p:sp>
        <p:nvSpPr>
          <p:cNvPr id="45" name="Text 42"/>
          <p:cNvSpPr/>
          <p:nvPr/>
        </p:nvSpPr>
        <p:spPr>
          <a:xfrm>
            <a:off x="6155457" y="1696194"/>
            <a:ext cx="2395612" cy="356629"/>
          </a:xfrm>
          <a:prstGeom prst="roundRect">
            <a:avLst>
              <a:gd name="adj" fmla="val 21367"/>
            </a:avLst>
          </a:prstGeom>
          <a:solidFill>
            <a:srgbClr val="0E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6155457" y="1696194"/>
            <a:ext cx="2395612" cy="385160"/>
          </a:xfrm>
          <a:prstGeom prst="rect">
            <a:avLst/>
          </a:prstGeom>
          <a:noFill/>
          <a:ln/>
        </p:spPr>
        <p:txBody>
          <a:bodyPr wrap="none" lIns="107156" tIns="85725" rIns="107156" bIns="85725" rtlCol="0" anchor="t"/>
          <a:lstStyle/>
          <a:p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Δφ = (q/ℏ)∮A·dl = qΦ/ℏ</a:t>
            </a:r>
            <a:endParaRPr lang="en-US" sz="816" dirty="0"/>
          </a:p>
        </p:txBody>
      </p:sp>
      <p:sp>
        <p:nvSpPr>
          <p:cNvPr id="47" name="Text 44"/>
          <p:cNvSpPr/>
          <p:nvPr/>
        </p:nvSpPr>
        <p:spPr>
          <a:xfrm>
            <a:off x="6155457" y="2138549"/>
            <a:ext cx="2395612" cy="50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Electron and positron are modelled as topological vortices; the Aharonov–Bohm phase encodes their coupling to the background.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457200" y="4196953"/>
            <a:ext cx="8229600" cy="546497"/>
          </a:xfrm>
          <a:prstGeom prst="roundRect">
            <a:avLst>
              <a:gd name="adj" fmla="val 20915"/>
            </a:avLst>
          </a:prstGeom>
          <a:solidFill>
            <a:srgbClr val="10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607219" y="4304109"/>
            <a:ext cx="7943850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AB-cloud is a quantum space where </a:t>
            </a:r>
            <a:pPr algn="l" indent="0" marL="0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FFB7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vortices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play the role of elementary particles, </a:t>
            </a:r>
            <a:pPr algn="l" indent="0" marL="0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FFB7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ζ(s) zeros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are allowed energy states, and the </a:t>
            </a:r>
            <a:pPr algn="l" indent="0" marL="0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FFB7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Riemann Hypothesis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is the condition of GUE-universality.</a:t>
            </a:r>
            <a:endParaRPr lang="en-US" sz="844" dirty="0"/>
          </a:p>
        </p:txBody>
      </p:sp>
      <p:sp>
        <p:nvSpPr>
          <p:cNvPr id="50" name="Text 47"/>
          <p:cNvSpPr/>
          <p:nvPr/>
        </p:nvSpPr>
        <p:spPr>
          <a:xfrm>
            <a:off x="0" y="4872038"/>
            <a:ext cx="9144000" cy="271463"/>
          </a:xfrm>
          <a:prstGeom prst="rect">
            <a:avLst/>
          </a:prstGeom>
          <a:solidFill>
            <a:srgbClr val="09111E">
              <a:alpha val="7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457200" y="4961334"/>
            <a:ext cx="773400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AB-Cloud </a:t>
            </a:r>
            <a:pPr algn="l" indent="0" marL="0">
              <a:buNone/>
            </a:pPr>
            <a:r>
              <a:rPr lang="en-US" sz="800" spc="68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Monograph v21 </a:t>
            </a:r>
            <a:pPr algn="l" indent="0" marL="0">
              <a:buNone/>
            </a:pPr>
            <a:r>
              <a:rPr lang="en-US" sz="800" spc="68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Author Edition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8205490" y="4961334"/>
            <a:ext cx="48131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90134" y="3075384"/>
            <a:ext cx="3707606" cy="3707606"/>
          </a:xfrm>
          <a:prstGeom prst="ellipse">
            <a:avLst/>
          </a:prstGeom>
          <a:noFill/>
          <a:ln w="7144">
            <a:solidFill>
              <a:srgbClr val="4FC3F7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060190" y="3936206"/>
            <a:ext cx="4083810" cy="902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81"/>
              </a:lnSpc>
              <a:buNone/>
            </a:pPr>
            <a:r>
              <a:rPr lang="en-US" sz="7313" b="1" spc="-146" kern="0" dirty="0">
                <a:solidFill>
                  <a:srgbClr val="4FC3F7">
                    <a:alpha val="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exp(iφ)</a:t>
            </a:r>
            <a:endParaRPr lang="en-US" sz="7313" dirty="0"/>
          </a:p>
        </p:txBody>
      </p:sp>
      <p:sp>
        <p:nvSpPr>
          <p:cNvPr id="5" name="Shape 2"/>
          <p:cNvSpPr/>
          <p:nvPr/>
        </p:nvSpPr>
        <p:spPr>
          <a:xfrm>
            <a:off x="457200" y="1135410"/>
            <a:ext cx="4508488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962116" y="1131838"/>
            <a:ext cx="0" cy="361876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490142"/>
            <a:ext cx="4508488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67916" y="1131838"/>
            <a:ext cx="0" cy="361876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2760278"/>
            <a:ext cx="4508488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62116" y="2756706"/>
            <a:ext cx="0" cy="361876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3115010"/>
            <a:ext cx="4508488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7916" y="2756706"/>
            <a:ext cx="0" cy="361876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4385146"/>
            <a:ext cx="4508488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62116" y="4381574"/>
            <a:ext cx="0" cy="361876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4739878"/>
            <a:ext cx="4508488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7916" y="4381574"/>
            <a:ext cx="0" cy="361876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75609"/>
            <a:ext cx="91440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357188"/>
            <a:ext cx="863600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9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57200" y="535781"/>
            <a:ext cx="8636000" cy="304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9"/>
              </a:lnSpc>
              <a:buNone/>
            </a:pPr>
            <a:r>
              <a:rPr lang="en-US" sz="1913" b="1" spc="-23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object of study: the </a:t>
            </a:r>
            <a:pPr algn="l" indent="0" marL="0">
              <a:lnSpc>
                <a:spcPts val="2219"/>
              </a:lnSpc>
              <a:buNone/>
            </a:pPr>
            <a:r>
              <a:rPr lang="en-US" sz="1913" b="1" spc="-23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AB-cloud</a:t>
            </a:r>
            <a:endParaRPr lang="en-US" sz="1913" dirty="0"/>
          </a:p>
        </p:txBody>
      </p:sp>
      <p:sp>
        <p:nvSpPr>
          <p:cNvPr id="20" name="Text 17"/>
          <p:cNvSpPr/>
          <p:nvPr/>
        </p:nvSpPr>
        <p:spPr>
          <a:xfrm>
            <a:off x="457200" y="974675"/>
            <a:ext cx="54842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HOFSTADTER HAMILTONIAN WITH VORTICES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57200" y="1131838"/>
            <a:ext cx="4508488" cy="361876"/>
          </a:xfrm>
          <a:prstGeom prst="roundRect">
            <a:avLst>
              <a:gd name="adj" fmla="val 21057"/>
            </a:avLst>
          </a:prstGeom>
          <a:solidFill>
            <a:srgbClr val="0E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57200" y="1131838"/>
            <a:ext cx="4508488" cy="390826"/>
          </a:xfrm>
          <a:prstGeom prst="rect">
            <a:avLst/>
          </a:prstGeom>
          <a:noFill/>
          <a:ln/>
        </p:spPr>
        <p:txBody>
          <a:bodyPr wrap="square" lIns="107156" tIns="85725" rIns="107156" bIns="85725" rtlCol="0" anchor="t"/>
          <a:lstStyle/>
          <a:p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algn="l" indent="0" marL="0">
              <a:lnSpc>
                <a:spcPts val="1346"/>
              </a:lnSpc>
              <a:buNone/>
            </a:pPr>
            <a:r>
              <a:rPr lang="en-US" sz="800" baseline="-40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i,j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−exp(iφ</a:t>
            </a:r>
            <a:pPr algn="l" indent="0" marL="0">
              <a:lnSpc>
                <a:spcPts val="1346"/>
              </a:lnSpc>
              <a:buNone/>
            </a:pPr>
            <a:r>
              <a:rPr lang="en-US" sz="800" baseline="-40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ij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9DB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</a:t>
            </a:r>
            <a:pPr algn="l" indent="0" marL="0">
              <a:lnSpc>
                <a:spcPts val="1346"/>
              </a:lnSpc>
              <a:buNone/>
            </a:pPr>
            <a:r>
              <a:rPr lang="en-US" sz="800" baseline="-40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V</a:t>
            </a:r>
            <a:pPr algn="l" indent="0" marL="0">
              <a:lnSpc>
                <a:spcPts val="1346"/>
              </a:lnSpc>
              <a:buNone/>
            </a:pPr>
            <a:r>
              <a:rPr lang="en-US" sz="800" baseline="-40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+ 4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457200" y="2599544"/>
            <a:ext cx="546710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 PHASES — FLUX + VORTICES + ZETA ZEROS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57200" y="2756706"/>
            <a:ext cx="4508488" cy="361876"/>
          </a:xfrm>
          <a:prstGeom prst="roundRect">
            <a:avLst>
              <a:gd name="adj" fmla="val 21057"/>
            </a:avLst>
          </a:prstGeom>
          <a:solidFill>
            <a:srgbClr val="0E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57200" y="2756706"/>
            <a:ext cx="4508488" cy="390826"/>
          </a:xfrm>
          <a:prstGeom prst="rect">
            <a:avLst/>
          </a:prstGeom>
          <a:noFill/>
          <a:ln/>
        </p:spPr>
        <p:txBody>
          <a:bodyPr wrap="square" lIns="107156" tIns="85725" rIns="107156" bIns="85725" rtlCol="0" anchor="t"/>
          <a:lstStyle/>
          <a:p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φ</a:t>
            </a:r>
            <a:pPr algn="l" indent="0" marL="0">
              <a:lnSpc>
                <a:spcPts val="1346"/>
              </a:lnSpc>
              <a:buNone/>
            </a:pPr>
            <a:r>
              <a:rPr lang="en-US" sz="800" baseline="-40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ij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2πα(ix</a:t>
            </a:r>
            <a:pPr algn="l" indent="0" marL="0">
              <a:lnSpc>
                <a:spcPts val="1346"/>
              </a:lnSpc>
              <a:buNone/>
            </a:pPr>
            <a:r>
              <a:rPr lang="en-US" sz="800" baseline="-40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−1)·δ</a:t>
            </a:r>
            <a:pPr algn="l" indent="0" marL="0">
              <a:lnSpc>
                <a:spcPts val="1346"/>
              </a:lnSpc>
              <a:buNone/>
            </a:pPr>
            <a:r>
              <a:rPr lang="en-US" sz="800" baseline="-40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Σ</a:t>
            </a:r>
            <a:pPr algn="l" indent="0" marL="0">
              <a:lnSpc>
                <a:spcPts val="1346"/>
              </a:lnSpc>
              <a:buNone/>
            </a:pPr>
            <a:r>
              <a:rPr lang="en-US" sz="800" baseline="-40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</a:t>
            </a:r>
            <a:pPr algn="l" indent="0" marL="0">
              <a:lnSpc>
                <a:spcPts val="1346"/>
              </a:lnSpc>
              <a:buNone/>
            </a:pPr>
            <a:r>
              <a:rPr lang="en-US" sz="800" baseline="-40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·[r</a:t>
            </a:r>
            <a:pPr algn="l" indent="0" marL="0">
              <a:lnSpc>
                <a:spcPts val="1346"/>
              </a:lnSpc>
              <a:buNone/>
            </a:pPr>
            <a:r>
              <a:rPr lang="en-US" sz="800" baseline="-40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×r</a:t>
            </a:r>
            <a:pPr algn="l" indent="0" marL="0">
              <a:lnSpc>
                <a:spcPts val="1346"/>
              </a:lnSpc>
              <a:buNone/>
            </a:pPr>
            <a:r>
              <a:rPr lang="en-US" sz="800" baseline="-40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− r</a:t>
            </a:r>
            <a:pPr algn="l" indent="0" marL="0">
              <a:lnSpc>
                <a:spcPts val="1346"/>
              </a:lnSpc>
              <a:buNone/>
            </a:pPr>
            <a:r>
              <a:rPr lang="en-US" sz="800" baseline="-40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×r</a:t>
            </a:r>
            <a:pPr algn="l" indent="0" marL="0">
              <a:lnSpc>
                <a:spcPts val="1346"/>
              </a:lnSpc>
              <a:buNone/>
            </a:pPr>
            <a:r>
              <a:rPr lang="en-US" sz="800" baseline="-40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]·2π</a:t>
            </a:r>
            <a:endParaRPr lang="en-US" sz="816" dirty="0"/>
          </a:p>
        </p:txBody>
      </p:sp>
      <p:sp>
        <p:nvSpPr>
          <p:cNvPr id="26" name="Text 23"/>
          <p:cNvSpPr/>
          <p:nvPr/>
        </p:nvSpPr>
        <p:spPr>
          <a:xfrm>
            <a:off x="457200" y="4224412"/>
            <a:ext cx="5552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ON-SITE POTENTIAL — VORTEX WELLS + DISORDER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57200" y="4381574"/>
            <a:ext cx="4508488" cy="361876"/>
          </a:xfrm>
          <a:prstGeom prst="roundRect">
            <a:avLst>
              <a:gd name="adj" fmla="val 21057"/>
            </a:avLst>
          </a:prstGeom>
          <a:solidFill>
            <a:srgbClr val="0E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57200" y="4381574"/>
            <a:ext cx="4508488" cy="390826"/>
          </a:xfrm>
          <a:prstGeom prst="rect">
            <a:avLst/>
          </a:prstGeom>
          <a:noFill/>
          <a:ln/>
        </p:spPr>
        <p:txBody>
          <a:bodyPr wrap="square" lIns="107156" tIns="85725" rIns="107156" bIns="85725" rtlCol="0" anchor="t"/>
          <a:lstStyle/>
          <a:p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algn="l" indent="0" marL="0">
              <a:lnSpc>
                <a:spcPts val="1346"/>
              </a:lnSpc>
              <a:buNone/>
            </a:pPr>
            <a:r>
              <a:rPr lang="en-US" sz="800" baseline="-40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Σ</a:t>
            </a:r>
            <a:pPr algn="l" indent="0" marL="0">
              <a:lnSpc>
                <a:spcPts val="1346"/>
              </a:lnSpc>
              <a:buNone/>
            </a:pPr>
            <a:r>
              <a:rPr lang="en-US" sz="800" baseline="-40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</a:t>
            </a:r>
            <a:pPr algn="l" indent="0" marL="0">
              <a:lnSpc>
                <a:spcPts val="1346"/>
              </a:lnSpc>
              <a:buNone/>
            </a:pPr>
            <a:r>
              <a:rPr lang="en-US" sz="800" baseline="-40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·W/(|r</a:t>
            </a:r>
            <a:pPr algn="l" indent="0" marL="0">
              <a:lnSpc>
                <a:spcPts val="1346"/>
              </a:lnSpc>
              <a:buNone/>
            </a:pPr>
            <a:r>
              <a:rPr lang="en-US" sz="800" baseline="-40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−r</a:t>
            </a:r>
            <a:pPr algn="l" indent="0" marL="0">
              <a:lnSpc>
                <a:spcPts val="1346"/>
              </a:lnSpc>
              <a:buNone/>
            </a:pPr>
            <a:r>
              <a:rPr lang="en-US" sz="800" baseline="-40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|²·N+1) 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ε</a:t>
            </a:r>
            <a:pPr algn="l" indent="0" marL="0">
              <a:lnSpc>
                <a:spcPts val="1346"/>
              </a:lnSpc>
              <a:buNone/>
            </a:pPr>
            <a:r>
              <a:rPr lang="en-US" sz="800" baseline="-40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816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988" y="974675"/>
            <a:ext cx="3606812" cy="2525762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083559" y="978247"/>
            <a:ext cx="3599669" cy="2518618"/>
          </a:xfrm>
          <a:prstGeom prst="roundRect">
            <a:avLst>
              <a:gd name="adj" fmla="val 4538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5215719" y="1096119"/>
            <a:ext cx="333535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THE MODEL ENCODES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5215719" y="1253282"/>
            <a:ext cx="3335350" cy="870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60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Lattice with 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π/2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flux per plaquette (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 = 1/2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— the Hofstadter substrate</a:t>
            </a:r>
            <a:endParaRPr lang="en-US" sz="816" dirty="0"/>
          </a:p>
          <a:p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60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Topological vortices of charge 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threaded through the lattice</a:t>
            </a:r>
            <a:endParaRPr lang="en-US" sz="816" dirty="0"/>
          </a:p>
          <a:p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60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Hopping phases 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φ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00" baseline="-40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ij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derived from zeta zeros</a:t>
            </a:r>
            <a:endParaRPr lang="en-US" sz="816" dirty="0"/>
          </a:p>
        </p:txBody>
      </p:sp>
      <p:sp>
        <p:nvSpPr>
          <p:cNvPr id="33" name="Text 29"/>
          <p:cNvSpPr/>
          <p:nvPr/>
        </p:nvSpPr>
        <p:spPr>
          <a:xfrm>
            <a:off x="5083559" y="3618309"/>
            <a:ext cx="3599669" cy="1121569"/>
          </a:xfrm>
          <a:prstGeom prst="roundRect">
            <a:avLst>
              <a:gd name="adj" fmla="val 10191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5215719" y="3736181"/>
            <a:ext cx="333535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FFB7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CONTROL PARAMETERS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5215719" y="3881342"/>
            <a:ext cx="471488" cy="224028"/>
          </a:xfrm>
          <a:prstGeom prst="roundRect">
            <a:avLst>
              <a:gd name="adj" fmla="val 4247449"/>
            </a:avLst>
          </a:prstGeom>
          <a:solidFill>
            <a:srgbClr val="4FC3F7">
              <a:alpha val="7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5215719" y="3893344"/>
            <a:ext cx="47148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5772931" y="3923705"/>
            <a:ext cx="27781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size of the system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5215719" y="4145661"/>
            <a:ext cx="471488" cy="224028"/>
          </a:xfrm>
          <a:prstGeom prst="roundRect">
            <a:avLst>
              <a:gd name="adj" fmla="val 4247449"/>
            </a:avLst>
          </a:prstGeom>
          <a:solidFill>
            <a:srgbClr val="4FC3F7">
              <a:alpha val="7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5215719" y="4157663"/>
            <a:ext cx="5143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ctr" indent="0" marL="0">
              <a:buNone/>
            </a:pPr>
            <a:r>
              <a:rPr lang="en-US" sz="800" baseline="-40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5772931" y="4188023"/>
            <a:ext cx="27781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number of vortices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5215719" y="4409980"/>
            <a:ext cx="471488" cy="224028"/>
          </a:xfrm>
          <a:prstGeom prst="roundRect">
            <a:avLst>
              <a:gd name="adj" fmla="val 4247449"/>
            </a:avLst>
          </a:prstGeom>
          <a:solidFill>
            <a:srgbClr val="4FC3F7">
              <a:alpha val="7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8"/>
          <p:cNvSpPr/>
          <p:nvPr/>
        </p:nvSpPr>
        <p:spPr>
          <a:xfrm>
            <a:off x="5215719" y="4421981"/>
            <a:ext cx="47148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5772931" y="4452342"/>
            <a:ext cx="27781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disorder strength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0" y="4872038"/>
            <a:ext cx="9144000" cy="271463"/>
          </a:xfrm>
          <a:prstGeom prst="rect">
            <a:avLst/>
          </a:prstGeom>
          <a:solidFill>
            <a:srgbClr val="09111E">
              <a:alpha val="7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457200" y="4961334"/>
            <a:ext cx="773400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AB-Cloud </a:t>
            </a:r>
            <a:pPr algn="l" indent="0" marL="0">
              <a:buNone/>
            </a:pPr>
            <a:r>
              <a:rPr lang="en-US" sz="800" spc="68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Monograph v21 </a:t>
            </a:r>
            <a:pPr algn="l" indent="0" marL="0">
              <a:buNone/>
            </a:pPr>
            <a:r>
              <a:rPr lang="en-US" sz="800" spc="68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Author Edition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8205490" y="4961334"/>
            <a:ext cx="48131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29104" y="3228975"/>
            <a:ext cx="1314896" cy="1527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38"/>
              </a:lnSpc>
              <a:buNone/>
            </a:pPr>
            <a:r>
              <a:rPr lang="en-US" sz="12375" b="1" spc="-247" kern="0" dirty="0">
                <a:solidFill>
                  <a:srgbClr val="4FC3F7">
                    <a:alpha val="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</a:t>
            </a:r>
            <a:endParaRPr lang="en-US" sz="12375" dirty="0"/>
          </a:p>
        </p:txBody>
      </p:sp>
      <p:sp>
        <p:nvSpPr>
          <p:cNvPr id="4" name="Shape 1"/>
          <p:cNvSpPr/>
          <p:nvPr/>
        </p:nvSpPr>
        <p:spPr>
          <a:xfrm>
            <a:off x="457200" y="2378422"/>
            <a:ext cx="405765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11278" y="2374850"/>
            <a:ext cx="0" cy="1126815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3498093"/>
            <a:ext cx="405765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7916" y="2374850"/>
            <a:ext cx="0" cy="1126815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629150" y="2378422"/>
            <a:ext cx="405765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3228" y="2374850"/>
            <a:ext cx="0" cy="1126815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29150" y="3498093"/>
            <a:ext cx="405765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39866" y="2374850"/>
            <a:ext cx="0" cy="1126815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3619537"/>
            <a:ext cx="405765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11278" y="3615965"/>
            <a:ext cx="0" cy="1127485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4739878"/>
            <a:ext cx="405765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7916" y="3615965"/>
            <a:ext cx="0" cy="1127485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9150" y="3619537"/>
            <a:ext cx="405765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3228" y="3615965"/>
            <a:ext cx="0" cy="1127485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29150" y="4739878"/>
            <a:ext cx="405765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39866" y="3615965"/>
            <a:ext cx="0" cy="1127485"/>
          </a:xfrm>
          <a:prstGeom prst="line">
            <a:avLst/>
          </a:prstGeom>
          <a:noFill/>
          <a:ln w="21431">
            <a:solidFill>
              <a:srgbClr val="FFB74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0" y="4875609"/>
            <a:ext cx="91440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357188"/>
            <a:ext cx="863600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9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METHOD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57200" y="535781"/>
            <a:ext cx="8636000" cy="304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9"/>
              </a:lnSpc>
              <a:buNone/>
            </a:pPr>
            <a:r>
              <a:rPr lang="en-US" sz="1913" b="1" spc="-23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Mathematical apparatus: </a:t>
            </a:r>
            <a:pPr algn="l" indent="0" marL="0">
              <a:lnSpc>
                <a:spcPts val="2219"/>
              </a:lnSpc>
              <a:buNone/>
            </a:pPr>
            <a:r>
              <a:rPr lang="en-US" sz="1913" b="1" spc="-23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RMT ensembles</a:t>
            </a:r>
            <a:endParaRPr lang="en-US" sz="1913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74675"/>
          <a:ext cx="8229600" cy="914400"/>
        </p:xfrm>
        <a:graphic>
          <a:graphicData uri="http://schemas.openxmlformats.org/drawingml/2006/table">
            <a:tbl>
              <a:tblPr/>
              <a:tblGrid>
                <a:gridCol w="928688"/>
                <a:gridCol w="500063"/>
                <a:gridCol w="1928813"/>
                <a:gridCol w="486489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DB2C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Ensemble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DB2C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β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DB2C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Time-reversal symmetry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DB2C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Matrix type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4FC3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GOE</a:t>
                      </a:r>
                      <a:endParaRPr lang="en-US" sz="816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816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E8EE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T-invariant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9DB2C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real symmetric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4FC3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GUE</a:t>
                      </a:r>
                      <a:endParaRPr lang="en-US" sz="816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FFB7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816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FFB74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T-violating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FFB74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complex Hermitian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4FC3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GSE</a:t>
                      </a:r>
                      <a:endParaRPr lang="en-US" sz="816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816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T² = −1</a:t>
                      </a:r>
                      <a:endParaRPr lang="en-US" sz="816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9DB2C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quaternionic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Poisson</a:t>
                      </a:r>
                      <a:endParaRPr lang="en-US" sz="816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816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9DB2C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—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9DB2C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localization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457200" y="2374850"/>
            <a:ext cx="4057650" cy="1126815"/>
          </a:xfrm>
          <a:prstGeom prst="roundRect">
            <a:avLst>
              <a:gd name="adj" fmla="val 6762"/>
            </a:avLst>
          </a:prstGeom>
          <a:solidFill>
            <a:srgbClr val="0E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585788" y="2667521"/>
            <a:ext cx="1932050" cy="123444"/>
          </a:xfrm>
          <a:prstGeom prst="rect">
            <a:avLst/>
          </a:prstGeom>
          <a:noFill/>
          <a:ln/>
        </p:spPr>
        <p:txBody>
          <a:bodyPr wrap="square" lIns="107156" tIns="85725" rIns="107156" bIns="85725" rtlCol="0" anchor="t"/>
          <a:lstStyle/>
          <a:p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 (s) = (32/π²)·s²·exp(−4s²/π)</a:t>
            </a:r>
            <a:endParaRPr lang="en-US" sz="816" dirty="0"/>
          </a:p>
        </p:txBody>
      </p:sp>
      <p:sp>
        <p:nvSpPr>
          <p:cNvPr id="26" name="Text 22"/>
          <p:cNvSpPr/>
          <p:nvPr/>
        </p:nvSpPr>
        <p:spPr>
          <a:xfrm>
            <a:off x="585788" y="2467719"/>
            <a:ext cx="3814763" cy="18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7"/>
              </a:lnSpc>
              <a:buNone/>
            </a:pPr>
            <a:r>
              <a:rPr lang="en-US" sz="800" spc="116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WIGNER SURMISE · GUE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4629150" y="2374850"/>
            <a:ext cx="4057650" cy="1126815"/>
          </a:xfrm>
          <a:prstGeom prst="roundRect">
            <a:avLst>
              <a:gd name="adj" fmla="val 6762"/>
            </a:avLst>
          </a:prstGeom>
          <a:solidFill>
            <a:srgbClr val="0E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4757738" y="2667521"/>
            <a:ext cx="1742740" cy="123444"/>
          </a:xfrm>
          <a:prstGeom prst="rect">
            <a:avLst/>
          </a:prstGeom>
          <a:noFill/>
          <a:ln/>
        </p:spPr>
        <p:txBody>
          <a:bodyPr wrap="none" lIns="107156" tIns="85725" rIns="107156" bIns="85725" rtlCol="0" anchor="t"/>
          <a:lstStyle/>
          <a:p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min(s ,s )/max(s ,s )</a:t>
            </a:r>
            <a:endParaRPr lang="en-US" sz="816" dirty="0"/>
          </a:p>
        </p:txBody>
      </p:sp>
      <p:sp>
        <p:nvSpPr>
          <p:cNvPr id="29" name="Text 25"/>
          <p:cNvSpPr/>
          <p:nvPr/>
        </p:nvSpPr>
        <p:spPr>
          <a:xfrm>
            <a:off x="4757738" y="2467719"/>
            <a:ext cx="3814763" cy="18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7"/>
              </a:lnSpc>
              <a:buNone/>
            </a:pPr>
            <a:r>
              <a:rPr lang="en-US" sz="800" spc="116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ADJACENT-GAP RATIO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500478" y="2667521"/>
            <a:ext cx="102196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⟨r⟩</a:t>
            </a:r>
            <a:pPr algn="l" indent="0" marL="0">
              <a:lnSpc>
                <a:spcPts val="1346"/>
              </a:lnSpc>
              <a:buNone/>
            </a:pPr>
            <a:r>
              <a:rPr lang="en-US" sz="800" baseline="-400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= 0.5996</a:t>
            </a:r>
            <a:endParaRPr lang="en-US" sz="816" dirty="0"/>
          </a:p>
        </p:txBody>
      </p:sp>
      <p:sp>
        <p:nvSpPr>
          <p:cNvPr id="31" name="Text 27"/>
          <p:cNvSpPr/>
          <p:nvPr/>
        </p:nvSpPr>
        <p:spPr>
          <a:xfrm>
            <a:off x="457200" y="3615965"/>
            <a:ext cx="4057650" cy="1127485"/>
          </a:xfrm>
          <a:prstGeom prst="roundRect">
            <a:avLst>
              <a:gd name="adj" fmla="val 6758"/>
            </a:avLst>
          </a:prstGeom>
          <a:solidFill>
            <a:srgbClr val="0E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585788" y="3914552"/>
            <a:ext cx="1807369" cy="123444"/>
          </a:xfrm>
          <a:prstGeom prst="rect">
            <a:avLst/>
          </a:prstGeom>
          <a:noFill/>
          <a:ln/>
        </p:spPr>
        <p:txBody>
          <a:bodyPr wrap="square" lIns="107156" tIns="85725" rIns="107156" bIns="85725" rtlCol="0" anchor="t"/>
          <a:lstStyle/>
          <a:p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R₂ (s) = 1 − [sin(πs)/(πs)]²</a:t>
            </a:r>
            <a:endParaRPr lang="en-US" sz="816" dirty="0"/>
          </a:p>
        </p:txBody>
      </p:sp>
      <p:sp>
        <p:nvSpPr>
          <p:cNvPr id="33" name="Text 29"/>
          <p:cNvSpPr/>
          <p:nvPr/>
        </p:nvSpPr>
        <p:spPr>
          <a:xfrm>
            <a:off x="585788" y="3708834"/>
            <a:ext cx="3924491" cy="165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7"/>
              </a:lnSpc>
              <a:buNone/>
            </a:pPr>
            <a:r>
              <a:rPr lang="en-US" sz="800" spc="116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TWO-LEVEL CORRELATION · GUE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4629150" y="3615965"/>
            <a:ext cx="4057650" cy="1127485"/>
          </a:xfrm>
          <a:prstGeom prst="roundRect">
            <a:avLst>
              <a:gd name="adj" fmla="val 6758"/>
            </a:avLst>
          </a:prstGeom>
          <a:solidFill>
            <a:srgbClr val="0E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4757738" y="3908636"/>
            <a:ext cx="1434554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Σ²(L) Δ₃(L) KS test</a:t>
            </a:r>
            <a:endParaRPr lang="en-US" sz="816" dirty="0"/>
          </a:p>
        </p:txBody>
      </p:sp>
      <p:sp>
        <p:nvSpPr>
          <p:cNvPr id="36" name="Text 32"/>
          <p:cNvSpPr/>
          <p:nvPr/>
        </p:nvSpPr>
        <p:spPr>
          <a:xfrm>
            <a:off x="4757738" y="3708834"/>
            <a:ext cx="3924490" cy="172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7"/>
              </a:lnSpc>
              <a:buNone/>
            </a:pPr>
            <a:r>
              <a:rPr lang="en-US" sz="800" spc="116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DIAGNOSTICS USED THROUGHOUT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5132003" y="3908636"/>
            <a:ext cx="98586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9DB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16" dirty="0"/>
          </a:p>
        </p:txBody>
      </p:sp>
      <p:sp>
        <p:nvSpPr>
          <p:cNvPr id="38" name="Text 34"/>
          <p:cNvSpPr/>
          <p:nvPr/>
        </p:nvSpPr>
        <p:spPr>
          <a:xfrm>
            <a:off x="5630949" y="3908636"/>
            <a:ext cx="98586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9DB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16" dirty="0"/>
          </a:p>
        </p:txBody>
      </p:sp>
      <p:sp>
        <p:nvSpPr>
          <p:cNvPr id="39" name="Text 35"/>
          <p:cNvSpPr/>
          <p:nvPr/>
        </p:nvSpPr>
        <p:spPr>
          <a:xfrm>
            <a:off x="0" y="4872038"/>
            <a:ext cx="9144000" cy="271463"/>
          </a:xfrm>
          <a:prstGeom prst="rect">
            <a:avLst/>
          </a:prstGeom>
          <a:solidFill>
            <a:srgbClr val="09111E">
              <a:alpha val="7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457200" y="4961334"/>
            <a:ext cx="773400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AB-Cloud </a:t>
            </a:r>
            <a:pPr algn="l" indent="0" marL="0">
              <a:buNone/>
            </a:pPr>
            <a:r>
              <a:rPr lang="en-US" sz="800" spc="68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Monograph v21 </a:t>
            </a:r>
            <a:pPr algn="l" indent="0" marL="0">
              <a:buNone/>
            </a:pPr>
            <a:r>
              <a:rPr lang="en-US" sz="800" spc="68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Author Edition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8205490" y="4961334"/>
            <a:ext cx="48131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83686" y="714375"/>
            <a:ext cx="1260314" cy="1388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25"/>
              </a:lnSpc>
              <a:buNone/>
            </a:pPr>
            <a:r>
              <a:rPr lang="en-US" sz="11250" b="1" spc="-225" kern="0" dirty="0">
                <a:solidFill>
                  <a:srgbClr val="4FC3F7">
                    <a:alpha val="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</a:t>
            </a:r>
            <a:endParaRPr lang="en-US" sz="11250" dirty="0"/>
          </a:p>
        </p:txBody>
      </p:sp>
      <p:sp>
        <p:nvSpPr>
          <p:cNvPr id="4" name="Shape 1"/>
          <p:cNvSpPr/>
          <p:nvPr/>
        </p:nvSpPr>
        <p:spPr>
          <a:xfrm>
            <a:off x="592931" y="1256854"/>
            <a:ext cx="4050395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639754" y="1253282"/>
            <a:ext cx="0" cy="374266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2931" y="1623975"/>
            <a:ext cx="4050395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3647" y="1253282"/>
            <a:ext cx="0" cy="374266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088" y="3879056"/>
            <a:ext cx="352198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4332684"/>
            <a:ext cx="82296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3228" y="4329113"/>
            <a:ext cx="0" cy="414338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4739878"/>
            <a:ext cx="82296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7916" y="4329113"/>
            <a:ext cx="0" cy="414338"/>
          </a:xfrm>
          <a:prstGeom prst="line">
            <a:avLst/>
          </a:prstGeom>
          <a:noFill/>
          <a:ln w="21431">
            <a:solidFill>
              <a:srgbClr val="FFB74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4875609"/>
            <a:ext cx="91440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357188"/>
            <a:ext cx="863600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9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RESULTS · BLOCK 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7200" y="535781"/>
            <a:ext cx="8636000" cy="304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9"/>
              </a:lnSpc>
              <a:buNone/>
            </a:pPr>
            <a:r>
              <a:rPr lang="en-US" sz="1913" b="1" spc="-23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Klein quartic and </a:t>
            </a:r>
            <a:pPr algn="l" indent="0" marL="0">
              <a:lnSpc>
                <a:spcPts val="2219"/>
              </a:lnSpc>
              <a:buNone/>
            </a:pPr>
            <a:r>
              <a:rPr lang="en-US" sz="1913" b="1" spc="-23" kern="0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64 spinor structures</a:t>
            </a:r>
            <a:endParaRPr lang="en-US" sz="1913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74675"/>
            <a:ext cx="4321857" cy="324013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0772" y="978247"/>
            <a:ext cx="4314713" cy="3232993"/>
          </a:xfrm>
          <a:prstGeom prst="roundRect">
            <a:avLst>
              <a:gd name="adj" fmla="val 3535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592931" y="1096119"/>
            <a:ext cx="4050395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KLEIN QUARTIC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592931" y="1253282"/>
            <a:ext cx="4050395" cy="374266"/>
          </a:xfrm>
          <a:prstGeom prst="roundRect">
            <a:avLst>
              <a:gd name="adj" fmla="val 20360"/>
            </a:avLst>
          </a:prstGeom>
          <a:solidFill>
            <a:srgbClr val="0E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592931" y="1253282"/>
            <a:ext cx="4050395" cy="404207"/>
          </a:xfrm>
          <a:prstGeom prst="rect">
            <a:avLst/>
          </a:prstGeom>
          <a:noFill/>
          <a:ln/>
        </p:spPr>
        <p:txBody>
          <a:bodyPr wrap="none" lIns="107156" tIns="85725" rIns="107156" bIns="85725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0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x³y + y³z + z³x = 0 </a:t>
            </a:r>
            <a:pPr algn="l" indent="0" marL="0">
              <a:lnSpc>
                <a:spcPts val="1485"/>
              </a:lnSpc>
              <a:buNone/>
            </a:pPr>
            <a:r>
              <a:rPr lang="en-US" sz="900" dirty="0">
                <a:solidFill>
                  <a:srgbClr val="9DB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∈</a:t>
            </a:r>
            <a:pPr algn="l" indent="0" marL="0">
              <a:lnSpc>
                <a:spcPts val="1485"/>
              </a:lnSpc>
              <a:buNone/>
            </a:pPr>
            <a:r>
              <a:rPr lang="en-US" sz="9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CP²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92931" y="1727560"/>
            <a:ext cx="4050395" cy="694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60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Symmetry group 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PSL(2,7)</a:t>
            </a:r>
            <a:endParaRPr lang="en-US" sz="816" dirty="0"/>
          </a:p>
          <a:p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60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56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-vertex Klein graph, degree 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 = 3</a:t>
            </a:r>
            <a:endParaRPr lang="en-US" sz="816" dirty="0"/>
          </a:p>
          <a:p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60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64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inequivalent spinor structures θ on the quartic</a:t>
            </a:r>
            <a:endParaRPr lang="en-US" sz="816" dirty="0"/>
          </a:p>
        </p:txBody>
      </p:sp>
      <p:sp>
        <p:nvSpPr>
          <p:cNvPr id="22" name="Text 18"/>
          <p:cNvSpPr/>
          <p:nvPr/>
        </p:nvSpPr>
        <p:spPr>
          <a:xfrm>
            <a:off x="4896929" y="978247"/>
            <a:ext cx="3786299" cy="3232993"/>
          </a:xfrm>
          <a:prstGeom prst="roundRect">
            <a:avLst>
              <a:gd name="adj" fmla="val 3535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5029088" y="1096119"/>
            <a:ext cx="36317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FFB7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64 SPINOR STRUCTURES — ONLY ONE PASSES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032660" y="1950021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5182679" y="1950021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5332698" y="1950021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5482717" y="1950021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5632735" y="1950021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5782754" y="1950021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5932773" y="1950021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6082792" y="1950021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5032660" y="2100039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5182679" y="2100039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5332698" y="2100039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5482717" y="2100039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5632735" y="2100039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5782754" y="2100039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5932773" y="2100039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6082792" y="2100039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5032660" y="2250058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5182679" y="2250058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8"/>
          <p:cNvSpPr/>
          <p:nvPr/>
        </p:nvSpPr>
        <p:spPr>
          <a:xfrm>
            <a:off x="5332698" y="2250058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5482717" y="2250058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0"/>
          <p:cNvSpPr/>
          <p:nvPr/>
        </p:nvSpPr>
        <p:spPr>
          <a:xfrm>
            <a:off x="5632735" y="2250058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5782754" y="2250058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2"/>
          <p:cNvSpPr/>
          <p:nvPr/>
        </p:nvSpPr>
        <p:spPr>
          <a:xfrm>
            <a:off x="5932773" y="2250058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3"/>
          <p:cNvSpPr/>
          <p:nvPr/>
        </p:nvSpPr>
        <p:spPr>
          <a:xfrm>
            <a:off x="6082792" y="2250058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4"/>
          <p:cNvSpPr/>
          <p:nvPr/>
        </p:nvSpPr>
        <p:spPr>
          <a:xfrm>
            <a:off x="5032660" y="2400077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5"/>
          <p:cNvSpPr/>
          <p:nvPr/>
        </p:nvSpPr>
        <p:spPr>
          <a:xfrm>
            <a:off x="5182679" y="2400077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6"/>
          <p:cNvSpPr/>
          <p:nvPr/>
        </p:nvSpPr>
        <p:spPr>
          <a:xfrm>
            <a:off x="5332698" y="2400077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7"/>
          <p:cNvSpPr/>
          <p:nvPr/>
        </p:nvSpPr>
        <p:spPr>
          <a:xfrm>
            <a:off x="5482717" y="2400077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5632735" y="2400077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9"/>
          <p:cNvSpPr/>
          <p:nvPr/>
        </p:nvSpPr>
        <p:spPr>
          <a:xfrm>
            <a:off x="5782754" y="2400077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0"/>
          <p:cNvSpPr/>
          <p:nvPr/>
        </p:nvSpPr>
        <p:spPr>
          <a:xfrm>
            <a:off x="5932773" y="2400077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6082792" y="2400077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2"/>
          <p:cNvSpPr/>
          <p:nvPr/>
        </p:nvSpPr>
        <p:spPr>
          <a:xfrm>
            <a:off x="5032660" y="2550096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3"/>
          <p:cNvSpPr/>
          <p:nvPr/>
        </p:nvSpPr>
        <p:spPr>
          <a:xfrm>
            <a:off x="5182679" y="2550096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4"/>
          <p:cNvSpPr/>
          <p:nvPr/>
        </p:nvSpPr>
        <p:spPr>
          <a:xfrm>
            <a:off x="5332698" y="2550096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5"/>
          <p:cNvSpPr/>
          <p:nvPr/>
        </p:nvSpPr>
        <p:spPr>
          <a:xfrm>
            <a:off x="5482717" y="2550096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6"/>
          <p:cNvSpPr/>
          <p:nvPr/>
        </p:nvSpPr>
        <p:spPr>
          <a:xfrm>
            <a:off x="5632735" y="2550096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7"/>
          <p:cNvSpPr/>
          <p:nvPr/>
        </p:nvSpPr>
        <p:spPr>
          <a:xfrm>
            <a:off x="5782754" y="2550096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FFB74D">
              <a:alpha val="90000"/>
            </a:srgbClr>
          </a:solidFill>
          <a:ln w="7144">
            <a:solidFill>
              <a:srgbClr val="FFB74D"/>
            </a:solidFill>
            <a:prstDash val="solid"/>
          </a:ln>
          <a:effectLst>
            <a:outerShdw sx="100000" sy="100000" kx="0" ky="0" algn="bl" rotWithShape="0" blurRad="114300" dist="50800" dir="16200000">
              <a:srgbClr val="FFB74D">
                <a:alpha val="5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8"/>
          <p:cNvSpPr/>
          <p:nvPr/>
        </p:nvSpPr>
        <p:spPr>
          <a:xfrm>
            <a:off x="5932773" y="2550096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59"/>
          <p:cNvSpPr/>
          <p:nvPr/>
        </p:nvSpPr>
        <p:spPr>
          <a:xfrm>
            <a:off x="6082792" y="2550096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0"/>
          <p:cNvSpPr/>
          <p:nvPr/>
        </p:nvSpPr>
        <p:spPr>
          <a:xfrm>
            <a:off x="5032660" y="2700114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1"/>
          <p:cNvSpPr/>
          <p:nvPr/>
        </p:nvSpPr>
        <p:spPr>
          <a:xfrm>
            <a:off x="5182679" y="2700114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2"/>
          <p:cNvSpPr/>
          <p:nvPr/>
        </p:nvSpPr>
        <p:spPr>
          <a:xfrm>
            <a:off x="5332698" y="2700114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3"/>
          <p:cNvSpPr/>
          <p:nvPr/>
        </p:nvSpPr>
        <p:spPr>
          <a:xfrm>
            <a:off x="5482717" y="2700114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4"/>
          <p:cNvSpPr/>
          <p:nvPr/>
        </p:nvSpPr>
        <p:spPr>
          <a:xfrm>
            <a:off x="5632735" y="2700114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5"/>
          <p:cNvSpPr/>
          <p:nvPr/>
        </p:nvSpPr>
        <p:spPr>
          <a:xfrm>
            <a:off x="5782754" y="2700114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6"/>
          <p:cNvSpPr/>
          <p:nvPr/>
        </p:nvSpPr>
        <p:spPr>
          <a:xfrm>
            <a:off x="5932773" y="2700114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7"/>
          <p:cNvSpPr/>
          <p:nvPr/>
        </p:nvSpPr>
        <p:spPr>
          <a:xfrm>
            <a:off x="6082792" y="2700114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68"/>
          <p:cNvSpPr/>
          <p:nvPr/>
        </p:nvSpPr>
        <p:spPr>
          <a:xfrm>
            <a:off x="5032660" y="2850133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69"/>
          <p:cNvSpPr/>
          <p:nvPr/>
        </p:nvSpPr>
        <p:spPr>
          <a:xfrm>
            <a:off x="5182679" y="2850133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0"/>
          <p:cNvSpPr/>
          <p:nvPr/>
        </p:nvSpPr>
        <p:spPr>
          <a:xfrm>
            <a:off x="5332698" y="2850133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1"/>
          <p:cNvSpPr/>
          <p:nvPr/>
        </p:nvSpPr>
        <p:spPr>
          <a:xfrm>
            <a:off x="5482717" y="2850133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2"/>
          <p:cNvSpPr/>
          <p:nvPr/>
        </p:nvSpPr>
        <p:spPr>
          <a:xfrm>
            <a:off x="5632735" y="2850133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3"/>
          <p:cNvSpPr/>
          <p:nvPr/>
        </p:nvSpPr>
        <p:spPr>
          <a:xfrm>
            <a:off x="5782754" y="2850133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4"/>
          <p:cNvSpPr/>
          <p:nvPr/>
        </p:nvSpPr>
        <p:spPr>
          <a:xfrm>
            <a:off x="5932773" y="2850133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5"/>
          <p:cNvSpPr/>
          <p:nvPr/>
        </p:nvSpPr>
        <p:spPr>
          <a:xfrm>
            <a:off x="6082792" y="2850133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6"/>
          <p:cNvSpPr/>
          <p:nvPr/>
        </p:nvSpPr>
        <p:spPr>
          <a:xfrm>
            <a:off x="5032660" y="3000152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7"/>
          <p:cNvSpPr/>
          <p:nvPr/>
        </p:nvSpPr>
        <p:spPr>
          <a:xfrm>
            <a:off x="5182679" y="3000152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78"/>
          <p:cNvSpPr/>
          <p:nvPr/>
        </p:nvSpPr>
        <p:spPr>
          <a:xfrm>
            <a:off x="5332698" y="3000152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79"/>
          <p:cNvSpPr/>
          <p:nvPr/>
        </p:nvSpPr>
        <p:spPr>
          <a:xfrm>
            <a:off x="5482717" y="3000152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0"/>
          <p:cNvSpPr/>
          <p:nvPr/>
        </p:nvSpPr>
        <p:spPr>
          <a:xfrm>
            <a:off x="5632735" y="3000152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81"/>
          <p:cNvSpPr/>
          <p:nvPr/>
        </p:nvSpPr>
        <p:spPr>
          <a:xfrm>
            <a:off x="5782754" y="3000152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2"/>
          <p:cNvSpPr/>
          <p:nvPr/>
        </p:nvSpPr>
        <p:spPr>
          <a:xfrm>
            <a:off x="5932773" y="3000152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3"/>
          <p:cNvSpPr/>
          <p:nvPr/>
        </p:nvSpPr>
        <p:spPr>
          <a:xfrm>
            <a:off x="6082792" y="3000152"/>
            <a:ext cx="121444" cy="121444"/>
          </a:xfrm>
          <a:prstGeom prst="roundRect">
            <a:avLst>
              <a:gd name="adj" fmla="val 31372"/>
            </a:avLst>
          </a:prstGeom>
          <a:solidFill>
            <a:srgbClr val="4FC3F7">
              <a:alpha val="9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Text 84"/>
          <p:cNvSpPr/>
          <p:nvPr/>
        </p:nvSpPr>
        <p:spPr>
          <a:xfrm>
            <a:off x="6350682" y="2119796"/>
            <a:ext cx="1864376" cy="2182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54"/>
              </a:lnSpc>
              <a:buNone/>
            </a:pPr>
            <a:r>
              <a:rPr lang="en-US" sz="1575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idx = 38</a:t>
            </a:r>
            <a:endParaRPr lang="en-US" sz="1575" dirty="0"/>
          </a:p>
        </p:txBody>
      </p:sp>
      <p:sp>
        <p:nvSpPr>
          <p:cNvPr id="89" name="Text 85"/>
          <p:cNvSpPr/>
          <p:nvPr/>
        </p:nvSpPr>
        <p:spPr>
          <a:xfrm>
            <a:off x="6350682" y="2365474"/>
            <a:ext cx="1774252" cy="159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spc="95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ONLY GUE AGREEMENT</a:t>
            </a:r>
            <a:endParaRPr lang="en-US" sz="800" dirty="0"/>
          </a:p>
        </p:txBody>
      </p:sp>
      <p:sp>
        <p:nvSpPr>
          <p:cNvPr id="90" name="Text 86"/>
          <p:cNvSpPr/>
          <p:nvPr/>
        </p:nvSpPr>
        <p:spPr>
          <a:xfrm>
            <a:off x="6350682" y="2561146"/>
            <a:ext cx="157306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odd θ-characteristic · holonomy = i</a:t>
            </a:r>
            <a:endParaRPr lang="en-US" sz="731" dirty="0"/>
          </a:p>
        </p:txBody>
      </p:sp>
      <p:sp>
        <p:nvSpPr>
          <p:cNvPr id="91" name="Text 87"/>
          <p:cNvSpPr/>
          <p:nvPr/>
        </p:nvSpPr>
        <p:spPr>
          <a:xfrm>
            <a:off x="6350682" y="2771887"/>
            <a:ext cx="1864376" cy="19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35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 = 0.598</a:t>
            </a:r>
            <a:endParaRPr lang="en-US" sz="1350" dirty="0"/>
          </a:p>
        </p:txBody>
      </p:sp>
      <p:sp>
        <p:nvSpPr>
          <p:cNvPr id="92" name="Text 88"/>
          <p:cNvSpPr/>
          <p:nvPr/>
        </p:nvSpPr>
        <p:spPr>
          <a:xfrm>
            <a:off x="5029088" y="3875484"/>
            <a:ext cx="3631708" cy="217884"/>
          </a:xfrm>
          <a:prstGeom prst="rect">
            <a:avLst/>
          </a:prstGeom>
          <a:noFill/>
          <a:ln/>
        </p:spPr>
        <p:txBody>
          <a:bodyPr wrap="square" lIns="0" tIns="71438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other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63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structures: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 ≈ 0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93" name="Text 89"/>
          <p:cNvSpPr/>
          <p:nvPr/>
        </p:nvSpPr>
        <p:spPr>
          <a:xfrm>
            <a:off x="457200" y="4329113"/>
            <a:ext cx="8229600" cy="414338"/>
          </a:xfrm>
          <a:prstGeom prst="roundRect">
            <a:avLst>
              <a:gd name="adj" fmla="val 27586"/>
            </a:avLst>
          </a:prstGeom>
          <a:solidFill>
            <a:srgbClr val="10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Text 90"/>
          <p:cNvSpPr/>
          <p:nvPr/>
        </p:nvSpPr>
        <p:spPr>
          <a:xfrm>
            <a:off x="607219" y="4486275"/>
            <a:ext cx="3964893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FFB7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PERMUTATION TEST — THE GOLD STANDARD</a:t>
            </a:r>
            <a:endParaRPr lang="en-US" sz="800" dirty="0"/>
          </a:p>
        </p:txBody>
      </p:sp>
      <p:sp>
        <p:nvSpPr>
          <p:cNvPr id="95" name="Text 91"/>
          <p:cNvSpPr/>
          <p:nvPr/>
        </p:nvSpPr>
        <p:spPr>
          <a:xfrm>
            <a:off x="4606402" y="4424267"/>
            <a:ext cx="1224997" cy="224028"/>
          </a:xfrm>
          <a:prstGeom prst="roundRect">
            <a:avLst>
              <a:gd name="adj" fmla="val 4247449"/>
            </a:avLst>
          </a:prstGeom>
          <a:solidFill>
            <a:srgbClr val="4FC3F7">
              <a:alpha val="7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Text 92"/>
          <p:cNvSpPr/>
          <p:nvPr/>
        </p:nvSpPr>
        <p:spPr>
          <a:xfrm>
            <a:off x="4629262" y="4436269"/>
            <a:ext cx="123642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algn="l" indent="0" marL="0">
              <a:buNone/>
            </a:pPr>
            <a:r>
              <a:rPr lang="en-US" sz="800" baseline="-40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resid</a:t>
            </a:r>
            <a:pPr algn="l"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800" baseline="30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</a:t>
            </a:r>
            <a:pPr algn="l"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= 0.9963</a:t>
            </a:r>
            <a:endParaRPr lang="en-US" sz="800" dirty="0"/>
          </a:p>
        </p:txBody>
      </p:sp>
      <p:sp>
        <p:nvSpPr>
          <p:cNvPr id="97" name="Text 93"/>
          <p:cNvSpPr/>
          <p:nvPr/>
        </p:nvSpPr>
        <p:spPr>
          <a:xfrm>
            <a:off x="5899978" y="4424267"/>
            <a:ext cx="1602276" cy="224028"/>
          </a:xfrm>
          <a:prstGeom prst="roundRect">
            <a:avLst>
              <a:gd name="adj" fmla="val 4247449"/>
            </a:avLst>
          </a:prstGeom>
          <a:solidFill>
            <a:srgbClr val="4FC3F7">
              <a:alpha val="7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4"/>
          <p:cNvSpPr/>
          <p:nvPr/>
        </p:nvSpPr>
        <p:spPr>
          <a:xfrm>
            <a:off x="5922838" y="4436269"/>
            <a:ext cx="161370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⟨r</a:t>
            </a:r>
            <a:pPr algn="l" indent="0" marL="0">
              <a:buNone/>
            </a:pPr>
            <a:r>
              <a:rPr lang="en-US" sz="800" baseline="-40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algn="l"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⟩ = 0.001 ± 0.071</a:t>
            </a:r>
            <a:endParaRPr lang="en-US" sz="800" dirty="0"/>
          </a:p>
        </p:txBody>
      </p:sp>
      <p:sp>
        <p:nvSpPr>
          <p:cNvPr id="99" name="Text 95"/>
          <p:cNvSpPr/>
          <p:nvPr/>
        </p:nvSpPr>
        <p:spPr>
          <a:xfrm>
            <a:off x="7593695" y="4468416"/>
            <a:ext cx="9144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2C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00" dirty="0"/>
          </a:p>
        </p:txBody>
      </p:sp>
      <p:sp>
        <p:nvSpPr>
          <p:cNvPr id="100" name="Text 96"/>
          <p:cNvSpPr/>
          <p:nvPr/>
        </p:nvSpPr>
        <p:spPr>
          <a:xfrm>
            <a:off x="7754573" y="4450556"/>
            <a:ext cx="81878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Z = 14.10</a:t>
            </a:r>
            <a:endParaRPr lang="en-US" sz="1125" dirty="0"/>
          </a:p>
        </p:txBody>
      </p:sp>
      <p:sp>
        <p:nvSpPr>
          <p:cNvPr id="101" name="Text 97"/>
          <p:cNvSpPr/>
          <p:nvPr/>
        </p:nvSpPr>
        <p:spPr>
          <a:xfrm>
            <a:off x="0" y="4872038"/>
            <a:ext cx="9144000" cy="271463"/>
          </a:xfrm>
          <a:prstGeom prst="rect">
            <a:avLst/>
          </a:prstGeom>
          <a:solidFill>
            <a:srgbClr val="09111E">
              <a:alpha val="7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2" name="Text 98"/>
          <p:cNvSpPr/>
          <p:nvPr/>
        </p:nvSpPr>
        <p:spPr>
          <a:xfrm>
            <a:off x="457200" y="4961334"/>
            <a:ext cx="773400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AB-Cloud </a:t>
            </a:r>
            <a:pPr algn="l" indent="0" marL="0">
              <a:buNone/>
            </a:pPr>
            <a:r>
              <a:rPr lang="en-US" sz="800" spc="68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Monograph v21 </a:t>
            </a:r>
            <a:pPr algn="l" indent="0" marL="0">
              <a:buNone/>
            </a:pPr>
            <a:r>
              <a:rPr lang="en-US" sz="800" spc="68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Author Edition</a:t>
            </a:r>
            <a:endParaRPr lang="en-US" sz="800" dirty="0"/>
          </a:p>
        </p:txBody>
      </p:sp>
      <p:sp>
        <p:nvSpPr>
          <p:cNvPr id="103" name="Text 99"/>
          <p:cNvSpPr/>
          <p:nvPr/>
        </p:nvSpPr>
        <p:spPr>
          <a:xfrm>
            <a:off x="8205490" y="4961334"/>
            <a:ext cx="48131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97986" y="3457575"/>
            <a:ext cx="1146014" cy="1388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25"/>
              </a:lnSpc>
              <a:buNone/>
            </a:pPr>
            <a:r>
              <a:rPr lang="en-US" sz="11250" b="1" spc="-225" kern="0" dirty="0">
                <a:solidFill>
                  <a:srgbClr val="4FC3F7">
                    <a:alpha val="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φ</a:t>
            </a:r>
            <a:endParaRPr lang="en-US" sz="11250" dirty="0"/>
          </a:p>
        </p:txBody>
      </p:sp>
      <p:sp>
        <p:nvSpPr>
          <p:cNvPr id="4" name="Shape 1"/>
          <p:cNvSpPr/>
          <p:nvPr/>
        </p:nvSpPr>
        <p:spPr>
          <a:xfrm>
            <a:off x="592931" y="2670311"/>
            <a:ext cx="3878498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67858" y="2666740"/>
            <a:ext cx="0" cy="346249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2931" y="3009416"/>
            <a:ext cx="3878498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3647" y="2666740"/>
            <a:ext cx="0" cy="346249"/>
          </a:xfrm>
          <a:prstGeom prst="line">
            <a:avLst/>
          </a:prstGeom>
          <a:noFill/>
          <a:ln w="21431">
            <a:solidFill>
              <a:srgbClr val="FFB74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875609"/>
            <a:ext cx="91440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57188"/>
            <a:ext cx="863600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9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RESULTS · BLOCK 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57200" y="535781"/>
            <a:ext cx="8636000" cy="304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9"/>
              </a:lnSpc>
              <a:buNone/>
            </a:pPr>
            <a:r>
              <a:rPr lang="en-US" sz="1913" b="1" spc="-23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AB-cloud as a </a:t>
            </a:r>
            <a:pPr algn="l" indent="0" marL="0">
              <a:lnSpc>
                <a:spcPts val="2219"/>
              </a:lnSpc>
              <a:buNone/>
            </a:pPr>
            <a:r>
              <a:rPr lang="en-US" sz="1913" b="1" spc="-23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resonator</a:t>
            </a:r>
            <a:endParaRPr lang="en-US" sz="1913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74675"/>
            <a:ext cx="4149961" cy="290315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0772" y="978247"/>
            <a:ext cx="4142817" cy="2896009"/>
          </a:xfrm>
          <a:prstGeom prst="roundRect">
            <a:avLst>
              <a:gd name="adj" fmla="val 3947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592931" y="1839516"/>
            <a:ext cx="3878498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GEOMETRY INDEPENDENCE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592931" y="2082403"/>
            <a:ext cx="3878498" cy="183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9"/>
              </a:lnSpc>
              <a:buNone/>
            </a:pPr>
            <a:r>
              <a:rPr lang="en-US" sz="956" spc="19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GUE statistics do </a:t>
            </a:r>
            <a:pPr algn="l" indent="0" marL="0">
              <a:lnSpc>
                <a:spcPts val="1339"/>
              </a:lnSpc>
              <a:buNone/>
            </a:pPr>
            <a:r>
              <a:rPr lang="en-US" sz="956" spc="19" kern="0" dirty="0">
                <a:solidFill>
                  <a:srgbClr val="FFB7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</a:t>
            </a:r>
            <a:pPr algn="l" indent="0" marL="0">
              <a:lnSpc>
                <a:spcPts val="1339"/>
              </a:lnSpc>
              <a:buNone/>
            </a:pPr>
            <a:r>
              <a:rPr lang="en-US" sz="956" spc="19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depend on substrate geometry</a:t>
            </a:r>
            <a:endParaRPr lang="en-US" sz="956" dirty="0"/>
          </a:p>
        </p:txBody>
      </p:sp>
      <p:sp>
        <p:nvSpPr>
          <p:cNvPr id="15" name="Text 11"/>
          <p:cNvSpPr/>
          <p:nvPr/>
        </p:nvSpPr>
        <p:spPr>
          <a:xfrm>
            <a:off x="592931" y="2368988"/>
            <a:ext cx="1303288" cy="224028"/>
          </a:xfrm>
          <a:prstGeom prst="roundRect">
            <a:avLst>
              <a:gd name="adj" fmla="val 4247449"/>
            </a:avLst>
          </a:prstGeom>
          <a:solidFill>
            <a:srgbClr val="4FC3F7">
              <a:alpha val="7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592931" y="2380990"/>
            <a:ext cx="130328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torus → ⟨r⟩ ≈ 0.937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1971229" y="2384561"/>
            <a:ext cx="1760600" cy="192881"/>
          </a:xfrm>
          <a:prstGeom prst="roundRect">
            <a:avLst>
              <a:gd name="adj" fmla="val 4933340"/>
            </a:avLst>
          </a:prstGeom>
          <a:solidFill>
            <a:srgbClr val="4FC3F7">
              <a:alpha val="7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1967657" y="2380990"/>
            <a:ext cx="2503773" cy="227584"/>
          </a:xfrm>
          <a:prstGeom prst="rect">
            <a:avLst/>
          </a:prstGeom>
          <a:noFill/>
          <a:ln/>
        </p:spPr>
        <p:txBody>
          <a:bodyPr wrap="none" lIns="92869" tIns="35719" rIns="92869" bIns="35719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Klein surface → ⟨r⟩ ≈ 0.937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592931" y="2666740"/>
            <a:ext cx="3878498" cy="346249"/>
          </a:xfrm>
          <a:prstGeom prst="roundRect">
            <a:avLst>
              <a:gd name="adj" fmla="val 33011"/>
            </a:avLst>
          </a:prstGeom>
          <a:solidFill>
            <a:srgbClr val="10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714375" y="2759608"/>
            <a:ext cx="3649898" cy="160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source of GUE is the </a:t>
            </a:r>
            <a:pPr algn="l" indent="0" marL="0">
              <a:lnSpc>
                <a:spcPts val="1264"/>
              </a:lnSpc>
              <a:buNone/>
            </a:pPr>
            <a:r>
              <a:rPr lang="en-US" sz="816" b="1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 dynamics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not geometry.</a:t>
            </a:r>
            <a:endParaRPr lang="en-US" sz="816" dirty="0"/>
          </a:p>
        </p:txBody>
      </p:sp>
      <p:sp>
        <p:nvSpPr>
          <p:cNvPr id="21" name="Text 17"/>
          <p:cNvSpPr/>
          <p:nvPr/>
        </p:nvSpPr>
        <p:spPr>
          <a:xfrm>
            <a:off x="4725033" y="978247"/>
            <a:ext cx="3958196" cy="2896009"/>
          </a:xfrm>
          <a:prstGeom prst="roundRect">
            <a:avLst>
              <a:gd name="adj" fmla="val 3947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857192" y="1096119"/>
            <a:ext cx="3803605" cy="146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DIAGRAM P(GUE)(N</a:t>
            </a:r>
            <a:pPr algn="l" indent="0" marL="0">
              <a:buNone/>
            </a:pPr>
            <a:r>
              <a:rPr lang="en-US" sz="800" baseline="-40000" spc="135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</a:t>
            </a:r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W)</a:t>
            </a:r>
            <a:endParaRPr lang="en-US" sz="8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192" y="1270360"/>
            <a:ext cx="3693877" cy="226133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860764" y="1273932"/>
            <a:ext cx="3686733" cy="2254188"/>
          </a:xfrm>
          <a:prstGeom prst="roundRect">
            <a:avLst>
              <a:gd name="adj" fmla="val 4225"/>
            </a:avLst>
          </a:prstGeom>
          <a:noFill/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 rot="1500000">
            <a:off x="6115642" y="1136956"/>
            <a:ext cx="1184010" cy="2528251"/>
          </a:xfrm>
          <a:prstGeom prst="rect">
            <a:avLst/>
          </a:prstGeom>
          <a:solidFill>
            <a:srgbClr val="E8EEF7">
              <a:alpha val="2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5305797" y="3147826"/>
            <a:ext cx="905184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44" kern="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Poisson-like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8028347" y="1524633"/>
            <a:ext cx="295215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44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4935773" y="1320366"/>
            <a:ext cx="24479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DB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↑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8283513" y="3364595"/>
            <a:ext cx="260412" cy="14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DB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buNone/>
            </a:pPr>
            <a:r>
              <a:rPr lang="en-US" sz="800" baseline="-40000" dirty="0">
                <a:solidFill>
                  <a:srgbClr val="9DB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algn="l" indent="0" marL="0">
              <a:buNone/>
            </a:pPr>
            <a:r>
              <a:rPr lang="en-US" sz="800" dirty="0">
                <a:solidFill>
                  <a:srgbClr val="9DB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4857192" y="3603129"/>
            <a:ext cx="3693877" cy="153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p(GUE) mapped over vortex number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ts val="1097"/>
              </a:lnSpc>
              <a:buNone/>
            </a:pPr>
            <a:r>
              <a:rPr lang="en-US" sz="800" baseline="-40000" dirty="0">
                <a:solidFill>
                  <a:srgbClr val="9DB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disorder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schematic.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460772" y="3995700"/>
            <a:ext cx="4050506" cy="744178"/>
          </a:xfrm>
          <a:prstGeom prst="roundRect">
            <a:avLst>
              <a:gd name="adj" fmla="val 15359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592931" y="4113572"/>
            <a:ext cx="37861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72" spc="17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Vortex-number threshold</a:t>
            </a:r>
            <a:endParaRPr lang="en-US" sz="872" dirty="0"/>
          </a:p>
        </p:txBody>
      </p:sp>
      <p:sp>
        <p:nvSpPr>
          <p:cNvPr id="33" name="Text 28"/>
          <p:cNvSpPr/>
          <p:nvPr/>
        </p:nvSpPr>
        <p:spPr>
          <a:xfrm>
            <a:off x="592931" y="4285022"/>
            <a:ext cx="3786188" cy="33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GUE statistics set in only above a critical number of vortices 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ts val="1264"/>
              </a:lnSpc>
              <a:buNone/>
            </a:pPr>
            <a:r>
              <a:rPr lang="en-US" sz="800" baseline="-40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; below it the spectrum remains Poisson-like.</a:t>
            </a:r>
            <a:endParaRPr lang="en-US" sz="816" dirty="0"/>
          </a:p>
        </p:txBody>
      </p:sp>
      <p:sp>
        <p:nvSpPr>
          <p:cNvPr id="34" name="Text 29"/>
          <p:cNvSpPr/>
          <p:nvPr/>
        </p:nvSpPr>
        <p:spPr>
          <a:xfrm>
            <a:off x="4632722" y="3995700"/>
            <a:ext cx="4050506" cy="744178"/>
          </a:xfrm>
          <a:prstGeom prst="roundRect">
            <a:avLst>
              <a:gd name="adj" fmla="val 15359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0"/>
          <p:cNvSpPr/>
          <p:nvPr/>
        </p:nvSpPr>
        <p:spPr>
          <a:xfrm>
            <a:off x="4764881" y="4113572"/>
            <a:ext cx="37861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72" spc="17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Attenuation paradox</a:t>
            </a:r>
            <a:endParaRPr lang="en-US" sz="872" dirty="0"/>
          </a:p>
        </p:txBody>
      </p:sp>
      <p:sp>
        <p:nvSpPr>
          <p:cNvPr id="36" name="Text 31"/>
          <p:cNvSpPr/>
          <p:nvPr/>
        </p:nvSpPr>
        <p:spPr>
          <a:xfrm>
            <a:off x="4764881" y="4285022"/>
            <a:ext cx="3786188" cy="33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 open paradox recorded by the study, carried into the Julia verification programme 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D.1–D.12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16" dirty="0"/>
          </a:p>
        </p:txBody>
      </p:sp>
      <p:sp>
        <p:nvSpPr>
          <p:cNvPr id="37" name="Text 32"/>
          <p:cNvSpPr/>
          <p:nvPr/>
        </p:nvSpPr>
        <p:spPr>
          <a:xfrm>
            <a:off x="0" y="4872038"/>
            <a:ext cx="9144000" cy="271463"/>
          </a:xfrm>
          <a:prstGeom prst="rect">
            <a:avLst/>
          </a:prstGeom>
          <a:solidFill>
            <a:srgbClr val="09111E">
              <a:alpha val="7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457200" y="4961334"/>
            <a:ext cx="773400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AB-Cloud </a:t>
            </a:r>
            <a:pPr algn="l" indent="0" marL="0">
              <a:buNone/>
            </a:pPr>
            <a:r>
              <a:rPr lang="en-US" sz="800" spc="68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Monograph v21 </a:t>
            </a:r>
            <a:pPr algn="l" indent="0" marL="0">
              <a:buNone/>
            </a:pPr>
            <a:r>
              <a:rPr lang="en-US" sz="800" spc="68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Author Edition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8205490" y="4961334"/>
            <a:ext cx="48131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8759" y="-1139428"/>
            <a:ext cx="2993231" cy="2993231"/>
          </a:xfrm>
          <a:prstGeom prst="ellipse">
            <a:avLst/>
          </a:prstGeom>
          <a:noFill/>
          <a:ln w="7144">
            <a:solidFill>
              <a:srgbClr val="4FC3F7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501147" y="457200"/>
            <a:ext cx="2642853" cy="972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88"/>
              </a:lnSpc>
              <a:buNone/>
            </a:pPr>
            <a:r>
              <a:rPr lang="en-US" sz="7875" b="1" spc="-157" kern="0" dirty="0">
                <a:solidFill>
                  <a:srgbClr val="4FC3F7">
                    <a:alpha val="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ζ(s)</a:t>
            </a:r>
            <a:endParaRPr lang="en-US" sz="7875" dirty="0"/>
          </a:p>
        </p:txBody>
      </p:sp>
      <p:sp>
        <p:nvSpPr>
          <p:cNvPr id="5" name="Shape 2"/>
          <p:cNvSpPr/>
          <p:nvPr/>
        </p:nvSpPr>
        <p:spPr>
          <a:xfrm>
            <a:off x="0" y="4875609"/>
            <a:ext cx="91440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57188"/>
            <a:ext cx="863600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9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RESULTS · BLOCK 3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535781"/>
            <a:ext cx="8636000" cy="304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9"/>
              </a:lnSpc>
              <a:buNone/>
            </a:pPr>
            <a:r>
              <a:rPr lang="en-US" sz="1913" b="1" spc="-23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Montgomery test — AB-cloud </a:t>
            </a:r>
            <a:pPr algn="l" indent="0" marL="0">
              <a:lnSpc>
                <a:spcPts val="2219"/>
              </a:lnSpc>
              <a:buNone/>
            </a:pPr>
            <a:r>
              <a:rPr lang="en-US" sz="1913" b="1" spc="-23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vs ζ zeros</a:t>
            </a:r>
            <a:endParaRPr lang="en-US" sz="1913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74675"/>
            <a:ext cx="2500313" cy="130540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0772" y="978247"/>
            <a:ext cx="2493169" cy="1298265"/>
          </a:xfrm>
          <a:prstGeom prst="roundRect">
            <a:avLst>
              <a:gd name="adj" fmla="val 8804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92931" y="1241115"/>
            <a:ext cx="222885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KS DISTANCE · AB VS Ζ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92931" y="1469715"/>
            <a:ext cx="2228850" cy="35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475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KS = 0.047</a:t>
            </a:r>
            <a:endParaRPr lang="en-US" sz="2475" dirty="0"/>
          </a:p>
        </p:txBody>
      </p:sp>
      <p:sp>
        <p:nvSpPr>
          <p:cNvPr id="12" name="Text 8"/>
          <p:cNvSpPr/>
          <p:nvPr/>
        </p:nvSpPr>
        <p:spPr>
          <a:xfrm>
            <a:off x="592931" y="1871104"/>
            <a:ext cx="2228850" cy="15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2"/>
              </a:lnSpc>
              <a:buNone/>
            </a:pPr>
            <a:r>
              <a:rPr lang="en-US" sz="1069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 = 0.27 → H₀ not rejected</a:t>
            </a:r>
            <a:endParaRPr lang="en-US" sz="1069" dirty="0"/>
          </a:p>
        </p:txBody>
      </p:sp>
      <p:sp>
        <p:nvSpPr>
          <p:cNvPr id="13" name="Text 9"/>
          <p:cNvSpPr/>
          <p:nvPr/>
        </p:nvSpPr>
        <p:spPr>
          <a:xfrm>
            <a:off x="3075384" y="978247"/>
            <a:ext cx="5607844" cy="1298265"/>
          </a:xfrm>
          <a:prstGeom prst="roundRect">
            <a:avLst>
              <a:gd name="adj" fmla="val 8804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207544" y="1096119"/>
            <a:ext cx="5343525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SETUP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3207544" y="1253282"/>
            <a:ext cx="5343525" cy="705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60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 = 500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certified zeta zeros — 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mpmath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, 50 digits</a:t>
            </a:r>
            <a:endParaRPr lang="en-US" sz="816" dirty="0"/>
          </a:p>
          <a:p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60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AB-cloud spacing distribution at 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00" baseline="-400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= 25, W = 4</a:t>
            </a:r>
            <a:endParaRPr lang="en-US" sz="816" dirty="0"/>
          </a:p>
          <a:p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60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Statistically indistinguishable from ζ zeros — 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H₀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not rejected</a:t>
            </a:r>
            <a:endParaRPr lang="en-US" sz="816" dirty="0"/>
          </a:p>
        </p:txBody>
      </p:sp>
      <p:sp>
        <p:nvSpPr>
          <p:cNvPr id="16" name="Text 12"/>
          <p:cNvSpPr/>
          <p:nvPr/>
        </p:nvSpPr>
        <p:spPr>
          <a:xfrm>
            <a:off x="3207544" y="1946614"/>
            <a:ext cx="1382316" cy="224028"/>
          </a:xfrm>
          <a:prstGeom prst="roundRect">
            <a:avLst>
              <a:gd name="adj" fmla="val 4247449"/>
            </a:avLst>
          </a:prstGeom>
          <a:solidFill>
            <a:srgbClr val="FFB74D">
              <a:alpha val="6000"/>
            </a:srgbClr>
          </a:solidFill>
          <a:ln w="7144">
            <a:solidFill>
              <a:srgbClr val="FFB7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3207544" y="1958615"/>
            <a:ext cx="142517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ω</a:t>
            </a:r>
            <a:pPr algn="l" indent="0" marL="0">
              <a:buNone/>
            </a:pPr>
            <a:r>
              <a:rPr lang="en-US" sz="800" baseline="-400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peak</a:t>
            </a:r>
            <a:pPr algn="l" indent="0" marL="0">
              <a:buNone/>
            </a:pPr>
            <a:r>
              <a:rPr lang="en-US" sz="8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800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/Δω ≈ 1.056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4675584" y="1988976"/>
            <a:ext cx="3875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peak quality factor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460772" y="2397956"/>
            <a:ext cx="8222456" cy="2341922"/>
          </a:xfrm>
          <a:prstGeom prst="roundRect">
            <a:avLst>
              <a:gd name="adj" fmla="val 4881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592931" y="3061655"/>
            <a:ext cx="7958138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L² DISTANCE METRICS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592931" y="3318830"/>
            <a:ext cx="2043113" cy="130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DB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L²(AB, ζ)</a:t>
            </a:r>
            <a:endParaRPr lang="en-US" sz="8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406" y="3322402"/>
            <a:ext cx="171004" cy="1071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657243" y="3318830"/>
            <a:ext cx="893826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0.0127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592931" y="3533142"/>
            <a:ext cx="1785938" cy="130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DB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L²(AB, GUE)</a:t>
            </a:r>
            <a:endParaRPr lang="en-US" sz="8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7406" y="3536714"/>
            <a:ext cx="5455481" cy="1071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657243" y="3533142"/>
            <a:ext cx="893826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0.4338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592931" y="3747455"/>
            <a:ext cx="1785938" cy="130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DB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L²(ζ, GUE)</a:t>
            </a:r>
            <a:endParaRPr lang="en-US" sz="8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7406" y="3751027"/>
            <a:ext cx="5700713" cy="10715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657243" y="3747455"/>
            <a:ext cx="893826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0.4536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592931" y="3961767"/>
            <a:ext cx="795813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FFB7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cloud is closer to ζ than either theory is to the other.</a:t>
            </a:r>
            <a:endParaRPr lang="en-US" sz="816" dirty="0"/>
          </a:p>
        </p:txBody>
      </p:sp>
      <p:sp>
        <p:nvSpPr>
          <p:cNvPr id="31" name="Text 24"/>
          <p:cNvSpPr/>
          <p:nvPr/>
        </p:nvSpPr>
        <p:spPr>
          <a:xfrm>
            <a:off x="0" y="4872038"/>
            <a:ext cx="9144000" cy="271463"/>
          </a:xfrm>
          <a:prstGeom prst="rect">
            <a:avLst/>
          </a:prstGeom>
          <a:solidFill>
            <a:srgbClr val="09111E">
              <a:alpha val="7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457200" y="4961334"/>
            <a:ext cx="773400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AB-Cloud </a:t>
            </a:r>
            <a:pPr algn="l" indent="0" marL="0">
              <a:buNone/>
            </a:pPr>
            <a:r>
              <a:rPr lang="en-US" sz="800" spc="68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Monograph v21 </a:t>
            </a:r>
            <a:pPr algn="l" indent="0" marL="0">
              <a:buNone/>
            </a:pPr>
            <a:r>
              <a:rPr lang="en-US" sz="800" spc="68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Author Edition</a:t>
            </a:r>
            <a:endParaRPr lang="en-US" sz="800" dirty="0"/>
          </a:p>
        </p:txBody>
      </p:sp>
      <p:sp>
        <p:nvSpPr>
          <p:cNvPr id="33" name="Text 26"/>
          <p:cNvSpPr/>
          <p:nvPr/>
        </p:nvSpPr>
        <p:spPr>
          <a:xfrm>
            <a:off x="8205490" y="4961334"/>
            <a:ext cx="48131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57666" y="3157538"/>
            <a:ext cx="1386334" cy="1527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38"/>
              </a:lnSpc>
              <a:buNone/>
            </a:pPr>
            <a:r>
              <a:rPr lang="en-US" sz="12375" b="1" spc="-247" kern="0" dirty="0">
                <a:solidFill>
                  <a:srgbClr val="4FC3F7">
                    <a:alpha val="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</a:t>
            </a:r>
            <a:endParaRPr lang="en-US" sz="12375" dirty="0"/>
          </a:p>
        </p:txBody>
      </p:sp>
      <p:sp>
        <p:nvSpPr>
          <p:cNvPr id="4" name="Shape 1"/>
          <p:cNvSpPr/>
          <p:nvPr/>
        </p:nvSpPr>
        <p:spPr>
          <a:xfrm>
            <a:off x="5174196" y="1256854"/>
            <a:ext cx="3376873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547497" y="1253282"/>
            <a:ext cx="0" cy="374266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174196" y="1623975"/>
            <a:ext cx="3376873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184911" y="1253282"/>
            <a:ext cx="0" cy="374266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38465" y="4366617"/>
            <a:ext cx="3648335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3228" y="4363045"/>
            <a:ext cx="0" cy="380405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38465" y="4739878"/>
            <a:ext cx="3648335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49180" y="4363045"/>
            <a:ext cx="0" cy="380405"/>
          </a:xfrm>
          <a:prstGeom prst="line">
            <a:avLst/>
          </a:prstGeom>
          <a:noFill/>
          <a:ln w="21431">
            <a:solidFill>
              <a:srgbClr val="FFB74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0" y="4875609"/>
            <a:ext cx="91440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357188"/>
            <a:ext cx="863600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9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RESULTS · BLOCK 4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57200" y="535781"/>
            <a:ext cx="8636000" cy="304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9"/>
              </a:lnSpc>
              <a:buNone/>
            </a:pPr>
            <a:r>
              <a:rPr lang="en-US" sz="1913" b="1" spc="-23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Optimality of the critical line </a:t>
            </a:r>
            <a:pPr algn="l" indent="0" marL="0">
              <a:lnSpc>
                <a:spcPts val="2219"/>
              </a:lnSpc>
              <a:buNone/>
            </a:pPr>
            <a:r>
              <a:rPr lang="en-US" sz="1913" b="1" spc="-23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σ = 1/2</a:t>
            </a:r>
            <a:endParaRPr lang="en-US" sz="1913" dirty="0"/>
          </a:p>
        </p:txBody>
      </p:sp>
      <p:sp>
        <p:nvSpPr>
          <p:cNvPr id="15" name="Text 12"/>
          <p:cNvSpPr/>
          <p:nvPr/>
        </p:nvSpPr>
        <p:spPr>
          <a:xfrm>
            <a:off x="460772" y="978247"/>
            <a:ext cx="4459821" cy="3761631"/>
          </a:xfrm>
          <a:prstGeom prst="roundRect">
            <a:avLst>
              <a:gd name="adj" fmla="val 3039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92931" y="1096119"/>
            <a:ext cx="430523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KS DISTANCE TO REAL Ζ ZEROS VS Σ — SCHEMATIC</a:t>
            </a:r>
            <a:endParaRPr lang="en-US" sz="8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69" y="1594954"/>
            <a:ext cx="650416" cy="2505559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810" y="2619970"/>
            <a:ext cx="650528" cy="1480542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5363" y="3531133"/>
            <a:ext cx="650528" cy="56937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379805" y="3366827"/>
            <a:ext cx="656580" cy="130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KS = 0.152</a:t>
            </a:r>
            <a:endParaRPr lang="en-US" sz="8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5915" y="2619970"/>
            <a:ext cx="650528" cy="1480542"/>
          </a:xfrm>
          <a:prstGeom prst="rect">
            <a:avLst/>
          </a:prstGeom>
        </p:spPr>
      </p:pic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6468" y="1594954"/>
            <a:ext cx="650528" cy="2505559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92931" y="4164806"/>
            <a:ext cx="812912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DB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= 0.3</a:t>
            </a:r>
            <a:endParaRPr lang="en-US" sz="800" dirty="0"/>
          </a:p>
        </p:txBody>
      </p:sp>
      <p:sp>
        <p:nvSpPr>
          <p:cNvPr id="24" name="Text 16"/>
          <p:cNvSpPr/>
          <p:nvPr/>
        </p:nvSpPr>
        <p:spPr>
          <a:xfrm>
            <a:off x="1319652" y="4164806"/>
            <a:ext cx="1040844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DB2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0.4</a:t>
            </a:r>
            <a:endParaRPr lang="en-US" sz="800" dirty="0"/>
          </a:p>
        </p:txBody>
      </p:sp>
      <p:sp>
        <p:nvSpPr>
          <p:cNvPr id="25" name="Text 17"/>
          <p:cNvSpPr/>
          <p:nvPr/>
        </p:nvSpPr>
        <p:spPr>
          <a:xfrm>
            <a:off x="2274289" y="4164806"/>
            <a:ext cx="832676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= 1/2</a:t>
            </a:r>
            <a:endParaRPr lang="en-US" sz="800" dirty="0"/>
          </a:p>
        </p:txBody>
      </p:sp>
      <p:sp>
        <p:nvSpPr>
          <p:cNvPr id="26" name="Text 18"/>
          <p:cNvSpPr/>
          <p:nvPr/>
        </p:nvSpPr>
        <p:spPr>
          <a:xfrm>
            <a:off x="3020757" y="4164806"/>
            <a:ext cx="1040844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DB2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0.6</a:t>
            </a:r>
            <a:endParaRPr lang="en-US" sz="800" dirty="0"/>
          </a:p>
        </p:txBody>
      </p:sp>
      <p:sp>
        <p:nvSpPr>
          <p:cNvPr id="27" name="Text 19"/>
          <p:cNvSpPr/>
          <p:nvPr/>
        </p:nvSpPr>
        <p:spPr>
          <a:xfrm>
            <a:off x="3747589" y="4164806"/>
            <a:ext cx="1040844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DB2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0.7</a:t>
            </a:r>
            <a:endParaRPr lang="en-US" sz="800" dirty="0"/>
          </a:p>
        </p:txBody>
      </p:sp>
      <p:sp>
        <p:nvSpPr>
          <p:cNvPr id="28" name="Text 20"/>
          <p:cNvSpPr/>
          <p:nvPr/>
        </p:nvSpPr>
        <p:spPr>
          <a:xfrm>
            <a:off x="592931" y="4343400"/>
            <a:ext cx="4195502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= 1/2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the distance is minimal; for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≠ 1/2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the agreement degrades monotonically away from the critical line.</a:t>
            </a:r>
            <a:endParaRPr lang="en-US" sz="800" dirty="0"/>
          </a:p>
        </p:txBody>
      </p:sp>
      <p:sp>
        <p:nvSpPr>
          <p:cNvPr id="29" name="Text 21"/>
          <p:cNvSpPr/>
          <p:nvPr/>
        </p:nvSpPr>
        <p:spPr>
          <a:xfrm>
            <a:off x="5042036" y="978247"/>
            <a:ext cx="3641192" cy="1148469"/>
          </a:xfrm>
          <a:prstGeom prst="roundRect">
            <a:avLst>
              <a:gd name="adj" fmla="val 9952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2"/>
          <p:cNvSpPr/>
          <p:nvPr/>
        </p:nvSpPr>
        <p:spPr>
          <a:xfrm>
            <a:off x="5174196" y="1096119"/>
            <a:ext cx="348660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CONFORMAL VORTEX CONSTRUCTION</a:t>
            </a:r>
            <a:endParaRPr lang="en-US" sz="800" dirty="0"/>
          </a:p>
        </p:txBody>
      </p:sp>
      <p:sp>
        <p:nvSpPr>
          <p:cNvPr id="31" name="Text 23"/>
          <p:cNvSpPr/>
          <p:nvPr/>
        </p:nvSpPr>
        <p:spPr>
          <a:xfrm>
            <a:off x="5174196" y="1253282"/>
            <a:ext cx="3376873" cy="374266"/>
          </a:xfrm>
          <a:prstGeom prst="roundRect">
            <a:avLst>
              <a:gd name="adj" fmla="val 20360"/>
            </a:avLst>
          </a:prstGeom>
          <a:solidFill>
            <a:srgbClr val="0E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4"/>
          <p:cNvSpPr/>
          <p:nvPr/>
        </p:nvSpPr>
        <p:spPr>
          <a:xfrm>
            <a:off x="5174196" y="1253282"/>
            <a:ext cx="3376873" cy="404207"/>
          </a:xfrm>
          <a:prstGeom prst="rect">
            <a:avLst/>
          </a:prstGeom>
          <a:noFill/>
          <a:ln/>
        </p:spPr>
        <p:txBody>
          <a:bodyPr wrap="none" lIns="107156" tIns="85725" rIns="107156" bIns="85725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ζ(σ + iγ)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5174196" y="1698985"/>
            <a:ext cx="337687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Vortices are constructed conformally via the zeta function along vertical lines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+ iγ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8465" y="2244589"/>
            <a:ext cx="3648335" cy="2004157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042036" y="2248160"/>
            <a:ext cx="3641192" cy="1997013"/>
          </a:xfrm>
          <a:prstGeom prst="roundRect">
            <a:avLst>
              <a:gd name="adj" fmla="val 5724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7"/>
          <p:cNvSpPr/>
          <p:nvPr/>
        </p:nvSpPr>
        <p:spPr>
          <a:xfrm>
            <a:off x="5174196" y="2366032"/>
            <a:ext cx="3376873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PHYSICAL INTERPRETATION</a:t>
            </a:r>
            <a:endParaRPr lang="en-US" sz="800" dirty="0"/>
          </a:p>
        </p:txBody>
      </p:sp>
      <p:sp>
        <p:nvSpPr>
          <p:cNvPr id="37" name="Text 28"/>
          <p:cNvSpPr/>
          <p:nvPr/>
        </p:nvSpPr>
        <p:spPr>
          <a:xfrm>
            <a:off x="5174196" y="2523195"/>
            <a:ext cx="3376873" cy="1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critical line 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= 1/2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acts as the </a:t>
            </a:r>
            <a:pPr algn="l" indent="0" marL="0">
              <a:lnSpc>
                <a:spcPts val="1264"/>
              </a:lnSpc>
              <a:buNone/>
            </a:pPr>
            <a:r>
              <a:rPr lang="en-US" sz="816" b="1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boundary of GUE-universality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16" dirty="0"/>
          </a:p>
        </p:txBody>
      </p:sp>
      <p:sp>
        <p:nvSpPr>
          <p:cNvPr id="38" name="Text 29"/>
          <p:cNvSpPr/>
          <p:nvPr/>
        </p:nvSpPr>
        <p:spPr>
          <a:xfrm>
            <a:off x="5038465" y="4363045"/>
            <a:ext cx="3648335" cy="380405"/>
          </a:xfrm>
          <a:prstGeom prst="roundRect">
            <a:avLst>
              <a:gd name="adj" fmla="val 30047"/>
            </a:avLst>
          </a:prstGeom>
          <a:solidFill>
            <a:srgbClr val="10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0"/>
          <p:cNvSpPr/>
          <p:nvPr/>
        </p:nvSpPr>
        <p:spPr>
          <a:xfrm>
            <a:off x="5188483" y="4470202"/>
            <a:ext cx="3369729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Takeaway — RH gets a numerical </a:t>
            </a:r>
            <a:pPr algn="l" indent="0" marL="0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“physical” test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44" dirty="0"/>
          </a:p>
        </p:txBody>
      </p:sp>
      <p:sp>
        <p:nvSpPr>
          <p:cNvPr id="40" name="Text 31"/>
          <p:cNvSpPr/>
          <p:nvPr/>
        </p:nvSpPr>
        <p:spPr>
          <a:xfrm>
            <a:off x="0" y="4872038"/>
            <a:ext cx="9144000" cy="271463"/>
          </a:xfrm>
          <a:prstGeom prst="rect">
            <a:avLst/>
          </a:prstGeom>
          <a:solidFill>
            <a:srgbClr val="09111E">
              <a:alpha val="7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2"/>
          <p:cNvSpPr/>
          <p:nvPr/>
        </p:nvSpPr>
        <p:spPr>
          <a:xfrm>
            <a:off x="457200" y="4961334"/>
            <a:ext cx="773400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AB-Cloud </a:t>
            </a:r>
            <a:pPr algn="l" indent="0" marL="0">
              <a:buNone/>
            </a:pPr>
            <a:r>
              <a:rPr lang="en-US" sz="800" spc="68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Monograph v21 </a:t>
            </a:r>
            <a:pPr algn="l" indent="0" marL="0">
              <a:buNone/>
            </a:pPr>
            <a:r>
              <a:rPr lang="en-US" sz="800" spc="68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Author Edition</a:t>
            </a:r>
            <a:endParaRPr lang="en-US" sz="800" dirty="0"/>
          </a:p>
        </p:txBody>
      </p:sp>
      <p:sp>
        <p:nvSpPr>
          <p:cNvPr id="42" name="Text 33"/>
          <p:cNvSpPr/>
          <p:nvPr/>
        </p:nvSpPr>
        <p:spPr>
          <a:xfrm>
            <a:off x="8205490" y="4961334"/>
            <a:ext cx="48131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80390" y="4000500"/>
            <a:ext cx="2363610" cy="83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75"/>
              </a:lnSpc>
              <a:buNone/>
            </a:pPr>
            <a:r>
              <a:rPr lang="en-US" sz="6750" b="1" spc="-135" kern="0" dirty="0">
                <a:solidFill>
                  <a:srgbClr val="4FC3F7">
                    <a:alpha val="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E(k)</a:t>
            </a:r>
            <a:endParaRPr lang="en-US" sz="6750" dirty="0"/>
          </a:p>
        </p:txBody>
      </p:sp>
      <p:sp>
        <p:nvSpPr>
          <p:cNvPr id="4" name="Shape 1"/>
          <p:cNvSpPr/>
          <p:nvPr/>
        </p:nvSpPr>
        <p:spPr>
          <a:xfrm>
            <a:off x="0" y="4875609"/>
            <a:ext cx="91440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357188"/>
            <a:ext cx="863600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9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RESULTS · BLOCK 5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535781"/>
            <a:ext cx="8636000" cy="304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9"/>
              </a:lnSpc>
              <a:buNone/>
            </a:pPr>
            <a:r>
              <a:rPr lang="en-US" sz="1913" b="1" spc="-23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</a:t>
            </a:r>
            <a:pPr algn="l" indent="0" marL="0">
              <a:lnSpc>
                <a:spcPts val="2219"/>
              </a:lnSpc>
              <a:buNone/>
            </a:pPr>
            <a:r>
              <a:rPr lang="en-US" sz="1913" b="1" spc="-23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electron/positron</a:t>
            </a:r>
            <a:pPr algn="l" indent="0" marL="0">
              <a:lnSpc>
                <a:spcPts val="2219"/>
              </a:lnSpc>
              <a:buNone/>
            </a:pPr>
            <a:r>
              <a:rPr lang="en-US" sz="1913" b="1" spc="-23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model</a:t>
            </a:r>
            <a:endParaRPr lang="en-US" sz="1913" dirty="0"/>
          </a:p>
        </p:txBody>
      </p:sp>
      <p:sp>
        <p:nvSpPr>
          <p:cNvPr id="7" name="Text 4"/>
          <p:cNvSpPr/>
          <p:nvPr/>
        </p:nvSpPr>
        <p:spPr>
          <a:xfrm>
            <a:off x="460772" y="978247"/>
            <a:ext cx="3278981" cy="3761631"/>
          </a:xfrm>
          <a:prstGeom prst="roundRect">
            <a:avLst>
              <a:gd name="adj" fmla="val 3486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92931" y="1096119"/>
            <a:ext cx="312439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LINEAR DISPERSION — DIRAC CONE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6503" y="1342579"/>
            <a:ext cx="3007519" cy="2990106"/>
          </a:xfrm>
          <a:prstGeom prst="roundRect">
            <a:avLst>
              <a:gd name="adj" fmla="val 3186"/>
            </a:avLst>
          </a:prstGeom>
          <a:solidFill>
            <a:srgbClr val="0E1B2D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10034" y="2837631"/>
            <a:ext cx="2580456" cy="7144"/>
          </a:xfrm>
          <a:prstGeom prst="rect">
            <a:avLst/>
          </a:prstGeom>
          <a:solidFill>
            <a:srgbClr val="9DB2C9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100263" y="1614599"/>
            <a:ext cx="7144" cy="2446065"/>
          </a:xfrm>
          <a:prstGeom prst="rect">
            <a:avLst/>
          </a:prstGeom>
          <a:solidFill>
            <a:srgbClr val="9DB2C9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119" y="2239471"/>
            <a:ext cx="1053648" cy="624822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758" y="2839546"/>
            <a:ext cx="1053648" cy="624822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3119" y="2839546"/>
            <a:ext cx="1053648" cy="624822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758" y="2239471"/>
            <a:ext cx="1053648" cy="62482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064544" y="2801913"/>
            <a:ext cx="71438" cy="7143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16200000">
              <a:srgbClr val="4FC3F7">
                <a:alpha val="9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0"/>
          <p:cNvSpPr/>
          <p:nvPr/>
        </p:nvSpPr>
        <p:spPr>
          <a:xfrm>
            <a:off x="685800" y="1403300"/>
            <a:ext cx="91440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DB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800" dirty="0"/>
          </a:p>
        </p:txBody>
      </p:sp>
      <p:sp>
        <p:nvSpPr>
          <p:cNvPr id="18" name="Text 11"/>
          <p:cNvSpPr/>
          <p:nvPr/>
        </p:nvSpPr>
        <p:spPr>
          <a:xfrm>
            <a:off x="3458803" y="4164806"/>
            <a:ext cx="91440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DB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800" dirty="0"/>
          </a:p>
        </p:txBody>
      </p:sp>
      <p:sp>
        <p:nvSpPr>
          <p:cNvPr id="19" name="Text 12"/>
          <p:cNvSpPr/>
          <p:nvPr/>
        </p:nvSpPr>
        <p:spPr>
          <a:xfrm>
            <a:off x="3030401" y="1560463"/>
            <a:ext cx="570049" cy="148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= +v</a:t>
            </a:r>
            <a:pPr algn="l" indent="0" marL="0">
              <a:buNone/>
            </a:pPr>
            <a:r>
              <a:rPr lang="en-US" sz="800" baseline="-40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·k</a:t>
            </a:r>
            <a:endParaRPr lang="en-US" sz="800" dirty="0"/>
          </a:p>
        </p:txBody>
      </p:sp>
      <p:sp>
        <p:nvSpPr>
          <p:cNvPr id="20" name="Text 13"/>
          <p:cNvSpPr/>
          <p:nvPr/>
        </p:nvSpPr>
        <p:spPr>
          <a:xfrm>
            <a:off x="3030401" y="3989115"/>
            <a:ext cx="570049" cy="148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= −v</a:t>
            </a:r>
            <a:pPr algn="l" indent="0" marL="0">
              <a:buNone/>
            </a:pPr>
            <a:r>
              <a:rPr lang="en-US" sz="800" baseline="-400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buNone/>
            </a:pPr>
            <a:r>
              <a:rPr lang="en-US" sz="8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·k</a:t>
            </a:r>
            <a:endParaRPr lang="en-US" sz="800" dirty="0"/>
          </a:p>
        </p:txBody>
      </p:sp>
      <p:sp>
        <p:nvSpPr>
          <p:cNvPr id="21" name="Text 14"/>
          <p:cNvSpPr/>
          <p:nvPr/>
        </p:nvSpPr>
        <p:spPr>
          <a:xfrm>
            <a:off x="592931" y="4409980"/>
            <a:ext cx="548506" cy="224028"/>
          </a:xfrm>
          <a:prstGeom prst="roundRect">
            <a:avLst>
              <a:gd name="adj" fmla="val 4247449"/>
            </a:avLst>
          </a:prstGeom>
          <a:solidFill>
            <a:srgbClr val="4FC3F7">
              <a:alpha val="7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5"/>
          <p:cNvSpPr/>
          <p:nvPr/>
        </p:nvSpPr>
        <p:spPr>
          <a:xfrm>
            <a:off x="592931" y="4421981"/>
            <a:ext cx="54850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 = +1</a:t>
            </a:r>
            <a:endParaRPr lang="en-US" sz="800" dirty="0"/>
          </a:p>
        </p:txBody>
      </p:sp>
      <p:sp>
        <p:nvSpPr>
          <p:cNvPr id="23" name="Text 16"/>
          <p:cNvSpPr/>
          <p:nvPr/>
        </p:nvSpPr>
        <p:spPr>
          <a:xfrm>
            <a:off x="1212875" y="4409980"/>
            <a:ext cx="606549" cy="224028"/>
          </a:xfrm>
          <a:prstGeom prst="roundRect">
            <a:avLst>
              <a:gd name="adj" fmla="val 4247449"/>
            </a:avLst>
          </a:prstGeom>
          <a:solidFill>
            <a:srgbClr val="4FC3F7">
              <a:alpha val="7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7"/>
          <p:cNvSpPr/>
          <p:nvPr/>
        </p:nvSpPr>
        <p:spPr>
          <a:xfrm>
            <a:off x="1212875" y="4421981"/>
            <a:ext cx="60654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 = 1/2</a:t>
            </a:r>
            <a:endParaRPr lang="en-US" sz="800" dirty="0"/>
          </a:p>
        </p:txBody>
      </p:sp>
      <p:sp>
        <p:nvSpPr>
          <p:cNvPr id="25" name="Text 18"/>
          <p:cNvSpPr/>
          <p:nvPr/>
        </p:nvSpPr>
        <p:spPr>
          <a:xfrm>
            <a:off x="1890861" y="4409980"/>
            <a:ext cx="803114" cy="224028"/>
          </a:xfrm>
          <a:prstGeom prst="roundRect">
            <a:avLst>
              <a:gd name="adj" fmla="val 4247449"/>
            </a:avLst>
          </a:prstGeom>
          <a:solidFill>
            <a:srgbClr val="FFB74D">
              <a:alpha val="6000"/>
            </a:srgbClr>
          </a:solidFill>
          <a:ln w="7144">
            <a:solidFill>
              <a:srgbClr val="FFB7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1890861" y="4421981"/>
            <a:ext cx="171673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algn="l" indent="0" marL="0">
              <a:buNone/>
            </a:pPr>
            <a:r>
              <a:rPr lang="en-US" sz="800" baseline="-400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buNone/>
            </a:pPr>
            <a:r>
              <a:rPr lang="en-US" sz="8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800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≈ 0.125</a:t>
            </a:r>
            <a:endParaRPr lang="en-US" sz="8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7625" y="974675"/>
            <a:ext cx="4829175" cy="73703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861197" y="978247"/>
            <a:ext cx="4822031" cy="729890"/>
          </a:xfrm>
          <a:prstGeom prst="roundRect">
            <a:avLst>
              <a:gd name="adj" fmla="val 15660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1"/>
          <p:cNvSpPr/>
          <p:nvPr/>
        </p:nvSpPr>
        <p:spPr>
          <a:xfrm>
            <a:off x="3993356" y="1096119"/>
            <a:ext cx="4557713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RELATIVISTIC ANALOGUE</a:t>
            </a:r>
            <a:endParaRPr lang="en-US" sz="800" dirty="0"/>
          </a:p>
        </p:txBody>
      </p:sp>
      <p:sp>
        <p:nvSpPr>
          <p:cNvPr id="30" name="Text 22"/>
          <p:cNvSpPr/>
          <p:nvPr/>
        </p:nvSpPr>
        <p:spPr>
          <a:xfrm>
            <a:off x="3993356" y="1253282"/>
            <a:ext cx="4557713" cy="33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Vortex 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 = +1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at 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 = 1/2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→ linear dispersion 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E(k)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a Dirac cone with 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algn="l" indent="0" marL="0">
              <a:lnSpc>
                <a:spcPts val="1264"/>
              </a:lnSpc>
              <a:buNone/>
            </a:pPr>
            <a:r>
              <a:rPr lang="en-US" sz="800" baseline="-400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≈ 0.125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an analogue of a relativistic fermion.</a:t>
            </a:r>
            <a:endParaRPr lang="en-US" sz="816" dirty="0"/>
          </a:p>
        </p:txBody>
      </p:sp>
      <p:sp>
        <p:nvSpPr>
          <p:cNvPr id="31" name="Text 23"/>
          <p:cNvSpPr/>
          <p:nvPr/>
        </p:nvSpPr>
        <p:spPr>
          <a:xfrm>
            <a:off x="3861197" y="1829581"/>
            <a:ext cx="4822031" cy="2235436"/>
          </a:xfrm>
          <a:prstGeom prst="roundRect">
            <a:avLst>
              <a:gd name="adj" fmla="val 5113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4"/>
          <p:cNvSpPr/>
          <p:nvPr/>
        </p:nvSpPr>
        <p:spPr>
          <a:xfrm>
            <a:off x="3993356" y="1947453"/>
            <a:ext cx="4557713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NUMERICAL EXPERIMENTS</a:t>
            </a:r>
            <a:endParaRPr lang="en-US" sz="800" dirty="0"/>
          </a:p>
        </p:txBody>
      </p:sp>
      <p:sp>
        <p:nvSpPr>
          <p:cNvPr id="33" name="Text 25"/>
          <p:cNvSpPr/>
          <p:nvPr/>
        </p:nvSpPr>
        <p:spPr>
          <a:xfrm>
            <a:off x="3993356" y="2104616"/>
            <a:ext cx="4557713" cy="461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60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Vortex annihilation 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 = +1 / q = −1</a:t>
            </a:r>
            <a:endParaRPr lang="en-US" sz="816" dirty="0"/>
          </a:p>
          <a:p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60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Pair creation from the vacuum</a:t>
            </a:r>
            <a:endParaRPr lang="en-US" sz="816" dirty="0"/>
          </a:p>
        </p:txBody>
      </p:sp>
      <p:sp>
        <p:nvSpPr>
          <p:cNvPr id="34" name="Text 26"/>
          <p:cNvSpPr/>
          <p:nvPr/>
        </p:nvSpPr>
        <p:spPr>
          <a:xfrm>
            <a:off x="3861197" y="4186461"/>
            <a:ext cx="4822031" cy="553417"/>
          </a:xfrm>
          <a:prstGeom prst="roundRect">
            <a:avLst>
              <a:gd name="adj" fmla="val 20654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7"/>
          <p:cNvSpPr/>
          <p:nvPr/>
        </p:nvSpPr>
        <p:spPr>
          <a:xfrm>
            <a:off x="3993356" y="4304333"/>
            <a:ext cx="4557713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SYMMETRY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3993356" y="4461495"/>
            <a:ext cx="4667440" cy="160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Helicity and charge symmetry of the vortex pair.</a:t>
            </a:r>
            <a:endParaRPr lang="en-US" sz="816" dirty="0"/>
          </a:p>
        </p:txBody>
      </p:sp>
      <p:sp>
        <p:nvSpPr>
          <p:cNvPr id="37" name="Text 29"/>
          <p:cNvSpPr/>
          <p:nvPr/>
        </p:nvSpPr>
        <p:spPr>
          <a:xfrm>
            <a:off x="0" y="4872038"/>
            <a:ext cx="9144000" cy="271463"/>
          </a:xfrm>
          <a:prstGeom prst="rect">
            <a:avLst/>
          </a:prstGeom>
          <a:solidFill>
            <a:srgbClr val="09111E">
              <a:alpha val="7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457200" y="4961334"/>
            <a:ext cx="773400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AB-Cloud </a:t>
            </a:r>
            <a:pPr algn="l" indent="0" marL="0">
              <a:buNone/>
            </a:pPr>
            <a:r>
              <a:rPr lang="en-US" sz="800" spc="68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Monograph v21 </a:t>
            </a:r>
            <a:pPr algn="l" indent="0" marL="0">
              <a:buNone/>
            </a:pPr>
            <a:r>
              <a:rPr lang="en-US" sz="800" spc="68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Author Edition</a:t>
            </a:r>
            <a:endParaRPr lang="en-US" sz="800" dirty="0"/>
          </a:p>
        </p:txBody>
      </p:sp>
      <p:sp>
        <p:nvSpPr>
          <p:cNvPr id="39" name="Text 31"/>
          <p:cNvSpPr/>
          <p:nvPr/>
        </p:nvSpPr>
        <p:spPr>
          <a:xfrm>
            <a:off x="8205490" y="4961334"/>
            <a:ext cx="48131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63842" y="600075"/>
            <a:ext cx="1980158" cy="1319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619"/>
              </a:lnSpc>
              <a:buNone/>
            </a:pPr>
            <a:r>
              <a:rPr lang="en-US" sz="10688" b="1" spc="-214" kern="0" dirty="0">
                <a:solidFill>
                  <a:srgbClr val="4FC3F7">
                    <a:alpha val="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χ₂</a:t>
            </a:r>
            <a:endParaRPr lang="en-US" sz="10688" dirty="0"/>
          </a:p>
        </p:txBody>
      </p:sp>
      <p:sp>
        <p:nvSpPr>
          <p:cNvPr id="4" name="Shape 1"/>
          <p:cNvSpPr/>
          <p:nvPr/>
        </p:nvSpPr>
        <p:spPr>
          <a:xfrm>
            <a:off x="592931" y="1842641"/>
            <a:ext cx="7958138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547497" y="1839069"/>
            <a:ext cx="0" cy="374266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2931" y="2209763"/>
            <a:ext cx="7958138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3647" y="1839069"/>
            <a:ext cx="0" cy="374266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2931" y="3542965"/>
            <a:ext cx="3786188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75547" y="3539393"/>
            <a:ext cx="0" cy="356629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2931" y="3892451"/>
            <a:ext cx="3786188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3647" y="3539393"/>
            <a:ext cx="0" cy="356629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64881" y="3542965"/>
            <a:ext cx="3786188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547497" y="3539393"/>
            <a:ext cx="0" cy="356629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64881" y="3892451"/>
            <a:ext cx="3786188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75597" y="3539393"/>
            <a:ext cx="0" cy="356629"/>
          </a:xfrm>
          <a:prstGeom prst="line">
            <a:avLst/>
          </a:prstGeom>
          <a:noFill/>
          <a:ln w="21431">
            <a:solidFill>
              <a:srgbClr val="FFB74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75609"/>
            <a:ext cx="91440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57188"/>
            <a:ext cx="863600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9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SYNTHESIS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57200" y="535781"/>
            <a:ext cx="8636000" cy="304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9"/>
              </a:lnSpc>
              <a:buNone/>
            </a:pPr>
            <a:r>
              <a:rPr lang="en-US" sz="1913" b="1" spc="-23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ζ zeros as </a:t>
            </a:r>
            <a:pPr algn="l" indent="0" marL="0">
              <a:lnSpc>
                <a:spcPts val="2219"/>
              </a:lnSpc>
              <a:buNone/>
            </a:pPr>
            <a:r>
              <a:rPr lang="en-US" sz="1913" b="1" spc="-23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codes of allowed states</a:t>
            </a:r>
            <a:endParaRPr lang="en-US" sz="1913" dirty="0"/>
          </a:p>
        </p:txBody>
      </p:sp>
      <p:sp>
        <p:nvSpPr>
          <p:cNvPr id="19" name="Text 16"/>
          <p:cNvSpPr/>
          <p:nvPr/>
        </p:nvSpPr>
        <p:spPr>
          <a:xfrm>
            <a:off x="460772" y="978247"/>
            <a:ext cx="8222456" cy="464344"/>
          </a:xfrm>
          <a:prstGeom prst="roundRect">
            <a:avLst>
              <a:gd name="adj" fmla="val 24615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139790" y="1076174"/>
            <a:ext cx="696069" cy="268491"/>
          </a:xfrm>
          <a:prstGeom prst="roundRect">
            <a:avLst>
              <a:gd name="adj" fmla="val 28381"/>
            </a:avLst>
          </a:prstGeom>
          <a:solidFill>
            <a:srgbClr val="0E1B2D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139790" y="1088975"/>
            <a:ext cx="69606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PSL(2,7)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907296" y="1146125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4FC3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44" dirty="0"/>
          </a:p>
        </p:txBody>
      </p:sp>
      <p:sp>
        <p:nvSpPr>
          <p:cNvPr id="23" name="Text 20"/>
          <p:cNvSpPr/>
          <p:nvPr/>
        </p:nvSpPr>
        <p:spPr>
          <a:xfrm>
            <a:off x="4043251" y="1076174"/>
            <a:ext cx="756233" cy="268491"/>
          </a:xfrm>
          <a:prstGeom prst="roundRect">
            <a:avLst>
              <a:gd name="adj" fmla="val 28381"/>
            </a:avLst>
          </a:prstGeom>
          <a:solidFill>
            <a:srgbClr val="0E1B2D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043251" y="1088975"/>
            <a:ext cx="75623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{e, π, i}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870921" y="1146125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4FC3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44" dirty="0"/>
          </a:p>
        </p:txBody>
      </p:sp>
      <p:sp>
        <p:nvSpPr>
          <p:cNvPr id="26" name="Text 23"/>
          <p:cNvSpPr/>
          <p:nvPr/>
        </p:nvSpPr>
        <p:spPr>
          <a:xfrm>
            <a:off x="5006876" y="1076174"/>
            <a:ext cx="455191" cy="268491"/>
          </a:xfrm>
          <a:prstGeom prst="roundRect">
            <a:avLst>
              <a:gd name="adj" fmla="val 28381"/>
            </a:avLst>
          </a:prstGeom>
          <a:solidFill>
            <a:srgbClr val="0E1B2D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5006876" y="1088975"/>
            <a:ext cx="45519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ζ(s)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533504" y="1146125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4FC3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44" dirty="0"/>
          </a:p>
        </p:txBody>
      </p:sp>
      <p:sp>
        <p:nvSpPr>
          <p:cNvPr id="29" name="Text 26"/>
          <p:cNvSpPr/>
          <p:nvPr/>
        </p:nvSpPr>
        <p:spPr>
          <a:xfrm>
            <a:off x="5669459" y="1076174"/>
            <a:ext cx="334752" cy="268491"/>
          </a:xfrm>
          <a:prstGeom prst="roundRect">
            <a:avLst>
              <a:gd name="adj" fmla="val 28381"/>
            </a:avLst>
          </a:prstGeom>
          <a:solidFill>
            <a:srgbClr val="0E1B2D"/>
          </a:solidFill>
          <a:ln w="7144">
            <a:solidFill>
              <a:srgbClr val="FFB7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669459" y="1088975"/>
            <a:ext cx="33475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RH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60772" y="1564035"/>
            <a:ext cx="8222456" cy="767172"/>
          </a:xfrm>
          <a:prstGeom prst="roundRect">
            <a:avLst>
              <a:gd name="adj" fmla="val 14899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92931" y="1681907"/>
            <a:ext cx="79581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FFB7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RESTRICTION OF THE MONSTER CHARACTER Χ₂ (DIM 196883) TO PSL(2,7) · SUBGROUP #10 OF THE ATLAS · MONSTER M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92931" y="1839069"/>
            <a:ext cx="7958138" cy="374266"/>
          </a:xfrm>
          <a:prstGeom prst="roundRect">
            <a:avLst>
              <a:gd name="adj" fmla="val 20360"/>
            </a:avLst>
          </a:prstGeom>
          <a:solidFill>
            <a:srgbClr val="0E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592931" y="1839069"/>
            <a:ext cx="7958138" cy="374266"/>
          </a:xfrm>
          <a:prstGeom prst="rect">
            <a:avLst/>
          </a:prstGeom>
          <a:noFill/>
          <a:ln/>
        </p:spPr>
        <p:txBody>
          <a:bodyPr wrap="square" lIns="107156" tIns="85725" rIns="107156" bIns="85725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9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χ₂ ≈ 1456·1 + 3334·3 + 3334·3′ + 6784·6 + 8081·7 + 9770·8</a:t>
            </a:r>
            <a:endParaRPr lang="en-US" sz="900" dirty="0"/>
          </a:p>
        </p:txBody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49078"/>
            <a:ext cx="4057650" cy="2294372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460772" y="2452650"/>
            <a:ext cx="4050506" cy="2287228"/>
          </a:xfrm>
          <a:prstGeom prst="roundRect">
            <a:avLst>
              <a:gd name="adj" fmla="val 4997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592931" y="3296506"/>
            <a:ext cx="3786188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EQUIVALENCE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592931" y="3539393"/>
            <a:ext cx="3786188" cy="356629"/>
          </a:xfrm>
          <a:prstGeom prst="roundRect">
            <a:avLst>
              <a:gd name="adj" fmla="val 21367"/>
            </a:avLst>
          </a:prstGeom>
          <a:solidFill>
            <a:srgbClr val="0E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592931" y="3539393"/>
            <a:ext cx="3786188" cy="385160"/>
          </a:xfrm>
          <a:prstGeom prst="rect">
            <a:avLst/>
          </a:prstGeom>
          <a:noFill/>
          <a:ln/>
        </p:spPr>
        <p:txBody>
          <a:bodyPr wrap="square" lIns="107156" tIns="85725" rIns="107156" bIns="85725" rtlCol="0" anchor="t"/>
          <a:lstStyle/>
          <a:p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RH 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⟺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AB-cloud with ζ-codes 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∈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GUE-universal class</a:t>
            </a:r>
            <a:endParaRPr lang="en-US" sz="816" dirty="0"/>
          </a:p>
        </p:txBody>
      </p:sp>
      <p:sp>
        <p:nvSpPr>
          <p:cNvPr id="40" name="Text 36"/>
          <p:cNvSpPr/>
          <p:nvPr/>
        </p:nvSpPr>
        <p:spPr>
          <a:xfrm>
            <a:off x="4632722" y="2452650"/>
            <a:ext cx="4050506" cy="2287228"/>
          </a:xfrm>
          <a:prstGeom prst="roundRect">
            <a:avLst>
              <a:gd name="adj" fmla="val 4997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4764881" y="3296506"/>
            <a:ext cx="3786188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FFB7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CONSEQUENCE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4764881" y="3539393"/>
            <a:ext cx="3786188" cy="356629"/>
          </a:xfrm>
          <a:prstGeom prst="roundRect">
            <a:avLst>
              <a:gd name="adj" fmla="val 21367"/>
            </a:avLst>
          </a:prstGeom>
          <a:solidFill>
            <a:srgbClr val="0E1B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4764881" y="3539393"/>
            <a:ext cx="3786188" cy="385160"/>
          </a:xfrm>
          <a:prstGeom prst="rect">
            <a:avLst/>
          </a:prstGeom>
          <a:noFill/>
          <a:ln/>
        </p:spPr>
        <p:txBody>
          <a:bodyPr wrap="square" lIns="107156" tIns="85725" rIns="107156" bIns="85725" rtlCol="0" anchor="t"/>
          <a:lstStyle/>
          <a:p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 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⟹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R₂(0) = −1 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9DB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¬RH 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⟹</a:t>
            </a:r>
            <a:pPr algn="l" indent="0" marL="0">
              <a:lnSpc>
                <a:spcPts val="1346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R₂(0) &gt; −1</a:t>
            </a:r>
            <a:endParaRPr lang="en-US" sz="816" dirty="0"/>
          </a:p>
        </p:txBody>
      </p:sp>
      <p:sp>
        <p:nvSpPr>
          <p:cNvPr id="44" name="Text 40"/>
          <p:cNvSpPr/>
          <p:nvPr/>
        </p:nvSpPr>
        <p:spPr>
          <a:xfrm>
            <a:off x="0" y="4872038"/>
            <a:ext cx="9144000" cy="271463"/>
          </a:xfrm>
          <a:prstGeom prst="rect">
            <a:avLst/>
          </a:prstGeom>
          <a:solidFill>
            <a:srgbClr val="09111E">
              <a:alpha val="7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457200" y="4961334"/>
            <a:ext cx="773400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AB-Cloud </a:t>
            </a:r>
            <a:pPr algn="l" indent="0" marL="0">
              <a:buNone/>
            </a:pPr>
            <a:r>
              <a:rPr lang="en-US" sz="800" spc="68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Monograph v21 </a:t>
            </a:r>
            <a:pPr algn="l" indent="0" marL="0">
              <a:buNone/>
            </a:pPr>
            <a:r>
              <a:rPr lang="en-US" sz="800" spc="68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Author Edition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8205490" y="4961334"/>
            <a:ext cx="48131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7322" y="3361134"/>
            <a:ext cx="3136106" cy="3136106"/>
          </a:xfrm>
          <a:prstGeom prst="ellipse">
            <a:avLst/>
          </a:prstGeom>
          <a:noFill/>
          <a:ln w="7144">
            <a:solidFill>
              <a:srgbClr val="4FC3F7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940836" y="3400425"/>
            <a:ext cx="1203164" cy="1388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25"/>
              </a:lnSpc>
              <a:buNone/>
            </a:pPr>
            <a:r>
              <a:rPr lang="en-US" sz="11250" b="1" spc="-225" kern="0" dirty="0">
                <a:solidFill>
                  <a:srgbClr val="4FC3F7">
                    <a:alpha val="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</a:t>
            </a:r>
            <a:endParaRPr lang="en-US" sz="11250" dirty="0"/>
          </a:p>
        </p:txBody>
      </p:sp>
      <p:sp>
        <p:nvSpPr>
          <p:cNvPr id="5" name="Shape 2"/>
          <p:cNvSpPr/>
          <p:nvPr/>
        </p:nvSpPr>
        <p:spPr>
          <a:xfrm>
            <a:off x="457200" y="4289822"/>
            <a:ext cx="82296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3228" y="4286250"/>
            <a:ext cx="0" cy="45720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4739878"/>
            <a:ext cx="82296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67916" y="4286250"/>
            <a:ext cx="0" cy="457200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0" y="4875609"/>
            <a:ext cx="91440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57188"/>
            <a:ext cx="863600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9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HYPOTHESIS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57200" y="535781"/>
            <a:ext cx="8636000" cy="304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9"/>
              </a:lnSpc>
              <a:buNone/>
            </a:pPr>
            <a:r>
              <a:rPr lang="en-US" sz="1913" b="1" spc="-23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T-symmetry as the </a:t>
            </a:r>
            <a:pPr algn="l" indent="0" marL="0">
              <a:lnSpc>
                <a:spcPts val="2219"/>
              </a:lnSpc>
              <a:buNone/>
            </a:pPr>
            <a:r>
              <a:rPr lang="en-US" sz="1913" b="1" spc="-23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nature of GUE</a:t>
            </a:r>
            <a:endParaRPr lang="en-US" sz="1913" dirty="0"/>
          </a:p>
        </p:txBody>
      </p:sp>
      <p:sp>
        <p:nvSpPr>
          <p:cNvPr id="12" name="Text 9"/>
          <p:cNvSpPr/>
          <p:nvPr/>
        </p:nvSpPr>
        <p:spPr>
          <a:xfrm>
            <a:off x="460772" y="978247"/>
            <a:ext cx="4230774" cy="3190131"/>
          </a:xfrm>
          <a:prstGeom prst="roundRect">
            <a:avLst>
              <a:gd name="adj" fmla="val 3583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461133" y="1099691"/>
            <a:ext cx="2108969" cy="192881"/>
          </a:xfrm>
          <a:prstGeom prst="roundRect">
            <a:avLst>
              <a:gd name="adj" fmla="val 4933340"/>
            </a:avLst>
          </a:prstGeom>
          <a:solidFill>
            <a:srgbClr val="FFB74D">
              <a:alpha val="6000"/>
            </a:srgbClr>
          </a:solidFill>
          <a:ln w="7144">
            <a:solidFill>
              <a:srgbClr val="FFB7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457562" y="1096119"/>
            <a:ext cx="2116113" cy="227584"/>
          </a:xfrm>
          <a:prstGeom prst="rect">
            <a:avLst/>
          </a:prstGeom>
          <a:noFill/>
          <a:ln/>
        </p:spPr>
        <p:txBody>
          <a:bodyPr wrap="none" lIns="92869" tIns="35719" rIns="92869" bIns="35719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hypothesis · proposed by the user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92931" y="1939640"/>
            <a:ext cx="3966456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FFB7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BLACK-HOLE ANALOGY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92931" y="2168240"/>
            <a:ext cx="3143250" cy="447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25" spc="23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Violation of </a:t>
            </a:r>
            <a:pPr algn="l" indent="0" marL="0">
              <a:lnSpc>
                <a:spcPts val="1631"/>
              </a:lnSpc>
              <a:buNone/>
            </a:pPr>
            <a:r>
              <a:rPr lang="en-US" sz="1125" spc="23" kern="0" dirty="0">
                <a:solidFill>
                  <a:srgbClr val="FFB7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T-symmetry</a:t>
            </a:r>
            <a:pPr algn="l" indent="0" marL="0">
              <a:lnSpc>
                <a:spcPts val="1631"/>
              </a:lnSpc>
              <a:buNone/>
            </a:pPr>
            <a:r>
              <a:rPr lang="en-US" sz="1125" spc="23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is the cause of GUE statistics in the AB-cloud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592931" y="2725452"/>
            <a:ext cx="3286125" cy="520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By analogy with the black-hole sector, where T-violating processes govern quantum statistics, time-reversal breaking in the vortex cloud selects the GUE class.</a:t>
            </a:r>
            <a:endParaRPr lang="en-US" sz="816" dirty="0"/>
          </a:p>
        </p:txBody>
      </p:sp>
      <p:sp>
        <p:nvSpPr>
          <p:cNvPr id="18" name="Text 15"/>
          <p:cNvSpPr/>
          <p:nvPr/>
        </p:nvSpPr>
        <p:spPr>
          <a:xfrm>
            <a:off x="4812990" y="978247"/>
            <a:ext cx="3870238" cy="3190131"/>
          </a:xfrm>
          <a:prstGeom prst="roundRect">
            <a:avLst>
              <a:gd name="adj" fmla="val 3583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945149" y="1096119"/>
            <a:ext cx="371564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DYSON’S THREEFOLD WAY · 1962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948721" y="2123256"/>
            <a:ext cx="3598776" cy="300038"/>
          </a:xfrm>
          <a:prstGeom prst="roundRect">
            <a:avLst>
              <a:gd name="adj" fmla="val 31746"/>
            </a:avLst>
          </a:prstGeom>
          <a:solidFill>
            <a:srgbClr val="0E1B2D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052306" y="2205410"/>
            <a:ext cx="6172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523793" y="2205410"/>
            <a:ext cx="6858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 = 1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038143" y="2219697"/>
            <a:ext cx="241291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T-invariant · real symmetric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948721" y="2501875"/>
            <a:ext cx="3598776" cy="300038"/>
          </a:xfrm>
          <a:prstGeom prst="roundRect">
            <a:avLst>
              <a:gd name="adj" fmla="val 31746"/>
            </a:avLst>
          </a:prstGeom>
          <a:solidFill>
            <a:srgbClr val="4FC3F7">
              <a:alpha val="8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052306" y="2584028"/>
            <a:ext cx="6172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523793" y="2584028"/>
            <a:ext cx="6858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 = 2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038143" y="2598316"/>
            <a:ext cx="241291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T-violating · complex Hermitian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948721" y="2880494"/>
            <a:ext cx="3598776" cy="300038"/>
          </a:xfrm>
          <a:prstGeom prst="roundRect">
            <a:avLst>
              <a:gd name="adj" fmla="val 31746"/>
            </a:avLst>
          </a:prstGeom>
          <a:solidFill>
            <a:srgbClr val="0E1B2D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052306" y="2962647"/>
            <a:ext cx="6172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523793" y="2962647"/>
            <a:ext cx="6858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 = 4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038143" y="2976935"/>
            <a:ext cx="240576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DB2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T² = −1 · quaternionic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57200" y="4286250"/>
            <a:ext cx="8229600" cy="457200"/>
          </a:xfrm>
          <a:prstGeom prst="roundRect">
            <a:avLst>
              <a:gd name="adj" fmla="val 25000"/>
            </a:avLst>
          </a:prstGeom>
          <a:solidFill>
            <a:srgbClr val="10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2458120" y="4396978"/>
            <a:ext cx="1893205" cy="235744"/>
          </a:xfrm>
          <a:prstGeom prst="roundRect">
            <a:avLst>
              <a:gd name="adj" fmla="val 32323"/>
            </a:avLst>
          </a:prstGeom>
          <a:solidFill>
            <a:srgbClr val="0E1B2D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2454548" y="4393406"/>
            <a:ext cx="1936068" cy="242888"/>
          </a:xfrm>
          <a:prstGeom prst="rect">
            <a:avLst/>
          </a:prstGeom>
          <a:noFill/>
          <a:ln/>
        </p:spPr>
        <p:txBody>
          <a:bodyPr wrap="none" lIns="100013" tIns="57150" rIns="100013" bIns="5715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complex phases from vortices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426334" y="4450556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4FC3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44" dirty="0"/>
          </a:p>
        </p:txBody>
      </p:sp>
      <p:sp>
        <p:nvSpPr>
          <p:cNvPr id="36" name="Text 33"/>
          <p:cNvSpPr/>
          <p:nvPr/>
        </p:nvSpPr>
        <p:spPr>
          <a:xfrm>
            <a:off x="4562289" y="4380605"/>
            <a:ext cx="876672" cy="268491"/>
          </a:xfrm>
          <a:prstGeom prst="roundRect">
            <a:avLst>
              <a:gd name="adj" fmla="val 28381"/>
            </a:avLst>
          </a:prstGeom>
          <a:solidFill>
            <a:srgbClr val="0E1B2D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4562289" y="4393406"/>
            <a:ext cx="87667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T-violation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510399" y="4450556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4FC3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44" dirty="0"/>
          </a:p>
        </p:txBody>
      </p:sp>
      <p:sp>
        <p:nvSpPr>
          <p:cNvPr id="39" name="Text 36"/>
          <p:cNvSpPr/>
          <p:nvPr/>
        </p:nvSpPr>
        <p:spPr>
          <a:xfrm>
            <a:off x="5646353" y="4380605"/>
            <a:ext cx="1057387" cy="268491"/>
          </a:xfrm>
          <a:prstGeom prst="roundRect">
            <a:avLst>
              <a:gd name="adj" fmla="val 28381"/>
            </a:avLst>
          </a:prstGeom>
          <a:solidFill>
            <a:srgbClr val="0E1B2D"/>
          </a:solidFill>
          <a:ln w="7144">
            <a:solidFill>
              <a:srgbClr val="FFB7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5646353" y="4393406"/>
            <a:ext cx="105738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 statistics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0" y="4872038"/>
            <a:ext cx="9144000" cy="271463"/>
          </a:xfrm>
          <a:prstGeom prst="rect">
            <a:avLst/>
          </a:prstGeom>
          <a:solidFill>
            <a:srgbClr val="09111E">
              <a:alpha val="7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457200" y="4961334"/>
            <a:ext cx="773400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AB-Cloud </a:t>
            </a:r>
            <a:pPr algn="l" indent="0" marL="0">
              <a:buNone/>
            </a:pPr>
            <a:r>
              <a:rPr lang="en-US" sz="800" spc="68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Monograph v21 </a:t>
            </a:r>
            <a:pPr algn="l" indent="0" marL="0">
              <a:buNone/>
            </a:pPr>
            <a:r>
              <a:rPr lang="en-US" sz="800" spc="68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Author Edition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8205490" y="4961334"/>
            <a:ext cx="48131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58732" y="685800"/>
            <a:ext cx="1785268" cy="1180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06"/>
              </a:lnSpc>
              <a:buNone/>
            </a:pPr>
            <a:r>
              <a:rPr lang="en-US" sz="9563" b="1" spc="-191" kern="0" dirty="0">
                <a:solidFill>
                  <a:srgbClr val="4FC3F7">
                    <a:alpha val="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Σ²</a:t>
            </a:r>
            <a:endParaRPr lang="en-US" sz="9563" dirty="0"/>
          </a:p>
        </p:txBody>
      </p:sp>
      <p:sp>
        <p:nvSpPr>
          <p:cNvPr id="4" name="Shape 1"/>
          <p:cNvSpPr/>
          <p:nvPr/>
        </p:nvSpPr>
        <p:spPr>
          <a:xfrm>
            <a:off x="0" y="4875609"/>
            <a:ext cx="91440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357188"/>
            <a:ext cx="863600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9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VERIFICATION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535781"/>
            <a:ext cx="8636000" cy="304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9"/>
              </a:lnSpc>
              <a:buNone/>
            </a:pPr>
            <a:r>
              <a:rPr lang="en-US" sz="1913" b="1" spc="-23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Verification </a:t>
            </a:r>
            <a:pPr algn="l" indent="0" marL="0">
              <a:lnSpc>
                <a:spcPts val="2219"/>
              </a:lnSpc>
              <a:buNone/>
            </a:pPr>
            <a:r>
              <a:rPr lang="en-US" sz="1913" b="1" spc="-23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infrastructure</a:t>
            </a:r>
            <a:endParaRPr lang="en-US" sz="1913" dirty="0"/>
          </a:p>
        </p:txBody>
      </p:sp>
      <p:sp>
        <p:nvSpPr>
          <p:cNvPr id="7" name="Text 4"/>
          <p:cNvSpPr/>
          <p:nvPr/>
        </p:nvSpPr>
        <p:spPr>
          <a:xfrm>
            <a:off x="460772" y="978247"/>
            <a:ext cx="1975247" cy="681447"/>
          </a:xfrm>
          <a:prstGeom prst="roundRect">
            <a:avLst>
              <a:gd name="adj" fmla="val 16773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92931" y="1096119"/>
            <a:ext cx="1710928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V01–V115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92931" y="1346150"/>
            <a:ext cx="1710928" cy="159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spc="95" kern="0" dirty="0">
                <a:solidFill>
                  <a:srgbClr val="9DB2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FULL RUN · 115 EXPERIMENTS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543175" y="978247"/>
            <a:ext cx="1975247" cy="681447"/>
          </a:xfrm>
          <a:prstGeom prst="roundRect">
            <a:avLst>
              <a:gd name="adj" fmla="val 16773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675334" y="1096119"/>
            <a:ext cx="1710928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675334" y="1417588"/>
            <a:ext cx="1710928" cy="124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spc="95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TASKS IN ONE RUN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625578" y="978247"/>
            <a:ext cx="1975247" cy="681447"/>
          </a:xfrm>
          <a:prstGeom prst="roundRect">
            <a:avLst>
              <a:gd name="adj" fmla="val 16773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757738" y="1096119"/>
            <a:ext cx="1710928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757738" y="1417588"/>
            <a:ext cx="1710928" cy="124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spc="95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CRASHES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707981" y="978247"/>
            <a:ext cx="1975247" cy="681447"/>
          </a:xfrm>
          <a:prstGeom prst="roundRect">
            <a:avLst>
              <a:gd name="adj" fmla="val 16773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840141" y="1096119"/>
            <a:ext cx="1710928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220.55 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840141" y="1417588"/>
            <a:ext cx="1710928" cy="124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spc="95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TOTAL TIME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57200" y="1765564"/>
            <a:ext cx="1071004" cy="224028"/>
          </a:xfrm>
          <a:prstGeom prst="roundRect">
            <a:avLst>
              <a:gd name="adj" fmla="val 4247449"/>
            </a:avLst>
          </a:prstGeom>
          <a:solidFill>
            <a:srgbClr val="4FC3F7">
              <a:alpha val="7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57200" y="1777566"/>
            <a:ext cx="107100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Julia v12 / v13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599642" y="1765564"/>
            <a:ext cx="1419374" cy="224028"/>
          </a:xfrm>
          <a:prstGeom prst="roundRect">
            <a:avLst>
              <a:gd name="adj" fmla="val 4247449"/>
            </a:avLst>
          </a:prstGeom>
          <a:solidFill>
            <a:srgbClr val="FFB74D">
              <a:alpha val="6000"/>
            </a:srgbClr>
          </a:solidFill>
          <a:ln w="7144">
            <a:solidFill>
              <a:srgbClr val="FFB7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1599642" y="1777566"/>
            <a:ext cx="141937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full run · 2026-06-23</a:t>
            </a:r>
            <a:endParaRPr lang="en-US" sz="8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91891"/>
            <a:ext cx="2666963" cy="2651559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60772" y="2095463"/>
            <a:ext cx="2659819" cy="2644415"/>
          </a:xfrm>
          <a:prstGeom prst="roundRect">
            <a:avLst>
              <a:gd name="adj" fmla="val 4322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592931" y="2213335"/>
            <a:ext cx="239550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CERTIFICATION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592931" y="2427647"/>
            <a:ext cx="2505228" cy="13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2" spc="17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Zero certification via mpmath</a:t>
            </a:r>
            <a:endParaRPr lang="en-US" sz="872" dirty="0"/>
          </a:p>
        </p:txBody>
      </p:sp>
      <p:sp>
        <p:nvSpPr>
          <p:cNvPr id="27" name="Text 23"/>
          <p:cNvSpPr/>
          <p:nvPr/>
        </p:nvSpPr>
        <p:spPr>
          <a:xfrm>
            <a:off x="592931" y="2656247"/>
            <a:ext cx="2395500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ζ zero is certified with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mpmath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to 50 digits before entering the statistics.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3242035" y="2095463"/>
            <a:ext cx="2659819" cy="2644415"/>
          </a:xfrm>
          <a:prstGeom prst="roundRect">
            <a:avLst>
              <a:gd name="adj" fmla="val 4322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3374194" y="2213335"/>
            <a:ext cx="239550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REPRODUCIBILITY BY SEED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3377766" y="2445507"/>
            <a:ext cx="2388357" cy="264319"/>
          </a:xfrm>
          <a:prstGeom prst="roundRect">
            <a:avLst>
              <a:gd name="adj" fmla="val 36036"/>
            </a:avLst>
          </a:prstGeom>
          <a:solidFill>
            <a:srgbClr val="0E1B2D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3467063" y="2524088"/>
            <a:ext cx="91744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V13 · seed = 2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4360143" y="2520516"/>
            <a:ext cx="84692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⟨r⟩ = 0.5875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5176908" y="2524088"/>
            <a:ext cx="51595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3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dev 2.02%</a:t>
            </a:r>
            <a:endParaRPr lang="en-US" sz="703" dirty="0"/>
          </a:p>
        </p:txBody>
      </p:sp>
      <p:sp>
        <p:nvSpPr>
          <p:cNvPr id="34" name="Text 30"/>
          <p:cNvSpPr/>
          <p:nvPr/>
        </p:nvSpPr>
        <p:spPr>
          <a:xfrm>
            <a:off x="3377766" y="2788407"/>
            <a:ext cx="2388357" cy="378619"/>
          </a:xfrm>
          <a:prstGeom prst="roundRect">
            <a:avLst>
              <a:gd name="adj" fmla="val 25157"/>
            </a:avLst>
          </a:prstGeom>
          <a:solidFill>
            <a:srgbClr val="0E1B2D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3467063" y="2870560"/>
            <a:ext cx="119477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V32 · ζ zeros, N=1000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4549360" y="2863416"/>
            <a:ext cx="75249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⟨r⟩ = 0.6170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5208832" y="2870560"/>
            <a:ext cx="5159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3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dev 2.91%</a:t>
            </a:r>
            <a:endParaRPr lang="en-US" sz="703" dirty="0"/>
          </a:p>
        </p:txBody>
      </p:sp>
      <p:sp>
        <p:nvSpPr>
          <p:cNvPr id="38" name="Text 34"/>
          <p:cNvSpPr/>
          <p:nvPr/>
        </p:nvSpPr>
        <p:spPr>
          <a:xfrm>
            <a:off x="6023297" y="2095463"/>
            <a:ext cx="2659931" cy="2644415"/>
          </a:xfrm>
          <a:prstGeom prst="roundRect">
            <a:avLst>
              <a:gd name="adj" fmla="val 4322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6155457" y="2213335"/>
            <a:ext cx="239561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POINT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6155457" y="2427647"/>
            <a:ext cx="2395612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72" spc="17" kern="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Pure Hofstadter — V30</a:t>
            </a:r>
            <a:endParaRPr lang="en-US" sz="872" dirty="0"/>
          </a:p>
        </p:txBody>
      </p:sp>
      <p:sp>
        <p:nvSpPr>
          <p:cNvPr id="41" name="Text 37"/>
          <p:cNvSpPr/>
          <p:nvPr/>
        </p:nvSpPr>
        <p:spPr>
          <a:xfrm>
            <a:off x="6155457" y="2656247"/>
            <a:ext cx="2395612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Comparison of the vortex cloud against the pure Hofstadter model without vortex phases.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0" y="4872038"/>
            <a:ext cx="9144000" cy="271463"/>
          </a:xfrm>
          <a:prstGeom prst="rect">
            <a:avLst/>
          </a:prstGeom>
          <a:solidFill>
            <a:srgbClr val="09111E">
              <a:alpha val="7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457200" y="4961334"/>
            <a:ext cx="773400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AB-Cloud </a:t>
            </a:r>
            <a:pPr algn="l" indent="0" marL="0">
              <a:buNone/>
            </a:pPr>
            <a:r>
              <a:rPr lang="en-US" sz="800" spc="68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Monograph v21 </a:t>
            </a:r>
            <a:pPr algn="l" indent="0" marL="0">
              <a:buNone/>
            </a:pPr>
            <a:r>
              <a:rPr lang="en-US" sz="800" spc="68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Author Edition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8205490" y="4961334"/>
            <a:ext cx="48131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28361" y="3714750"/>
            <a:ext cx="3515639" cy="111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9000" b="1" spc="-180" kern="0" dirty="0">
                <a:solidFill>
                  <a:srgbClr val="4FC3F7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D.12</a:t>
            </a:r>
            <a:endParaRPr lang="en-US" sz="9000" dirty="0"/>
          </a:p>
        </p:txBody>
      </p:sp>
      <p:sp>
        <p:nvSpPr>
          <p:cNvPr id="4" name="Shape 1"/>
          <p:cNvSpPr/>
          <p:nvPr/>
        </p:nvSpPr>
        <p:spPr>
          <a:xfrm>
            <a:off x="0" y="4875609"/>
            <a:ext cx="91440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357188"/>
            <a:ext cx="863600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9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 PROBLEMS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535781"/>
            <a:ext cx="8636000" cy="304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9"/>
              </a:lnSpc>
              <a:buNone/>
            </a:pPr>
            <a:r>
              <a:rPr lang="en-US" sz="1913" b="1" spc="-23" kern="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open problems </a:t>
            </a:r>
            <a:pPr algn="l" indent="0" marL="0">
              <a:lnSpc>
                <a:spcPts val="2219"/>
              </a:lnSpc>
              <a:buNone/>
            </a:pPr>
            <a:r>
              <a:rPr lang="en-US" sz="1913" b="1" spc="-23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D.1–D.12</a:t>
            </a:r>
            <a:pPr algn="l" indent="0" marL="0">
              <a:lnSpc>
                <a:spcPts val="2219"/>
              </a:lnSpc>
              <a:buNone/>
            </a:pPr>
            <a:r>
              <a:rPr lang="en-US" sz="1913" b="1" spc="-23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(Julia verification)</a:t>
            </a:r>
            <a:endParaRPr lang="en-US" sz="1913" dirty="0"/>
          </a:p>
        </p:txBody>
      </p:sp>
      <p:sp>
        <p:nvSpPr>
          <p:cNvPr id="7" name="Text 4"/>
          <p:cNvSpPr/>
          <p:nvPr/>
        </p:nvSpPr>
        <p:spPr>
          <a:xfrm>
            <a:off x="460772" y="978247"/>
            <a:ext cx="2659819" cy="2746660"/>
          </a:xfrm>
          <a:prstGeom prst="roundRect">
            <a:avLst>
              <a:gd name="adj" fmla="val 4297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96503" y="1099691"/>
            <a:ext cx="235744" cy="235744"/>
          </a:xfrm>
          <a:prstGeom prst="roundRect">
            <a:avLst>
              <a:gd name="adj" fmla="val 36364"/>
            </a:avLst>
          </a:prstGeom>
          <a:solidFill>
            <a:srgbClr val="4FC3F7">
              <a:alpha val="10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92931" y="1096119"/>
            <a:ext cx="28575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44" dirty="0"/>
          </a:p>
        </p:txBody>
      </p:sp>
      <p:sp>
        <p:nvSpPr>
          <p:cNvPr id="10" name="Text 7"/>
          <p:cNvSpPr/>
          <p:nvPr/>
        </p:nvSpPr>
        <p:spPr>
          <a:xfrm>
            <a:off x="921544" y="1167557"/>
            <a:ext cx="2066888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FFB7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CRITICAL MATHEMATICAL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92931" y="1424732"/>
            <a:ext cx="2395500" cy="461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60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Regulators for the vortex sums</a:t>
            </a:r>
            <a:endParaRPr lang="en-US" sz="816" dirty="0"/>
          </a:p>
          <a:p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60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 coefficient of the potential</a:t>
            </a:r>
            <a:endParaRPr lang="en-US" sz="816" dirty="0"/>
          </a:p>
        </p:txBody>
      </p:sp>
      <p:sp>
        <p:nvSpPr>
          <p:cNvPr id="12" name="Text 9"/>
          <p:cNvSpPr/>
          <p:nvPr/>
        </p:nvSpPr>
        <p:spPr>
          <a:xfrm>
            <a:off x="3242035" y="978247"/>
            <a:ext cx="2659819" cy="2746660"/>
          </a:xfrm>
          <a:prstGeom prst="roundRect">
            <a:avLst>
              <a:gd name="adj" fmla="val 4297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377766" y="1099691"/>
            <a:ext cx="235744" cy="235744"/>
          </a:xfrm>
          <a:prstGeom prst="roundRect">
            <a:avLst>
              <a:gd name="adj" fmla="val 36364"/>
            </a:avLst>
          </a:prstGeom>
          <a:solidFill>
            <a:srgbClr val="4FC3F7">
              <a:alpha val="10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374194" y="1096119"/>
            <a:ext cx="28575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44" dirty="0"/>
          </a:p>
        </p:txBody>
      </p:sp>
      <p:sp>
        <p:nvSpPr>
          <p:cNvPr id="15" name="Text 12"/>
          <p:cNvSpPr/>
          <p:nvPr/>
        </p:nvSpPr>
        <p:spPr>
          <a:xfrm>
            <a:off x="3702807" y="1167557"/>
            <a:ext cx="2066888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FFB7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NUMERICAL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374194" y="1424732"/>
            <a:ext cx="2395500" cy="694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60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Σ²(L)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Δ₃(L)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statistics</a:t>
            </a:r>
            <a:endParaRPr lang="en-US" sz="816" dirty="0"/>
          </a:p>
          <a:p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60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GUE ensemble fitting</a:t>
            </a:r>
            <a:endParaRPr lang="en-US" sz="816" dirty="0"/>
          </a:p>
          <a:p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60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Permutation test</a:t>
            </a:r>
            <a:endParaRPr lang="en-US" sz="816" dirty="0"/>
          </a:p>
        </p:txBody>
      </p:sp>
      <p:sp>
        <p:nvSpPr>
          <p:cNvPr id="17" name="Text 14"/>
          <p:cNvSpPr/>
          <p:nvPr/>
        </p:nvSpPr>
        <p:spPr>
          <a:xfrm>
            <a:off x="6023297" y="978247"/>
            <a:ext cx="2659931" cy="2746660"/>
          </a:xfrm>
          <a:prstGeom prst="roundRect">
            <a:avLst>
              <a:gd name="adj" fmla="val 4297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159029" y="1099691"/>
            <a:ext cx="235744" cy="235744"/>
          </a:xfrm>
          <a:prstGeom prst="roundRect">
            <a:avLst>
              <a:gd name="adj" fmla="val 36364"/>
            </a:avLst>
          </a:prstGeom>
          <a:solidFill>
            <a:srgbClr val="4FC3F7">
              <a:alpha val="10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155457" y="1096119"/>
            <a:ext cx="28575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44" dirty="0"/>
          </a:p>
        </p:txBody>
      </p:sp>
      <p:sp>
        <p:nvSpPr>
          <p:cNvPr id="20" name="Text 17"/>
          <p:cNvSpPr/>
          <p:nvPr/>
        </p:nvSpPr>
        <p:spPr>
          <a:xfrm>
            <a:off x="6484069" y="1167557"/>
            <a:ext cx="2066999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FFB7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PHYSICAL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55457" y="1424732"/>
            <a:ext cx="2395612" cy="468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60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IPR ~ W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00" baseline="3000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1.8727</a:t>
            </a:r>
            <a:endParaRPr lang="en-US" sz="816" dirty="0"/>
          </a:p>
          <a:p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60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Bootstrap 95% CI 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[1.8568, 1.8690]</a:t>
            </a:r>
            <a:endParaRPr lang="en-US" sz="816" dirty="0"/>
          </a:p>
        </p:txBody>
      </p:sp>
      <p:sp>
        <p:nvSpPr>
          <p:cNvPr id="22" name="Text 19"/>
          <p:cNvSpPr/>
          <p:nvPr/>
        </p:nvSpPr>
        <p:spPr>
          <a:xfrm>
            <a:off x="460772" y="3846351"/>
            <a:ext cx="1975247" cy="893527"/>
          </a:xfrm>
          <a:prstGeom prst="roundRect">
            <a:avLst>
              <a:gd name="adj" fmla="val 12792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92931" y="3964223"/>
            <a:ext cx="1710928" cy="199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69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γ</a:t>
            </a:r>
            <a:pPr algn="l" indent="0" marL="0">
              <a:buNone/>
            </a:pPr>
            <a:r>
              <a:rPr lang="en-US" sz="800" baseline="-40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pPr algn="l" indent="0" marL="0">
              <a:buNone/>
            </a:pPr>
            <a:r>
              <a:rPr lang="en-US" sz="1069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= −1.030</a:t>
            </a:r>
            <a:endParaRPr lang="en-US" sz="1069" dirty="0"/>
          </a:p>
        </p:txBody>
      </p:sp>
      <p:sp>
        <p:nvSpPr>
          <p:cNvPr id="24" name="Text 21"/>
          <p:cNvSpPr/>
          <p:nvPr/>
        </p:nvSpPr>
        <p:spPr>
          <a:xfrm>
            <a:off x="592931" y="4191372"/>
            <a:ext cx="1710928" cy="263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TOPOLOGICAL ENTANGLEMENT ENTROPY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92931" y="4482703"/>
            <a:ext cx="171092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vs −ln 2 ≈ −0.693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2543175" y="3846351"/>
            <a:ext cx="1975247" cy="893527"/>
          </a:xfrm>
          <a:prstGeom prst="roundRect">
            <a:avLst>
              <a:gd name="adj" fmla="val 12792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2675334" y="3964223"/>
            <a:ext cx="1710928" cy="199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69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l" indent="0" marL="0">
              <a:buNone/>
            </a:pPr>
            <a:r>
              <a:rPr lang="en-US" sz="800" baseline="-40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</a:t>
            </a:r>
            <a:pPr algn="l" indent="0" marL="0">
              <a:buNone/>
            </a:pPr>
            <a:r>
              <a:rPr lang="en-US" sz="1069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= 0.551</a:t>
            </a:r>
            <a:endParaRPr lang="en-US" sz="1069" dirty="0"/>
          </a:p>
        </p:txBody>
      </p:sp>
      <p:sp>
        <p:nvSpPr>
          <p:cNvPr id="28" name="Text 25"/>
          <p:cNvSpPr/>
          <p:nvPr/>
        </p:nvSpPr>
        <p:spPr>
          <a:xfrm>
            <a:off x="2675334" y="4191372"/>
            <a:ext cx="1710928" cy="1396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CFT CENTRAL CHARGE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2675334" y="4358469"/>
            <a:ext cx="17109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DB2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vs c = 1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625578" y="3846351"/>
            <a:ext cx="1975247" cy="893527"/>
          </a:xfrm>
          <a:prstGeom prst="roundRect">
            <a:avLst>
              <a:gd name="adj" fmla="val 12792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757738" y="3964223"/>
            <a:ext cx="1710928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69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D₂ = −1.835</a:t>
            </a:r>
            <a:endParaRPr lang="en-US" sz="1069" dirty="0"/>
          </a:p>
        </p:txBody>
      </p:sp>
      <p:sp>
        <p:nvSpPr>
          <p:cNvPr id="32" name="Text 29"/>
          <p:cNvSpPr/>
          <p:nvPr/>
        </p:nvSpPr>
        <p:spPr>
          <a:xfrm>
            <a:off x="4757738" y="4164248"/>
            <a:ext cx="1710928" cy="159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CENTRAL STATE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707981" y="3846351"/>
            <a:ext cx="1975247" cy="893527"/>
          </a:xfrm>
          <a:prstGeom prst="roundRect">
            <a:avLst>
              <a:gd name="adj" fmla="val 12792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6840141" y="3964223"/>
            <a:ext cx="1710928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69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[3.2263, 3.2408]</a:t>
            </a:r>
            <a:endParaRPr lang="en-US" sz="1069" dirty="0"/>
          </a:p>
        </p:txBody>
      </p:sp>
      <p:sp>
        <p:nvSpPr>
          <p:cNvPr id="35" name="Text 32"/>
          <p:cNvSpPr/>
          <p:nvPr/>
        </p:nvSpPr>
        <p:spPr>
          <a:xfrm>
            <a:off x="6840141" y="4164248"/>
            <a:ext cx="1710928" cy="159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spc="68" kern="0" dirty="0">
                <a:solidFill>
                  <a:srgbClr val="9DB2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KLEIN BTZ PERIOD · 95% CI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0" y="4872038"/>
            <a:ext cx="9144000" cy="271463"/>
          </a:xfrm>
          <a:prstGeom prst="rect">
            <a:avLst/>
          </a:prstGeom>
          <a:solidFill>
            <a:srgbClr val="09111E">
              <a:alpha val="7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457200" y="4961334"/>
            <a:ext cx="773400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AB-Cloud </a:t>
            </a:r>
            <a:pPr algn="l" indent="0" marL="0">
              <a:buNone/>
            </a:pPr>
            <a:r>
              <a:rPr lang="en-US" sz="800" spc="68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Monograph v21 </a:t>
            </a:r>
            <a:pPr algn="l" indent="0" marL="0">
              <a:buNone/>
            </a:pPr>
            <a:r>
              <a:rPr lang="en-US" sz="800" spc="68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Author Edition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205490" y="4961334"/>
            <a:ext cx="48131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 / 16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64579" y="600075"/>
            <a:ext cx="2679421" cy="111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9000" b="1" spc="-180" kern="0" dirty="0">
                <a:solidFill>
                  <a:srgbClr val="4FC3F7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B.2</a:t>
            </a:r>
            <a:endParaRPr lang="en-US" sz="9000" dirty="0"/>
          </a:p>
        </p:txBody>
      </p:sp>
      <p:sp>
        <p:nvSpPr>
          <p:cNvPr id="4" name="Shape 1"/>
          <p:cNvSpPr/>
          <p:nvPr/>
        </p:nvSpPr>
        <p:spPr>
          <a:xfrm>
            <a:off x="0" y="4875609"/>
            <a:ext cx="91440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357188"/>
            <a:ext cx="863600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9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APPENDIX · TABLE B.2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535781"/>
            <a:ext cx="8636000" cy="304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19"/>
              </a:lnSpc>
              <a:buNone/>
            </a:pPr>
            <a:r>
              <a:rPr lang="en-US" sz="1913" b="1" spc="-23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Verification </a:t>
            </a:r>
            <a:pPr algn="l" indent="0" marL="0">
              <a:lnSpc>
                <a:spcPts val="2219"/>
              </a:lnSpc>
              <a:buNone/>
            </a:pPr>
            <a:r>
              <a:rPr lang="en-US" sz="1913" b="1" spc="-23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tables</a:t>
            </a:r>
            <a:endParaRPr lang="en-US" sz="1913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74675"/>
          <a:ext cx="8229600" cy="914400"/>
        </p:xfrm>
        <a:graphic>
          <a:graphicData uri="http://schemas.openxmlformats.org/drawingml/2006/table">
            <a:tbl>
              <a:tblPr/>
              <a:tblGrid>
                <a:gridCol w="565026"/>
                <a:gridCol w="4585618"/>
                <a:gridCol w="1071563"/>
                <a:gridCol w="200025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DB2C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Block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DB2C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Object / test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DB2C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Key metric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DB2C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Result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4FC3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816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E8EE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Klein quartic · 64 spinor structures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idx = 38</a:t>
                      </a:r>
                      <a:endParaRPr lang="en-US" sz="816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= 0.598 · Z = 14.10</a:t>
                      </a:r>
                      <a:endParaRPr lang="en-US" sz="816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4FC3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816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E8EE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Geometry independence — torus vs Klein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⟨r⟩</a:t>
                      </a:r>
                      <a:endParaRPr lang="en-US" sz="816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≈ 0.937 (both)</a:t>
                      </a:r>
                      <a:endParaRPr lang="en-US" sz="816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4FC3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816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E8EE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Montgomery test — AB-cloud vs ζ zeros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KS</a:t>
                      </a:r>
                      <a:endParaRPr lang="en-US" sz="816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0.047 (p = 0.27)</a:t>
                      </a:r>
                      <a:endParaRPr lang="en-US" sz="816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4FC3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816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E8EE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Critical line optimality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σ</a:t>
                      </a:r>
                      <a:endParaRPr lang="en-US" sz="816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1/2 → KS = 0.152</a:t>
                      </a:r>
                      <a:endParaRPr lang="en-US" sz="816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4FC3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816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E8EE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Electron/positron vortex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vF</a:t>
                      </a:r>
                      <a:endParaRPr lang="en-US" sz="816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≈ 0.125 — Dirac cone</a:t>
                      </a:r>
                      <a:endParaRPr lang="en-US" sz="816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FFB7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</a:t>
                      </a:r>
                      <a:endParaRPr lang="en-US" sz="816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E8EEF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Synthesis — ζ codes ↔ GUE-universality</a:t>
                      </a:r>
                      <a:endParaRPr lang="en-US" sz="816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E8EE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R₂(0)</a:t>
                      </a:r>
                      <a:endParaRPr lang="en-US" sz="816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FFB7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−1 ⟺ RH</a:t>
                      </a:r>
                      <a:endParaRPr lang="en-US" sz="816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60772" y="2927710"/>
            <a:ext cx="2659819" cy="1812168"/>
          </a:xfrm>
          <a:prstGeom prst="roundRect">
            <a:avLst>
              <a:gd name="adj" fmla="val 6307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592931" y="3600227"/>
            <a:ext cx="239550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CAPTION C1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592931" y="3757389"/>
            <a:ext cx="2395500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Galois channels of PSL(2,7) and AB phases — 6 channels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3242035" y="2927710"/>
            <a:ext cx="2659819" cy="1812168"/>
          </a:xfrm>
          <a:prstGeom prst="roundRect">
            <a:avLst>
              <a:gd name="adj" fmla="val 6307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3374194" y="3677692"/>
            <a:ext cx="239550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CAPTION C2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3374194" y="3834854"/>
            <a:ext cx="2505228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Connes spectral action for the AB-cloud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023297" y="2927710"/>
            <a:ext cx="2659931" cy="1812168"/>
          </a:xfrm>
          <a:prstGeom prst="roundRect">
            <a:avLst>
              <a:gd name="adj" fmla="val 6307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6155457" y="3672669"/>
            <a:ext cx="239561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CAPTION C3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155457" y="3829831"/>
            <a:ext cx="2505340" cy="181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Comparison of ζ(β) and Z</a:t>
            </a:r>
            <a:pPr algn="l" indent="0" marL="0">
              <a:lnSpc>
                <a:spcPts val="1221"/>
              </a:lnSpc>
              <a:buNone/>
            </a:pPr>
            <a:r>
              <a:rPr lang="en-US" sz="800" baseline="-400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(β)/N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0" y="4872038"/>
            <a:ext cx="9144000" cy="271463"/>
          </a:xfrm>
          <a:prstGeom prst="rect">
            <a:avLst/>
          </a:prstGeom>
          <a:solidFill>
            <a:srgbClr val="09111E">
              <a:alpha val="7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57200" y="4961334"/>
            <a:ext cx="773400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AB-Cloud </a:t>
            </a:r>
            <a:pPr algn="l" indent="0" marL="0">
              <a:buNone/>
            </a:pPr>
            <a:r>
              <a:rPr lang="en-US" sz="800" spc="68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Monograph v21 </a:t>
            </a:r>
            <a:pPr algn="l" indent="0" marL="0">
              <a:buNone/>
            </a:pPr>
            <a:r>
              <a:rPr lang="en-US" sz="800" spc="68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Author Edition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8205490" y="4961334"/>
            <a:ext cx="48131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 / 16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04447" y="-1353741"/>
            <a:ext cx="3421856" cy="3421856"/>
          </a:xfrm>
          <a:prstGeom prst="ellipse">
            <a:avLst/>
          </a:prstGeom>
          <a:noFill/>
          <a:ln w="7144">
            <a:solidFill>
              <a:srgbClr val="4FC3F7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335306" y="3943350"/>
            <a:ext cx="2808694" cy="83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75"/>
              </a:lnSpc>
              <a:buNone/>
            </a:pPr>
            <a:r>
              <a:rPr lang="en-US" sz="6750" b="1" spc="-135" kern="0" dirty="0">
                <a:solidFill>
                  <a:srgbClr val="4FC3F7">
                    <a:alpha val="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QECC</a:t>
            </a:r>
            <a:endParaRPr lang="en-US" sz="6750" dirty="0"/>
          </a:p>
        </p:txBody>
      </p:sp>
      <p:sp>
        <p:nvSpPr>
          <p:cNvPr id="5" name="Shape 2"/>
          <p:cNvSpPr/>
          <p:nvPr/>
        </p:nvSpPr>
        <p:spPr>
          <a:xfrm>
            <a:off x="0" y="4875609"/>
            <a:ext cx="91440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57188"/>
            <a:ext cx="863600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9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OUTLOOK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535781"/>
            <a:ext cx="8636000" cy="304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9"/>
              </a:lnSpc>
              <a:buNone/>
            </a:pPr>
            <a:r>
              <a:rPr lang="en-US" sz="1913" b="1" spc="-23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 questions and </a:t>
            </a:r>
            <a:pPr algn="l" indent="0" marL="0">
              <a:lnSpc>
                <a:spcPts val="2219"/>
              </a:lnSpc>
              <a:buNone/>
            </a:pPr>
            <a:r>
              <a:rPr lang="en-US" sz="1913" b="1" spc="-23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prospects</a:t>
            </a:r>
            <a:endParaRPr lang="en-US" sz="1913" dirty="0"/>
          </a:p>
        </p:txBody>
      </p:sp>
      <p:sp>
        <p:nvSpPr>
          <p:cNvPr id="8" name="Text 5"/>
          <p:cNvSpPr/>
          <p:nvPr/>
        </p:nvSpPr>
        <p:spPr>
          <a:xfrm>
            <a:off x="460772" y="978247"/>
            <a:ext cx="4050506" cy="1674651"/>
          </a:xfrm>
          <a:prstGeom prst="roundRect">
            <a:avLst>
              <a:gd name="adj" fmla="val 6825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92931" y="1096119"/>
            <a:ext cx="38959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EVOLUTION OF THE PROBLEM LIST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92931" y="1253282"/>
            <a:ext cx="37861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72" spc="17" kern="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From v9 to v10/v16</a:t>
            </a:r>
            <a:endParaRPr lang="en-US" sz="872" dirty="0"/>
          </a:p>
        </p:txBody>
      </p:sp>
      <p:sp>
        <p:nvSpPr>
          <p:cNvPr id="11" name="Text 8"/>
          <p:cNvSpPr/>
          <p:nvPr/>
        </p:nvSpPr>
        <p:spPr>
          <a:xfrm>
            <a:off x="592931" y="1481882"/>
            <a:ext cx="3786188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edition extended the open-problem set; the current monograph carries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problems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D.1–D.12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under Julia verification.</a:t>
            </a:r>
            <a:endParaRPr lang="en-US" sz="8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150" y="974675"/>
            <a:ext cx="4057650" cy="168179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32722" y="978247"/>
            <a:ext cx="4050506" cy="1674651"/>
          </a:xfrm>
          <a:prstGeom prst="roundRect">
            <a:avLst>
              <a:gd name="adj" fmla="val 6825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764881" y="1096119"/>
            <a:ext cx="3786187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PAYOFF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4764881" y="1253282"/>
            <a:ext cx="3895915" cy="13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2" spc="17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RH confirmation via GUE would give</a:t>
            </a:r>
            <a:endParaRPr lang="en-US" sz="872" dirty="0"/>
          </a:p>
        </p:txBody>
      </p:sp>
      <p:sp>
        <p:nvSpPr>
          <p:cNvPr id="16" name="Text 12"/>
          <p:cNvSpPr/>
          <p:nvPr/>
        </p:nvSpPr>
        <p:spPr>
          <a:xfrm>
            <a:off x="4764881" y="1481882"/>
            <a:ext cx="3786188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Riemann Hypothesis becomes a </a:t>
            </a:r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FFB7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universality condition of quantum space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a numerically testable physical statement.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460772" y="2774342"/>
            <a:ext cx="4050506" cy="1965536"/>
          </a:xfrm>
          <a:prstGeom prst="roundRect">
            <a:avLst>
              <a:gd name="adj" fmla="val 5815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592931" y="2892214"/>
            <a:ext cx="3786188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QUANTUM CODES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592931" y="3049377"/>
            <a:ext cx="37861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72" spc="17" kern="0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QECC from PSL(2,7)</a:t>
            </a:r>
            <a:endParaRPr lang="en-US" sz="872" dirty="0"/>
          </a:p>
        </p:txBody>
      </p:sp>
      <p:sp>
        <p:nvSpPr>
          <p:cNvPr id="20" name="Text 16"/>
          <p:cNvSpPr/>
          <p:nvPr/>
        </p:nvSpPr>
        <p:spPr>
          <a:xfrm>
            <a:off x="592931" y="3277977"/>
            <a:ext cx="3786188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Quantum error-correcting codes constructed from </a:t>
            </a:r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PSL(2,7)</a:t>
            </a:r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the Fano plane.</a:t>
            </a:r>
            <a:endParaRPr lang="en-US" sz="788" dirty="0"/>
          </a:p>
        </p:txBody>
      </p:sp>
      <p:sp>
        <p:nvSpPr>
          <p:cNvPr id="21" name="Text 17"/>
          <p:cNvSpPr/>
          <p:nvPr/>
        </p:nvSpPr>
        <p:spPr>
          <a:xfrm>
            <a:off x="4632722" y="2774342"/>
            <a:ext cx="4050506" cy="1965536"/>
          </a:xfrm>
          <a:prstGeom prst="roundRect">
            <a:avLst>
              <a:gd name="adj" fmla="val 5815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764881" y="2892214"/>
            <a:ext cx="3786188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PLANS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4764881" y="3049377"/>
            <a:ext cx="3895915" cy="13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2" spc="17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Next numerical experiments</a:t>
            </a:r>
            <a:endParaRPr lang="en-US" sz="872" dirty="0"/>
          </a:p>
        </p:txBody>
      </p:sp>
      <p:sp>
        <p:nvSpPr>
          <p:cNvPr id="24" name="Text 20"/>
          <p:cNvSpPr/>
          <p:nvPr/>
        </p:nvSpPr>
        <p:spPr>
          <a:xfrm>
            <a:off x="4764881" y="3277977"/>
            <a:ext cx="3786188" cy="700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60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Quantum Hadamard walk</a:t>
            </a:r>
            <a:endParaRPr lang="en-US" sz="816" dirty="0"/>
          </a:p>
          <a:p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60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2D hydrodynamics of e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00" baseline="300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−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/e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00" baseline="3000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jets</a:t>
            </a:r>
            <a:endParaRPr lang="en-US" sz="816" dirty="0"/>
          </a:p>
          <a:p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60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223"/>
              </a:lnSpc>
              <a:spcAft>
                <a:spcPts val="506"/>
              </a:spcAft>
              <a:buNone/>
            </a:pPr>
            <a:r>
              <a:rPr lang="en-US" sz="816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3D vortex lines</a:t>
            </a:r>
            <a:endParaRPr lang="en-US" sz="816" dirty="0"/>
          </a:p>
        </p:txBody>
      </p:sp>
      <p:sp>
        <p:nvSpPr>
          <p:cNvPr id="25" name="Text 21"/>
          <p:cNvSpPr/>
          <p:nvPr/>
        </p:nvSpPr>
        <p:spPr>
          <a:xfrm>
            <a:off x="0" y="4872038"/>
            <a:ext cx="9144000" cy="271463"/>
          </a:xfrm>
          <a:prstGeom prst="rect">
            <a:avLst/>
          </a:prstGeom>
          <a:solidFill>
            <a:srgbClr val="09111E">
              <a:alpha val="7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457200" y="4961334"/>
            <a:ext cx="773400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AB-Cloud </a:t>
            </a:r>
            <a:pPr algn="l" indent="0" marL="0">
              <a:buNone/>
            </a:pPr>
            <a:r>
              <a:rPr lang="en-US" sz="800" spc="68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Monograph v21 </a:t>
            </a:r>
            <a:pPr algn="l" indent="0" marL="0">
              <a:buNone/>
            </a:pPr>
            <a:r>
              <a:rPr lang="en-US" sz="800" spc="68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Author Edition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8205490" y="4961334"/>
            <a:ext cx="48131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/ 16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18697" y="-1139428"/>
            <a:ext cx="3993356" cy="3993356"/>
          </a:xfrm>
          <a:prstGeom prst="ellipse">
            <a:avLst/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290197" y="-496491"/>
            <a:ext cx="2707481" cy="2707481"/>
          </a:xfrm>
          <a:prstGeom prst="ellipse">
            <a:avLst/>
          </a:prstGeom>
          <a:noFill/>
          <a:ln w="7144">
            <a:solidFill>
              <a:srgbClr val="4FC3F7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640995" y="457200"/>
            <a:ext cx="3503005" cy="1319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619"/>
              </a:lnSpc>
              <a:buNone/>
            </a:pPr>
            <a:r>
              <a:rPr lang="en-US" sz="10688" b="1" spc="-214" kern="0" dirty="0">
                <a:solidFill>
                  <a:srgbClr val="4FC3F7">
                    <a:alpha val="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ζ(s)</a:t>
            </a:r>
            <a:endParaRPr lang="en-US" sz="10688" dirty="0"/>
          </a:p>
        </p:txBody>
      </p:sp>
      <p:sp>
        <p:nvSpPr>
          <p:cNvPr id="6" name="Text 3"/>
          <p:cNvSpPr/>
          <p:nvPr/>
        </p:nvSpPr>
        <p:spPr>
          <a:xfrm>
            <a:off x="8165306" y="1785938"/>
            <a:ext cx="50006" cy="50006"/>
          </a:xfrm>
          <a:prstGeom prst="ellipse">
            <a:avLst/>
          </a:prstGeom>
          <a:solidFill>
            <a:srgbClr val="4FC3F7"/>
          </a:solidFill>
          <a:ln/>
          <a:effectLst>
            <a:outerShdw sx="100000" sy="100000" kx="0" ky="0" algn="bl" rotWithShape="0" blurRad="133350" dist="50800" dir="16200000">
              <a:srgbClr val="4FC3F7">
                <a:alpha val="9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822531" y="2571750"/>
            <a:ext cx="35719" cy="35719"/>
          </a:xfrm>
          <a:prstGeom prst="ellipse">
            <a:avLst/>
          </a:prstGeom>
          <a:solidFill>
            <a:srgbClr val="FFB74D"/>
          </a:solidFill>
          <a:ln/>
          <a:effectLst>
            <a:outerShdw sx="100000" sy="100000" kx="0" ky="0" algn="bl" rotWithShape="0" blurRad="95250" dist="50800" dir="16200000">
              <a:srgbClr val="FFB74D">
                <a:alpha val="9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57200" y="941301"/>
            <a:ext cx="82296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3228" y="937729"/>
            <a:ext cx="0" cy="387548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21705"/>
            <a:ext cx="82296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7916" y="937729"/>
            <a:ext cx="0" cy="387548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4404122"/>
            <a:ext cx="82296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83228" y="4400550"/>
            <a:ext cx="0" cy="34290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4739878"/>
            <a:ext cx="82296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7916" y="4400550"/>
            <a:ext cx="0" cy="342900"/>
          </a:xfrm>
          <a:prstGeom prst="line">
            <a:avLst/>
          </a:prstGeom>
          <a:noFill/>
          <a:ln w="21431">
            <a:solidFill>
              <a:srgbClr val="FFB74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75609"/>
            <a:ext cx="9144000" cy="0"/>
          </a:xfrm>
          <a:prstGeom prst="line">
            <a:avLst/>
          </a:prstGeom>
          <a:noFill/>
          <a:ln w="7144">
            <a:solidFill>
              <a:srgbClr val="1D335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57188"/>
            <a:ext cx="863600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9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FINALE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57200" y="535781"/>
            <a:ext cx="8636000" cy="295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3"/>
              </a:lnSpc>
              <a:buNone/>
            </a:pPr>
            <a:r>
              <a:rPr lang="en-US" sz="1856" b="1" spc="-22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Riemann Hypothesis as a </a:t>
            </a:r>
            <a:pPr algn="l" indent="0" marL="0">
              <a:lnSpc>
                <a:spcPts val="2153"/>
              </a:lnSpc>
              <a:buNone/>
            </a:pPr>
            <a:r>
              <a:rPr lang="en-US" sz="1856" b="1" spc="-22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universality condition</a:t>
            </a:r>
            <a:pPr algn="l" indent="0" marL="0">
              <a:lnSpc>
                <a:spcPts val="2153"/>
              </a:lnSpc>
              <a:buNone/>
            </a:pPr>
            <a:r>
              <a:rPr lang="en-US" sz="1856" b="1" spc="-22" kern="0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of quantum space</a:t>
            </a:r>
            <a:endParaRPr lang="en-US" sz="1856" dirty="0"/>
          </a:p>
        </p:txBody>
      </p:sp>
      <p:sp>
        <p:nvSpPr>
          <p:cNvPr id="19" name="Text 16"/>
          <p:cNvSpPr/>
          <p:nvPr/>
        </p:nvSpPr>
        <p:spPr>
          <a:xfrm>
            <a:off x="457200" y="937729"/>
            <a:ext cx="8229600" cy="387548"/>
          </a:xfrm>
          <a:prstGeom prst="roundRect">
            <a:avLst>
              <a:gd name="adj" fmla="val 29493"/>
            </a:avLst>
          </a:prstGeom>
          <a:solidFill>
            <a:srgbClr val="10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025601" y="1044885"/>
            <a:ext cx="552546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number is traceable: each result is tied to a run 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V01–V115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44" dirty="0"/>
          </a:p>
        </p:txBody>
      </p:sp>
      <p:sp>
        <p:nvSpPr>
          <p:cNvPr id="21" name="Text 18"/>
          <p:cNvSpPr/>
          <p:nvPr/>
        </p:nvSpPr>
        <p:spPr>
          <a:xfrm>
            <a:off x="460772" y="1443149"/>
            <a:ext cx="1558677" cy="714375"/>
          </a:xfrm>
          <a:prstGeom prst="roundRect">
            <a:avLst>
              <a:gd name="adj" fmla="val 16000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92931" y="1561021"/>
            <a:ext cx="129435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81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KS = 0.047</a:t>
            </a:r>
            <a:endParaRPr lang="en-US" sz="1181" dirty="0"/>
          </a:p>
        </p:txBody>
      </p:sp>
      <p:sp>
        <p:nvSpPr>
          <p:cNvPr id="23" name="Text 20"/>
          <p:cNvSpPr/>
          <p:nvPr/>
        </p:nvSpPr>
        <p:spPr>
          <a:xfrm>
            <a:off x="592931" y="1782477"/>
            <a:ext cx="12943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AB-CLOUD VS Ζ ZEROS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2126605" y="1443149"/>
            <a:ext cx="1558789" cy="714375"/>
          </a:xfrm>
          <a:prstGeom prst="roundRect">
            <a:avLst>
              <a:gd name="adj" fmla="val 16000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2258764" y="1561021"/>
            <a:ext cx="129447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81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 = 0.598</a:t>
            </a:r>
            <a:endParaRPr lang="en-US" sz="1181" dirty="0"/>
          </a:p>
        </p:txBody>
      </p:sp>
      <p:sp>
        <p:nvSpPr>
          <p:cNvPr id="26" name="Text 23"/>
          <p:cNvSpPr/>
          <p:nvPr/>
        </p:nvSpPr>
        <p:spPr>
          <a:xfrm>
            <a:off x="2258764" y="1782477"/>
            <a:ext cx="129447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54" kern="0" dirty="0">
                <a:solidFill>
                  <a:srgbClr val="9DB2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IDX = 38 · KLEIN QUARTIC</a:t>
            </a:r>
            <a:endParaRPr lang="en-US" sz="675" dirty="0"/>
          </a:p>
        </p:txBody>
      </p:sp>
      <p:sp>
        <p:nvSpPr>
          <p:cNvPr id="27" name="Text 24"/>
          <p:cNvSpPr/>
          <p:nvPr/>
        </p:nvSpPr>
        <p:spPr>
          <a:xfrm>
            <a:off x="3792550" y="1443149"/>
            <a:ext cx="1558789" cy="714375"/>
          </a:xfrm>
          <a:prstGeom prst="roundRect">
            <a:avLst>
              <a:gd name="adj" fmla="val 16000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924709" y="1561021"/>
            <a:ext cx="129447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81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⟨r⟩ ≈ 0.937</a:t>
            </a:r>
            <a:endParaRPr lang="en-US" sz="1181" dirty="0"/>
          </a:p>
        </p:txBody>
      </p:sp>
      <p:sp>
        <p:nvSpPr>
          <p:cNvPr id="29" name="Text 26"/>
          <p:cNvSpPr/>
          <p:nvPr/>
        </p:nvSpPr>
        <p:spPr>
          <a:xfrm>
            <a:off x="3924709" y="1782477"/>
            <a:ext cx="129447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GEOMETRY INDEPENDENCE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458495" y="1443149"/>
            <a:ext cx="1558789" cy="714375"/>
          </a:xfrm>
          <a:prstGeom prst="roundRect">
            <a:avLst>
              <a:gd name="adj" fmla="val 16000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590654" y="1561021"/>
            <a:ext cx="129447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81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KS = 0.152</a:t>
            </a:r>
            <a:endParaRPr lang="en-US" sz="1181" dirty="0"/>
          </a:p>
        </p:txBody>
      </p:sp>
      <p:sp>
        <p:nvSpPr>
          <p:cNvPr id="32" name="Text 29"/>
          <p:cNvSpPr/>
          <p:nvPr/>
        </p:nvSpPr>
        <p:spPr>
          <a:xfrm>
            <a:off x="5590654" y="1782477"/>
            <a:ext cx="129447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54" kern="0" dirty="0">
                <a:solidFill>
                  <a:srgbClr val="9DB2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Σ = 1/2 · CRITICAL LINE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7124440" y="1443149"/>
            <a:ext cx="1558677" cy="714375"/>
          </a:xfrm>
          <a:prstGeom prst="roundRect">
            <a:avLst>
              <a:gd name="adj" fmla="val 16000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7256599" y="1561021"/>
            <a:ext cx="1294358" cy="209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81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algn="l" indent="0" marL="0">
              <a:buNone/>
            </a:pPr>
            <a:r>
              <a:rPr lang="en-US" sz="800" baseline="-400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buNone/>
            </a:pPr>
            <a:r>
              <a:rPr lang="en-US" sz="1181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≈ 0.125</a:t>
            </a:r>
            <a:endParaRPr lang="en-US" sz="1181" dirty="0"/>
          </a:p>
        </p:txBody>
      </p:sp>
      <p:sp>
        <p:nvSpPr>
          <p:cNvPr id="35" name="Text 32"/>
          <p:cNvSpPr/>
          <p:nvPr/>
        </p:nvSpPr>
        <p:spPr>
          <a:xfrm>
            <a:off x="7256599" y="1805248"/>
            <a:ext cx="12943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DIRAC CONE · VORTEX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60772" y="2278968"/>
            <a:ext cx="4050506" cy="2003710"/>
          </a:xfrm>
          <a:prstGeom prst="roundRect">
            <a:avLst>
              <a:gd name="adj" fmla="val 5704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592931" y="3121930"/>
            <a:ext cx="3786188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92931" y="3279093"/>
            <a:ext cx="3786188" cy="1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implementations — Hamiltonian · Montgomery test · zero certification</a:t>
            </a:r>
            <a:endParaRPr lang="en-US" sz="816" dirty="0"/>
          </a:p>
        </p:txBody>
      </p:sp>
      <p:sp>
        <p:nvSpPr>
          <p:cNvPr id="39" name="Text 36"/>
          <p:cNvSpPr/>
          <p:nvPr/>
        </p:nvSpPr>
        <p:spPr>
          <a:xfrm>
            <a:off x="4632722" y="2278968"/>
            <a:ext cx="4050506" cy="2003710"/>
          </a:xfrm>
          <a:prstGeom prst="roundRect">
            <a:avLst>
              <a:gd name="adj" fmla="val 5704"/>
            </a:avLst>
          </a:prstGeom>
          <a:solidFill>
            <a:srgbClr val="101F33"/>
          </a:solidFill>
          <a:ln w="7144">
            <a:solidFill>
              <a:srgbClr val="1D335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4764881" y="3121930"/>
            <a:ext cx="3786188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VERIFICATION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764881" y="3279093"/>
            <a:ext cx="3895915" cy="1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Julia v12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— full run V01–V115</a:t>
            </a:r>
            <a:endParaRPr lang="en-US" sz="816" dirty="0"/>
          </a:p>
        </p:txBody>
      </p:sp>
      <p:sp>
        <p:nvSpPr>
          <p:cNvPr id="42" name="Text 39"/>
          <p:cNvSpPr/>
          <p:nvPr/>
        </p:nvSpPr>
        <p:spPr>
          <a:xfrm>
            <a:off x="457200" y="4400550"/>
            <a:ext cx="8229600" cy="342900"/>
          </a:xfrm>
          <a:prstGeom prst="roundRect">
            <a:avLst>
              <a:gd name="adj" fmla="val 33333"/>
            </a:avLst>
          </a:prstGeom>
          <a:solidFill>
            <a:srgbClr val="10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2852924" y="4514850"/>
            <a:ext cx="181850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DOI 10.5281/zenodo.21825394</a:t>
            </a:r>
            <a:endParaRPr lang="en-US" sz="816" dirty="0"/>
          </a:p>
        </p:txBody>
      </p:sp>
      <p:sp>
        <p:nvSpPr>
          <p:cNvPr id="44" name="Text 41"/>
          <p:cNvSpPr/>
          <p:nvPr/>
        </p:nvSpPr>
        <p:spPr>
          <a:xfrm>
            <a:off x="4622453" y="4507706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4746241" y="4514850"/>
            <a:ext cx="3811972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E8EE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ORCID 0009-0003-7299-0701</a:t>
            </a:r>
            <a:endParaRPr lang="en-US" sz="816" dirty="0"/>
          </a:p>
        </p:txBody>
      </p:sp>
      <p:sp>
        <p:nvSpPr>
          <p:cNvPr id="46" name="Text 43"/>
          <p:cNvSpPr/>
          <p:nvPr/>
        </p:nvSpPr>
        <p:spPr>
          <a:xfrm>
            <a:off x="0" y="4872038"/>
            <a:ext cx="9144000" cy="271463"/>
          </a:xfrm>
          <a:prstGeom prst="rect">
            <a:avLst/>
          </a:prstGeom>
          <a:solidFill>
            <a:srgbClr val="09111E">
              <a:alpha val="7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457200" y="4961334"/>
            <a:ext cx="773400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AB-Cloud </a:t>
            </a:r>
            <a:pPr algn="l" indent="0" marL="0">
              <a:buNone/>
            </a:pPr>
            <a:r>
              <a:rPr lang="en-US" sz="800" spc="68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Monograph v21 </a:t>
            </a:r>
            <a:pPr algn="l" indent="0" marL="0">
              <a:buNone/>
            </a:pPr>
            <a:r>
              <a:rPr lang="en-US" sz="800" spc="68" kern="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buNone/>
            </a:pPr>
            <a:r>
              <a:rPr lang="en-US" sz="800" spc="68" kern="0" dirty="0">
                <a:solidFill>
                  <a:srgbClr val="9DB2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Author Edition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8205490" y="4961334"/>
            <a:ext cx="48131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 / 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2026-08-28T14:02:58Z</dcterms:created>
  <dcterms:modified xsi:type="dcterms:W3CDTF">2026-08-28T14:02:58Z</dcterms:modified>
</cp:coreProperties>
</file>