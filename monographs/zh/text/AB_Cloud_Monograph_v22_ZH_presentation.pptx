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575697" y="-1710928"/>
            <a:ext cx="4993481" cy="4993481"/>
          </a:xfrm>
          <a:prstGeom prst="ellipse">
            <a:avLst/>
          </a:prstGeom>
          <a:noFill/>
          <a:ln w="7144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50800" dir="16200000">
              <a:srgbClr val="FFFFF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6132909" y="-1153716"/>
            <a:ext cx="3879056" cy="3879056"/>
          </a:xfrm>
          <a:prstGeom prst="ellipse">
            <a:avLst/>
          </a:prstGeom>
          <a:noFill/>
          <a:ln w="7144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50800" dir="16200000">
              <a:srgbClr val="FFFFF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6704409" y="-582216"/>
            <a:ext cx="2736056" cy="2736056"/>
          </a:xfrm>
          <a:prstGeom prst="ellipse">
            <a:avLst/>
          </a:prstGeom>
          <a:noFill/>
          <a:ln w="7144">
            <a:solidFill>
              <a:srgbClr val="4FC3F7"/>
            </a:solidFill>
            <a:prstDash val="dash"/>
          </a:ln>
          <a:effectLst>
            <a:outerShdw sx="100000" sy="100000" kx="0" ky="0" algn="bl" rotWithShape="0" blurRad="101600" dist="50800" dir="16200000">
              <a:srgbClr val="FFFFF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7304484" y="17859"/>
            <a:ext cx="1535906" cy="1535906"/>
          </a:xfrm>
          <a:prstGeom prst="ellipse">
            <a:avLst/>
          </a:prstGeom>
          <a:noFill/>
          <a:ln w="7144">
            <a:solidFill>
              <a:srgbClr val="FFB74D"/>
            </a:solidFill>
            <a:prstDash val="solid"/>
          </a:ln>
          <a:effectLst>
            <a:outerShdw sx="100000" sy="100000" kx="0" ky="0" algn="bl" rotWithShape="0" blurRad="101600" dist="50800" dir="16200000">
              <a:srgbClr val="FFFFF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5972175" y="-914400"/>
            <a:ext cx="92869" cy="92869"/>
          </a:xfrm>
          <a:prstGeom prst="roundRect">
            <a:avLst>
              <a:gd name="adj" fmla="val 102553570"/>
            </a:avLst>
          </a:prstGeom>
          <a:solidFill>
            <a:srgbClr val="4FC3F7"/>
          </a:solidFill>
          <a:ln/>
          <a:effectLst>
            <a:outerShdw sx="100000" sy="100000" kx="0" ky="0" algn="bl" rotWithShape="0" blurRad="209550" dist="50800" dir="16200000">
              <a:srgbClr val="4FC3F7">
                <a:alpha val="9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9858375" y="814388"/>
            <a:ext cx="57150" cy="57150"/>
          </a:xfrm>
          <a:prstGeom prst="roundRect">
            <a:avLst>
              <a:gd name="adj" fmla="val 166650000"/>
            </a:avLst>
          </a:prstGeom>
          <a:solidFill>
            <a:srgbClr val="FFB74D"/>
          </a:solidFill>
          <a:ln/>
          <a:effectLst>
            <a:outerShdw sx="100000" sy="100000" kx="0" ky="0" algn="bl" rotWithShape="0" blurRad="133350" dist="50800" dir="16200000">
              <a:srgbClr val="FFB74D">
                <a:alpha val="8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7666583" y="3371850"/>
            <a:ext cx="1477417" cy="1771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75"/>
              </a:lnSpc>
              <a:buNone/>
            </a:pPr>
            <a:r>
              <a:rPr lang="en-US" sz="16875" b="1" dirty="0">
                <a:solidFill>
                  <a:srgbClr val="4FC3F7">
                    <a:alpha val="5000"/>
                  </a:srgbClr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ζ</a:t>
            </a:r>
            <a:endParaRPr lang="en-US" sz="16875" dirty="0"/>
          </a:p>
        </p:txBody>
      </p:sp>
      <p:sp>
        <p:nvSpPr>
          <p:cNvPr id="11" name="Text 7"/>
          <p:cNvSpPr/>
          <p:nvPr/>
        </p:nvSpPr>
        <p:spPr>
          <a:xfrm>
            <a:off x="457200" y="800100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94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VERIFIED NUMERICS · 37 TESTS · V19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457200" y="1023342"/>
            <a:ext cx="8636000" cy="777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70"/>
              </a:lnSpc>
              <a:buNone/>
            </a:pPr>
            <a:r>
              <a:rPr lang="en-US" sz="5063" b="1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</a:t>
            </a:r>
            <a:pPr algn="l" indent="0" marL="0">
              <a:lnSpc>
                <a:spcPts val="5670"/>
              </a:lnSpc>
              <a:buNone/>
            </a:pPr>
            <a:r>
              <a:rPr lang="en-US" sz="5063" b="1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云：</a:t>
            </a:r>
            <a:pPr algn="l" indent="0" marL="0">
              <a:lnSpc>
                <a:spcPts val="5670"/>
              </a:lnSpc>
              <a:buNone/>
            </a:pPr>
            <a:r>
              <a:rPr lang="en-US" sz="5063" b="1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相位谐振腔</a:t>
            </a:r>
            <a:endParaRPr lang="en-US" sz="5063" dirty="0"/>
          </a:p>
        </p:txBody>
      </p:sp>
      <p:sp>
        <p:nvSpPr>
          <p:cNvPr id="13" name="Text 9"/>
          <p:cNvSpPr/>
          <p:nvPr/>
        </p:nvSpPr>
        <p:spPr>
          <a:xfrm>
            <a:off x="457200" y="1843422"/>
            <a:ext cx="514350" cy="21431"/>
          </a:xfrm>
          <a:prstGeom prst="roundRect">
            <a:avLst>
              <a:gd name="adj" fmla="val 88890"/>
            </a:avLst>
          </a:prstGeom>
          <a:solidFill>
            <a:srgbClr val="FFB7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57200" y="1993441"/>
            <a:ext cx="6635115" cy="27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238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ζ(</a:t>
            </a:r>
            <a:pPr algn="l" indent="0" marL="0">
              <a:lnSpc>
                <a:spcPts val="1980"/>
              </a:lnSpc>
              <a:buNone/>
            </a:pPr>
            <a:r>
              <a:rPr lang="en-US" sz="1238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</a:t>
            </a:r>
            <a:pPr algn="l" indent="0" marL="0">
              <a:lnSpc>
                <a:spcPts val="1980"/>
              </a:lnSpc>
              <a:buNone/>
            </a:pPr>
            <a:r>
              <a:rPr lang="en-US" sz="1238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 零点、</a:t>
            </a:r>
            <a:pPr algn="l" indent="0" marL="0">
              <a:lnSpc>
                <a:spcPts val="1980"/>
              </a:lnSpc>
              <a:buNone/>
            </a:pPr>
            <a:r>
              <a:rPr lang="en-US" sz="1238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GUE</a:t>
            </a:r>
            <a:pPr algn="l" indent="0" marL="0">
              <a:lnSpc>
                <a:spcPts val="1980"/>
              </a:lnSpc>
              <a:buNone/>
            </a:pPr>
            <a:r>
              <a:rPr lang="en-US" sz="1238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普适性与拓扑涡旋物质——完整验证的数值研究</a:t>
            </a:r>
            <a:endParaRPr lang="en-US" sz="1238" dirty="0"/>
          </a:p>
        </p:txBody>
      </p:sp>
      <p:sp>
        <p:nvSpPr>
          <p:cNvPr id="15" name="Text 11"/>
          <p:cNvSpPr/>
          <p:nvPr/>
        </p:nvSpPr>
        <p:spPr>
          <a:xfrm>
            <a:off x="457200" y="2416262"/>
            <a:ext cx="8229600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Isaev Iskhak Khamzatovich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ORCID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0009-0003-7299-0701</a:t>
            </a:r>
            <a:endParaRPr lang="en-US" sz="872" dirty="0"/>
          </a:p>
        </p:txBody>
      </p:sp>
      <p:sp>
        <p:nvSpPr>
          <p:cNvPr id="16" name="Text 12"/>
          <p:cNvSpPr/>
          <p:nvPr/>
        </p:nvSpPr>
        <p:spPr>
          <a:xfrm>
            <a:off x="460772" y="3971925"/>
            <a:ext cx="2640732" cy="482203"/>
          </a:xfrm>
          <a:prstGeom prst="roundRect">
            <a:avLst>
              <a:gd name="adj" fmla="val 23704"/>
            </a:avLst>
          </a:prstGeom>
          <a:solidFill>
            <a:srgbClr val="122640">
              <a:alpha val="80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547361" y="4089797"/>
            <a:ext cx="1152937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294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query_stats</a:t>
            </a:r>
            <a:endParaRPr lang="en-US" sz="1294" dirty="0"/>
          </a:p>
        </p:txBody>
      </p:sp>
      <p:sp>
        <p:nvSpPr>
          <p:cNvPr id="18" name="Text 14"/>
          <p:cNvSpPr/>
          <p:nvPr/>
        </p:nvSpPr>
        <p:spPr>
          <a:xfrm>
            <a:off x="1535237" y="4135338"/>
            <a:ext cx="1543836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spc="-8" kern="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⟨r⟩ = 0.585 ± 0.026 </a:t>
            </a:r>
            <a:pPr algn="l" indent="0" marL="0">
              <a:lnSpc>
                <a:spcPts val="1223"/>
              </a:lnSpc>
              <a:buNone/>
            </a:pPr>
            <a:r>
              <a:rPr lang="en-US" sz="816" spc="-8" kern="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 GUE</a:t>
            </a:r>
            <a:pPr algn="l" indent="0" marL="0">
              <a:lnSpc>
                <a:spcPts val="1223"/>
              </a:lnSpc>
              <a:buNone/>
            </a:pPr>
            <a:r>
              <a:rPr lang="en-US" sz="816" spc="-8" kern="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0.5992</a:t>
            </a:r>
            <a:endParaRPr lang="en-US" sz="816" dirty="0"/>
          </a:p>
        </p:txBody>
      </p:sp>
      <p:sp>
        <p:nvSpPr>
          <p:cNvPr id="19" name="Text 15"/>
          <p:cNvSpPr/>
          <p:nvPr/>
        </p:nvSpPr>
        <p:spPr>
          <a:xfrm>
            <a:off x="3251522" y="3971925"/>
            <a:ext cx="2640843" cy="482203"/>
          </a:xfrm>
          <a:prstGeom prst="roundRect">
            <a:avLst>
              <a:gd name="adj" fmla="val 23704"/>
            </a:avLst>
          </a:prstGeom>
          <a:solidFill>
            <a:srgbClr val="122640">
              <a:alpha val="80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3330429" y="4089797"/>
            <a:ext cx="864054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294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verified</a:t>
            </a:r>
            <a:endParaRPr lang="en-US" sz="1294" dirty="0"/>
          </a:p>
        </p:txBody>
      </p:sp>
      <p:sp>
        <p:nvSpPr>
          <p:cNvPr id="21" name="Text 17"/>
          <p:cNvSpPr/>
          <p:nvPr/>
        </p:nvSpPr>
        <p:spPr>
          <a:xfrm>
            <a:off x="4006304" y="4135338"/>
            <a:ext cx="1753902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spc="-8" kern="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Byers–Yang：3.5·10⁻¹⁵</a:t>
            </a:r>
            <a:endParaRPr lang="en-US" sz="816" dirty="0"/>
          </a:p>
        </p:txBody>
      </p:sp>
      <p:sp>
        <p:nvSpPr>
          <p:cNvPr id="22" name="Text 18"/>
          <p:cNvSpPr/>
          <p:nvPr/>
        </p:nvSpPr>
        <p:spPr>
          <a:xfrm>
            <a:off x="6042385" y="3971925"/>
            <a:ext cx="2640732" cy="482203"/>
          </a:xfrm>
          <a:prstGeom prst="roundRect">
            <a:avLst>
              <a:gd name="adj" fmla="val 23704"/>
            </a:avLst>
          </a:prstGeom>
          <a:solidFill>
            <a:srgbClr val="122640">
              <a:alpha val="80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6141411" y="4089797"/>
            <a:ext cx="460780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294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link</a:t>
            </a:r>
            <a:endParaRPr lang="en-US" sz="1294" dirty="0"/>
          </a:p>
        </p:txBody>
      </p:sp>
      <p:sp>
        <p:nvSpPr>
          <p:cNvPr id="24" name="Text 20"/>
          <p:cNvSpPr/>
          <p:nvPr/>
        </p:nvSpPr>
        <p:spPr>
          <a:xfrm>
            <a:off x="6513984" y="4135338"/>
            <a:ext cx="2044117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spc="-8" kern="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DOI 10.5281/zenodo.21825394</a:t>
            </a:r>
            <a:endParaRPr lang="en-US" sz="816" dirty="0"/>
          </a:p>
        </p:txBody>
      </p:sp>
      <p:sp>
        <p:nvSpPr>
          <p:cNvPr id="25" name="Text 21"/>
          <p:cNvSpPr/>
          <p:nvPr/>
        </p:nvSpPr>
        <p:spPr>
          <a:xfrm>
            <a:off x="0" y="4614863"/>
            <a:ext cx="8636000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700" spc="122" kern="0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专著 </a:t>
            </a:r>
            <a:pPr algn="ctr" indent="0" marL="0">
              <a:lnSpc>
                <a:spcPts val="1013"/>
              </a:lnSpc>
              <a:buNone/>
            </a:pPr>
            <a:r>
              <a:rPr lang="en-US" sz="700" spc="122" kern="0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v22</a:t>
            </a:r>
            <a:pPr algn="ctr" indent="0" marL="0">
              <a:lnSpc>
                <a:spcPts val="1013"/>
              </a:lnSpc>
              <a:buNone/>
            </a:pPr>
            <a:r>
              <a:rPr lang="en-US" sz="700" spc="122" kern="0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ctr" indent="0" marL="0">
              <a:lnSpc>
                <a:spcPts val="1013"/>
              </a:lnSpc>
              <a:buNone/>
            </a:pPr>
            <a:r>
              <a:rPr lang="en-US" sz="700" spc="122" kern="0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</a:t>
            </a:r>
            <a:pPr algn="ctr" indent="0" marL="0">
              <a:lnSpc>
                <a:spcPts val="1013"/>
              </a:lnSpc>
              <a:buNone/>
            </a:pPr>
            <a:r>
              <a:rPr lang="en-US" sz="700" spc="122" kern="0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年 </a:t>
            </a:r>
            <a:pPr algn="ctr" indent="0" marL="0">
              <a:lnSpc>
                <a:spcPts val="1013"/>
              </a:lnSpc>
              <a:buNone/>
            </a:pPr>
            <a:r>
              <a:rPr lang="en-US" sz="700" spc="122" kern="0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pPr algn="ctr" indent="0" marL="0">
              <a:lnSpc>
                <a:spcPts val="1013"/>
              </a:lnSpc>
              <a:buNone/>
            </a:pPr>
            <a:r>
              <a:rPr lang="en-US" sz="700" spc="122" kern="0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月 · </a:t>
            </a:r>
            <a:pPr algn="ctr" indent="0" marL="0">
              <a:lnSpc>
                <a:spcPts val="1013"/>
              </a:lnSpc>
              <a:buNone/>
            </a:pPr>
            <a:r>
              <a:rPr lang="en-US" sz="700" spc="122" kern="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research-papers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00050"/>
            <a:ext cx="8636000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00" spc="194" kern="0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 · </a:t>
            </a:r>
            <a:pPr algn="l" indent="0" marL="0">
              <a:lnSpc>
                <a:spcPts val="970"/>
              </a:lnSpc>
              <a:buNone/>
            </a:pPr>
            <a:r>
              <a:rPr lang="en-US" sz="700" spc="194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HILBERT</a:t>
            </a:r>
            <a:pPr algn="l" indent="0" marL="0">
              <a:lnSpc>
                <a:spcPts val="970"/>
              </a:lnSpc>
              <a:buNone/>
            </a:pPr>
            <a:r>
              <a:rPr lang="en-US" sz="700" spc="194" kern="0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</a:t>
            </a:r>
            <a:pPr algn="l" indent="0" marL="0">
              <a:lnSpc>
                <a:spcPts val="970"/>
              </a:lnSpc>
              <a:buNone/>
            </a:pPr>
            <a:r>
              <a:rPr lang="en-US" sz="700" spc="194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POLYA</a:t>
            </a:r>
            <a:pPr algn="l" indent="0" marL="0">
              <a:lnSpc>
                <a:spcPts val="970"/>
              </a:lnSpc>
              <a:buNone/>
            </a:pPr>
            <a:r>
              <a:rPr lang="en-US" sz="700" spc="194" kern="0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970"/>
              </a:lnSpc>
              <a:buNone/>
            </a:pPr>
            <a:r>
              <a:rPr lang="en-US" sz="700" spc="194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PROGRAMME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457200" y="623292"/>
            <a:ext cx="8636000" cy="314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913" b="1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希尔伯特–波利亚纲领</a:t>
            </a:r>
            <a:endParaRPr lang="en-US" sz="1913" dirty="0"/>
          </a:p>
        </p:txBody>
      </p:sp>
      <p:sp>
        <p:nvSpPr>
          <p:cNvPr id="6" name="Text 2"/>
          <p:cNvSpPr/>
          <p:nvPr/>
        </p:nvSpPr>
        <p:spPr>
          <a:xfrm>
            <a:off x="457200" y="1014747"/>
            <a:ext cx="514350" cy="21431"/>
          </a:xfrm>
          <a:prstGeom prst="roundRect">
            <a:avLst>
              <a:gd name="adj" fmla="val 88890"/>
            </a:avLst>
          </a:prstGeom>
          <a:solidFill>
            <a:srgbClr val="FFB7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457200" y="1164766"/>
            <a:ext cx="4800600" cy="825103"/>
          </a:xfrm>
          <a:prstGeom prst="roundRect">
            <a:avLst>
              <a:gd name="adj" fmla="val 13853"/>
            </a:avLst>
          </a:prstGeom>
          <a:solidFill>
            <a:srgbClr val="12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4"/>
          <p:cNvSpPr/>
          <p:nvPr/>
        </p:nvSpPr>
        <p:spPr>
          <a:xfrm>
            <a:off x="457200" y="1168338"/>
            <a:ext cx="4800600" cy="0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254228" y="1164766"/>
            <a:ext cx="0" cy="825103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1986297"/>
            <a:ext cx="4800600" cy="0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67916" y="1164766"/>
            <a:ext cx="0" cy="825103"/>
          </a:xfrm>
          <a:prstGeom prst="line">
            <a:avLst/>
          </a:prstGeom>
          <a:noFill/>
          <a:ln w="21431">
            <a:solidFill>
              <a:srgbClr val="FFB74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794" y="1300497"/>
            <a:ext cx="4457700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406" b="1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若存在自共轭算符，其谱恰为 ζ(</a:t>
            </a:r>
            <a:pPr algn="l" indent="0" marL="0">
              <a:lnSpc>
                <a:spcPts val="2180"/>
              </a:lnSpc>
              <a:buNone/>
            </a:pPr>
            <a:r>
              <a:rPr lang="en-US" sz="1406" b="1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</a:t>
            </a:r>
            <a:pPr algn="l" indent="0" marL="0">
              <a:lnSpc>
                <a:spcPts val="2180"/>
              </a:lnSpc>
              <a:buNone/>
            </a:pPr>
            <a:r>
              <a:rPr lang="en-US" sz="1406" b="1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 零点的纵坐标，则</a:t>
            </a:r>
            <a:pPr algn="l" indent="0" marL="0">
              <a:lnSpc>
                <a:spcPts val="2180"/>
              </a:lnSpc>
              <a:buNone/>
            </a:pPr>
            <a:r>
              <a:rPr lang="en-US" sz="1406" b="1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黎曼假设成为定理</a:t>
            </a:r>
            <a:endParaRPr lang="en-US" sz="1406" dirty="0"/>
          </a:p>
        </p:txBody>
      </p:sp>
      <p:sp>
        <p:nvSpPr>
          <p:cNvPr id="13" name="Text 9"/>
          <p:cNvSpPr/>
          <p:nvPr/>
        </p:nvSpPr>
        <p:spPr>
          <a:xfrm>
            <a:off x="617934" y="2107741"/>
            <a:ext cx="4636294" cy="491133"/>
          </a:xfrm>
          <a:prstGeom prst="roundRect">
            <a:avLst>
              <a:gd name="adj" fmla="val 23273"/>
            </a:avLst>
          </a:prstGeom>
          <a:solidFill>
            <a:srgbClr val="16304F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735806" y="2189894"/>
            <a:ext cx="440055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29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1972 · Montgomery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735806" y="2350629"/>
            <a:ext cx="440055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零点对关联</a:t>
            </a:r>
            <a:endParaRPr lang="en-US" sz="872" dirty="0"/>
          </a:p>
        </p:txBody>
      </p:sp>
      <p:sp>
        <p:nvSpPr>
          <p:cNvPr id="16" name="Text 12"/>
          <p:cNvSpPr/>
          <p:nvPr/>
        </p:nvSpPr>
        <p:spPr>
          <a:xfrm>
            <a:off x="617934" y="2754809"/>
            <a:ext cx="4636294" cy="491133"/>
          </a:xfrm>
          <a:prstGeom prst="roundRect">
            <a:avLst>
              <a:gd name="adj" fmla="val 23273"/>
            </a:avLst>
          </a:prstGeom>
          <a:solidFill>
            <a:srgbClr val="16304F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735806" y="2836962"/>
            <a:ext cx="440055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29" kern="0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普林斯顿高等研究院茶室 · </a:t>
            </a:r>
            <a:pPr algn="l" indent="0" marL="0">
              <a:lnSpc>
                <a:spcPts val="1097"/>
              </a:lnSpc>
              <a:buNone/>
            </a:pPr>
            <a:r>
              <a:rPr lang="en-US" sz="731" spc="29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Dyson</a:t>
            </a:r>
            <a:endParaRPr lang="en-US" sz="731" dirty="0"/>
          </a:p>
        </p:txBody>
      </p:sp>
      <p:sp>
        <p:nvSpPr>
          <p:cNvPr id="18" name="Text 14"/>
          <p:cNvSpPr/>
          <p:nvPr/>
        </p:nvSpPr>
        <p:spPr>
          <a:xfrm>
            <a:off x="735806" y="2997696"/>
            <a:ext cx="440055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这正是 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GUE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的对关联</a:t>
            </a:r>
            <a:endParaRPr lang="en-US" sz="872" dirty="0"/>
          </a:p>
        </p:txBody>
      </p:sp>
      <p:sp>
        <p:nvSpPr>
          <p:cNvPr id="19" name="Text 15"/>
          <p:cNvSpPr/>
          <p:nvPr/>
        </p:nvSpPr>
        <p:spPr>
          <a:xfrm>
            <a:off x="617934" y="3401988"/>
            <a:ext cx="4636294" cy="491133"/>
          </a:xfrm>
          <a:prstGeom prst="roundRect">
            <a:avLst>
              <a:gd name="adj" fmla="val 23273"/>
            </a:avLst>
          </a:prstGeom>
          <a:solidFill>
            <a:srgbClr val="16304F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735806" y="3484141"/>
            <a:ext cx="440055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29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1980</a:t>
            </a:r>
            <a:pPr algn="l" indent="0" marL="0">
              <a:lnSpc>
                <a:spcPts val="1097"/>
              </a:lnSpc>
              <a:buNone/>
            </a:pPr>
            <a:r>
              <a:rPr lang="en-US" sz="731" spc="29" kern="0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年代 · </a:t>
            </a:r>
            <a:pPr algn="l" indent="0" marL="0">
              <a:lnSpc>
                <a:spcPts val="1097"/>
              </a:lnSpc>
              <a:buNone/>
            </a:pPr>
            <a:r>
              <a:rPr lang="en-US" sz="731" spc="29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Odlyzko</a:t>
            </a:r>
            <a:endParaRPr lang="en-US" sz="731" dirty="0"/>
          </a:p>
        </p:txBody>
      </p:sp>
      <p:sp>
        <p:nvSpPr>
          <p:cNvPr id="21" name="Text 17"/>
          <p:cNvSpPr/>
          <p:nvPr/>
        </p:nvSpPr>
        <p:spPr>
          <a:xfrm>
            <a:off x="735806" y="3644875"/>
            <a:ext cx="440055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数十万零点上的数值确认</a:t>
            </a:r>
            <a:endParaRPr lang="en-US" sz="872" dirty="0"/>
          </a:p>
        </p:txBody>
      </p:sp>
      <p:sp>
        <p:nvSpPr>
          <p:cNvPr id="22" name="Text 18"/>
          <p:cNvSpPr/>
          <p:nvPr/>
        </p:nvSpPr>
        <p:spPr>
          <a:xfrm>
            <a:off x="617934" y="4049055"/>
            <a:ext cx="4636294" cy="498277"/>
          </a:xfrm>
          <a:prstGeom prst="roundRect">
            <a:avLst>
              <a:gd name="adj" fmla="val 22939"/>
            </a:avLst>
          </a:prstGeom>
          <a:solidFill>
            <a:srgbClr val="16304F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735806" y="4131208"/>
            <a:ext cx="440055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29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1985 · Berry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735806" y="4291943"/>
            <a:ext cx="451027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有限样本修正：在高度 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T≲10⁵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，纯 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GUE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理应被拒绝</a:t>
            </a:r>
            <a:endParaRPr lang="en-US" sz="872" dirty="0"/>
          </a:p>
        </p:txBody>
      </p:sp>
      <p:sp>
        <p:nvSpPr>
          <p:cNvPr id="25" name="Text 21"/>
          <p:cNvSpPr/>
          <p:nvPr/>
        </p:nvSpPr>
        <p:spPr>
          <a:xfrm>
            <a:off x="5461397" y="1168338"/>
            <a:ext cx="3221831" cy="3378994"/>
          </a:xfrm>
          <a:prstGeom prst="roundRect">
            <a:avLst>
              <a:gd name="adj" fmla="val 3548"/>
            </a:avLst>
          </a:prstGeom>
          <a:solidFill>
            <a:srgbClr val="122640"/>
          </a:solidFill>
          <a:ln w="7144">
            <a:solidFill>
              <a:srgbClr val="FFB7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7626029" y="3457910"/>
            <a:ext cx="1321665" cy="900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3"/>
              </a:lnSpc>
              <a:buNone/>
            </a:pPr>
            <a:r>
              <a:rPr lang="en-US" sz="11813" b="1" dirty="0">
                <a:solidFill>
                  <a:srgbClr val="4FC3F7">
                    <a:alpha val="7000"/>
                  </a:srgbClr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ζ</a:t>
            </a:r>
            <a:endParaRPr lang="en-US" sz="11813" dirty="0"/>
          </a:p>
        </p:txBody>
      </p:sp>
      <p:sp>
        <p:nvSpPr>
          <p:cNvPr id="27" name="Text 23"/>
          <p:cNvSpPr/>
          <p:nvPr/>
        </p:nvSpPr>
        <p:spPr>
          <a:xfrm>
            <a:off x="5644136" y="1357647"/>
            <a:ext cx="520882" cy="300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4"/>
              </a:lnSpc>
              <a:buNone/>
            </a:pPr>
            <a:r>
              <a:rPr lang="en-US" sz="1463" dirty="0">
                <a:solidFill>
                  <a:srgbClr val="FFB7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flag</a:t>
            </a:r>
            <a:endParaRPr lang="en-US" sz="1463" dirty="0"/>
          </a:p>
        </p:txBody>
      </p:sp>
      <p:sp>
        <p:nvSpPr>
          <p:cNvPr id="28" name="Text 24"/>
          <p:cNvSpPr/>
          <p:nvPr/>
        </p:nvSpPr>
        <p:spPr>
          <a:xfrm>
            <a:off x="6050198" y="1368363"/>
            <a:ext cx="2429433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我们的立场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5664994" y="1736266"/>
            <a:ext cx="371475" cy="14288"/>
          </a:xfrm>
          <a:prstGeom prst="roundRect">
            <a:avLst>
              <a:gd name="adj" fmla="val 133329"/>
            </a:avLst>
          </a:prstGeom>
          <a:solidFill>
            <a:srgbClr val="FFB7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5664994" y="1879141"/>
            <a:ext cx="2814638" cy="569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6"/>
              </a:lnSpc>
              <a:buNone/>
            </a:pPr>
            <a:r>
              <a:rPr lang="en-US" sz="1153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</a:t>
            </a:r>
            <a:pPr algn="l" indent="0" marL="0">
              <a:lnSpc>
                <a:spcPts val="2076"/>
              </a:lnSpc>
              <a:buNone/>
            </a:pPr>
            <a:r>
              <a:rPr lang="en-US" sz="1153" dirty="0">
                <a:solidFill>
                  <a:srgbClr val="FFB7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不证明</a:t>
            </a:r>
            <a:pPr algn="l" indent="0" marL="0">
              <a:lnSpc>
                <a:spcPts val="2076"/>
              </a:lnSpc>
              <a:buNone/>
            </a:pPr>
            <a:r>
              <a:rPr lang="en-US" sz="1153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黎曼假设。我们绘制完整的</a:t>
            </a:r>
            <a:pPr algn="l" indent="0" marL="0">
              <a:lnSpc>
                <a:spcPts val="2076"/>
              </a:lnSpc>
              <a:buNone/>
            </a:pPr>
            <a:r>
              <a:rPr lang="en-US" sz="1153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定量图谱</a:t>
            </a:r>
            <a:pPr algn="l" indent="0" marL="0">
              <a:lnSpc>
                <a:spcPts val="2076"/>
              </a:lnSpc>
              <a:buNone/>
            </a:pPr>
            <a:r>
              <a:rPr lang="en-US" sz="1153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：有限格点系综如何逼近普适统计</a:t>
            </a:r>
            <a:endParaRPr lang="en-US" sz="115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00050"/>
            <a:ext cx="863600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00" spc="194" kern="0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 · </a:t>
            </a:r>
            <a:pPr algn="l" indent="0" marL="0">
              <a:lnSpc>
                <a:spcPts val="970"/>
              </a:lnSpc>
              <a:buNone/>
            </a:pPr>
            <a:r>
              <a:rPr lang="en-US" sz="700" spc="194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</a:t>
            </a:r>
            <a:pPr algn="l" indent="0" marL="0">
              <a:lnSpc>
                <a:spcPts val="970"/>
              </a:lnSpc>
              <a:buNone/>
            </a:pPr>
            <a:r>
              <a:rPr lang="en-US" sz="700" spc="194" kern="0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970"/>
              </a:lnSpc>
              <a:buNone/>
            </a:pPr>
            <a:r>
              <a:rPr lang="en-US" sz="700" spc="194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457200" y="623292"/>
            <a:ext cx="8636000" cy="314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913" b="1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</a:t>
            </a:r>
            <a:pPr algn="l" indent="0" marL="0">
              <a:lnSpc>
                <a:spcPts val="2295"/>
              </a:lnSpc>
              <a:buNone/>
            </a:pPr>
            <a:r>
              <a:rPr lang="en-US" sz="1913" b="1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云：晶格、相位、涡旋</a:t>
            </a:r>
            <a:endParaRPr lang="en-US" sz="1913" dirty="0"/>
          </a:p>
        </p:txBody>
      </p:sp>
      <p:sp>
        <p:nvSpPr>
          <p:cNvPr id="6" name="Text 2"/>
          <p:cNvSpPr/>
          <p:nvPr/>
        </p:nvSpPr>
        <p:spPr>
          <a:xfrm>
            <a:off x="457200" y="1014747"/>
            <a:ext cx="514350" cy="21431"/>
          </a:xfrm>
          <a:prstGeom prst="roundRect">
            <a:avLst>
              <a:gd name="adj" fmla="val 88890"/>
            </a:avLst>
          </a:prstGeom>
          <a:solidFill>
            <a:srgbClr val="FFB7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460772" y="1168338"/>
            <a:ext cx="8222456" cy="744736"/>
          </a:xfrm>
          <a:prstGeom prst="roundRect">
            <a:avLst>
              <a:gd name="adj" fmla="val 15348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635794" y="1286210"/>
            <a:ext cx="7872413" cy="272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spc="-9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algn="l" indent="0" marL="0">
              <a:lnSpc>
                <a:spcPts val="2025"/>
              </a:lnSpc>
              <a:buNone/>
            </a:pPr>
            <a:r>
              <a:rPr lang="en-US" sz="837" baseline="-40000" spc="-9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ij</a:t>
            </a:r>
            <a:pPr algn="l" indent="0" marL="0">
              <a:lnSpc>
                <a:spcPts val="2025"/>
              </a:lnSpc>
              <a:buNone/>
            </a:pPr>
            <a:r>
              <a:rPr lang="en-US" sz="1350" spc="-9" kern="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−exp(iφ</a:t>
            </a:r>
            <a:pPr algn="l" indent="0" marL="0">
              <a:lnSpc>
                <a:spcPts val="2025"/>
              </a:lnSpc>
              <a:buNone/>
            </a:pPr>
            <a:r>
              <a:rPr lang="en-US" sz="837" baseline="-40000" spc="-9" kern="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ij</a:t>
            </a:r>
            <a:pPr algn="l" indent="0" marL="0">
              <a:lnSpc>
                <a:spcPts val="2025"/>
              </a:lnSpc>
              <a:buNone/>
            </a:pPr>
            <a:r>
              <a:rPr lang="en-US" sz="1350" spc="-9" kern="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35794" y="1586247"/>
            <a:ext cx="798214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45"/>
              </a:lnSpc>
              <a:buNone/>
            </a:pPr>
            <a:r>
              <a:rPr lang="en-US" sz="1097" spc="-9" kern="0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φ</a:t>
            </a:r>
            <a:pPr algn="l" indent="0" marL="0">
              <a:lnSpc>
                <a:spcPts val="1645"/>
              </a:lnSpc>
              <a:buNone/>
            </a:pPr>
            <a:r>
              <a:rPr lang="en-US" sz="800" baseline="-40000" spc="-9" kern="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ij</a:t>
            </a:r>
            <a:pPr algn="l" indent="0" marL="0">
              <a:lnSpc>
                <a:spcPts val="1645"/>
              </a:lnSpc>
              <a:buNone/>
            </a:pPr>
            <a:r>
              <a:rPr lang="en-US" sz="1097" spc="-9" kern="0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2πα·j + Σ</a:t>
            </a:r>
            <a:pPr algn="l" indent="0" marL="0">
              <a:lnSpc>
                <a:spcPts val="1645"/>
              </a:lnSpc>
              <a:buNone/>
            </a:pPr>
            <a:r>
              <a:rPr lang="en-US" sz="800" baseline="-40000" spc="-9" kern="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algn="l" indent="0" marL="0">
              <a:lnSpc>
                <a:spcPts val="1645"/>
              </a:lnSpc>
              <a:buNone/>
            </a:pPr>
            <a:r>
              <a:rPr lang="en-US" sz="1097" spc="-9" kern="0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q</a:t>
            </a:r>
            <a:pPr algn="l" indent="0" marL="0">
              <a:lnSpc>
                <a:spcPts val="1645"/>
              </a:lnSpc>
              <a:buNone/>
            </a:pPr>
            <a:r>
              <a:rPr lang="en-US" sz="800" baseline="-40000" spc="-9" kern="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algn="l" indent="0" marL="0">
              <a:lnSpc>
                <a:spcPts val="1645"/>
              </a:lnSpc>
              <a:buNone/>
            </a:pPr>
            <a:r>
              <a:rPr lang="en-US" sz="1097" spc="-9" kern="0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·[arg(r</a:t>
            </a:r>
            <a:pPr algn="l" indent="0" marL="0">
              <a:lnSpc>
                <a:spcPts val="1645"/>
              </a:lnSpc>
              <a:buNone/>
            </a:pPr>
            <a:r>
              <a:rPr lang="en-US" sz="800" baseline="-40000" spc="-9" kern="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ts val="1645"/>
              </a:lnSpc>
              <a:buNone/>
            </a:pPr>
            <a:r>
              <a:rPr lang="en-US" sz="1097" spc="-9" kern="0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−r</a:t>
            </a:r>
            <a:pPr algn="l" indent="0" marL="0">
              <a:lnSpc>
                <a:spcPts val="1645"/>
              </a:lnSpc>
              <a:buNone/>
            </a:pPr>
            <a:r>
              <a:rPr lang="en-US" sz="800" baseline="-40000" spc="-9" kern="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algn="l" indent="0" marL="0">
              <a:lnSpc>
                <a:spcPts val="1645"/>
              </a:lnSpc>
              <a:buNone/>
            </a:pPr>
            <a:r>
              <a:rPr lang="en-US" sz="1097" spc="-9" kern="0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 − arg(r</a:t>
            </a:r>
            <a:pPr algn="l" indent="0" marL="0">
              <a:lnSpc>
                <a:spcPts val="1645"/>
              </a:lnSpc>
              <a:buNone/>
            </a:pPr>
            <a:r>
              <a:rPr lang="en-US" sz="800" baseline="-40000" spc="-9" kern="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pPr algn="l" indent="0" marL="0">
              <a:lnSpc>
                <a:spcPts val="1645"/>
              </a:lnSpc>
              <a:buNone/>
            </a:pPr>
            <a:r>
              <a:rPr lang="en-US" sz="1097" spc="-9" kern="0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−r</a:t>
            </a:r>
            <a:pPr algn="l" indent="0" marL="0">
              <a:lnSpc>
                <a:spcPts val="1645"/>
              </a:lnSpc>
              <a:buNone/>
            </a:pPr>
            <a:r>
              <a:rPr lang="en-US" sz="800" baseline="-40000" spc="-9" kern="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algn="l" indent="0" marL="0">
              <a:lnSpc>
                <a:spcPts val="1645"/>
              </a:lnSpc>
              <a:buNone/>
            </a:pPr>
            <a:r>
              <a:rPr lang="en-US" sz="1097" spc="-9" kern="0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)] + </a:t>
            </a:r>
            <a:pPr algn="l" indent="0" marL="0">
              <a:lnSpc>
                <a:spcPts val="1645"/>
              </a:lnSpc>
              <a:buNone/>
            </a:pPr>
            <a:r>
              <a:rPr lang="en-US" sz="1097" spc="-9" kern="0" dirty="0">
                <a:solidFill>
                  <a:srgbClr val="FFB7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φ</a:t>
            </a:r>
            <a:pPr algn="l" indent="0" marL="0">
              <a:lnSpc>
                <a:spcPts val="1645"/>
              </a:lnSpc>
              <a:buNone/>
            </a:pPr>
            <a:r>
              <a:rPr lang="en-US" sz="700" baseline="30000" spc="-9" kern="0" dirty="0">
                <a:solidFill>
                  <a:srgbClr val="FFB7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弦</a:t>
            </a:r>
            <a:endParaRPr lang="en-US" sz="1097" dirty="0"/>
          </a:p>
        </p:txBody>
      </p:sp>
      <p:sp>
        <p:nvSpPr>
          <p:cNvPr id="10" name="Text 6"/>
          <p:cNvSpPr/>
          <p:nvPr/>
        </p:nvSpPr>
        <p:spPr>
          <a:xfrm>
            <a:off x="460772" y="2091668"/>
            <a:ext cx="278606" cy="278606"/>
          </a:xfrm>
          <a:prstGeom prst="roundRect">
            <a:avLst>
              <a:gd name="adj" fmla="val 34188"/>
            </a:avLst>
          </a:prstGeom>
          <a:solidFill>
            <a:srgbClr val="4FC3F7">
              <a:alpha val="10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257837" y="2118457"/>
            <a:ext cx="684476" cy="24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grid_on</a:t>
            </a:r>
            <a:endParaRPr lang="en-US" sz="1181" dirty="0"/>
          </a:p>
        </p:txBody>
      </p:sp>
      <p:sp>
        <p:nvSpPr>
          <p:cNvPr id="12" name="Text 8"/>
          <p:cNvSpPr/>
          <p:nvPr/>
        </p:nvSpPr>
        <p:spPr>
          <a:xfrm>
            <a:off x="842963" y="2088096"/>
            <a:ext cx="4300538" cy="193002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Landau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规范：列相位 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2πα·j</a:t>
            </a:r>
            <a:endParaRPr lang="en-US" sz="872" dirty="0"/>
          </a:p>
        </p:txBody>
      </p:sp>
      <p:sp>
        <p:nvSpPr>
          <p:cNvPr id="13" name="Text 9"/>
          <p:cNvSpPr/>
          <p:nvPr/>
        </p:nvSpPr>
        <p:spPr>
          <a:xfrm>
            <a:off x="460772" y="2858393"/>
            <a:ext cx="278606" cy="278606"/>
          </a:xfrm>
          <a:prstGeom prst="roundRect">
            <a:avLst>
              <a:gd name="adj" fmla="val 34188"/>
            </a:avLst>
          </a:prstGeom>
          <a:solidFill>
            <a:srgbClr val="4FC3F7">
              <a:alpha val="10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251641" y="2885182"/>
            <a:ext cx="696867" cy="24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cyclone</a:t>
            </a:r>
            <a:endParaRPr lang="en-US" sz="1181" dirty="0"/>
          </a:p>
        </p:txBody>
      </p:sp>
      <p:sp>
        <p:nvSpPr>
          <p:cNvPr id="15" name="Text 11"/>
          <p:cNvSpPr/>
          <p:nvPr/>
        </p:nvSpPr>
        <p:spPr>
          <a:xfrm>
            <a:off x="842963" y="2854821"/>
            <a:ext cx="4300538" cy="193002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涡旋 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algn="l" indent="0" marL="0">
              <a:lnSpc>
                <a:spcPts val="1351"/>
              </a:lnSpc>
              <a:buNone/>
            </a:pPr>
            <a:r>
              <a:rPr lang="en-US" sz="800" baseline="-400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使相位绕转 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2πq</a:t>
            </a:r>
            <a:pPr algn="l" indent="0" marL="0">
              <a:lnSpc>
                <a:spcPts val="1351"/>
              </a:lnSpc>
              <a:buNone/>
            </a:pPr>
            <a:r>
              <a:rPr lang="en-US" sz="800" baseline="-40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872" dirty="0"/>
          </a:p>
        </p:txBody>
      </p:sp>
      <p:sp>
        <p:nvSpPr>
          <p:cNvPr id="16" name="Text 12"/>
          <p:cNvSpPr/>
          <p:nvPr/>
        </p:nvSpPr>
        <p:spPr>
          <a:xfrm>
            <a:off x="460772" y="3625230"/>
            <a:ext cx="278606" cy="278606"/>
          </a:xfrm>
          <a:prstGeom prst="roundRect">
            <a:avLst>
              <a:gd name="adj" fmla="val 34188"/>
            </a:avLst>
          </a:prstGeom>
          <a:solidFill>
            <a:srgbClr val="4FC3F7">
              <a:alpha val="10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397086" y="3652019"/>
            <a:ext cx="420713" cy="24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bolt</a:t>
            </a:r>
            <a:endParaRPr lang="en-US" sz="1181" dirty="0"/>
          </a:p>
        </p:txBody>
      </p:sp>
      <p:sp>
        <p:nvSpPr>
          <p:cNvPr id="18" name="Text 14"/>
          <p:cNvSpPr/>
          <p:nvPr/>
        </p:nvSpPr>
        <p:spPr>
          <a:xfrm>
            <a:off x="842963" y="3621658"/>
            <a:ext cx="4300538" cy="193002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狄拉克弦：穿过弦的键加 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−2πq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——恰有一个元胞携带磁通 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2πq</a:t>
            </a:r>
            <a:endParaRPr lang="en-US" sz="872" dirty="0"/>
          </a:p>
        </p:txBody>
      </p:sp>
      <p:sp>
        <p:nvSpPr>
          <p:cNvPr id="19" name="Text 15"/>
          <p:cNvSpPr/>
          <p:nvPr/>
        </p:nvSpPr>
        <p:spPr>
          <a:xfrm>
            <a:off x="460772" y="4391955"/>
            <a:ext cx="278606" cy="278606"/>
          </a:xfrm>
          <a:prstGeom prst="roundRect">
            <a:avLst>
              <a:gd name="adj" fmla="val 34188"/>
            </a:avLst>
          </a:prstGeom>
          <a:solidFill>
            <a:srgbClr val="4FC3F7">
              <a:alpha val="10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251641" y="4418744"/>
            <a:ext cx="696867" cy="243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shuffle</a:t>
            </a:r>
            <a:endParaRPr lang="en-US" sz="1181" dirty="0"/>
          </a:p>
        </p:txBody>
      </p:sp>
      <p:sp>
        <p:nvSpPr>
          <p:cNvPr id="21" name="Text 17"/>
          <p:cNvSpPr/>
          <p:nvPr/>
        </p:nvSpPr>
        <p:spPr>
          <a:xfrm>
            <a:off x="842963" y="4388383"/>
            <a:ext cx="4300538" cy="193002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格点无序 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RNG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种子固定</a:t>
            </a:r>
            <a:endParaRPr lang="en-US" sz="872" dirty="0"/>
          </a:p>
        </p:txBody>
      </p:sp>
      <p:sp>
        <p:nvSpPr>
          <p:cNvPr id="22" name="Text 18"/>
          <p:cNvSpPr/>
          <p:nvPr/>
        </p:nvSpPr>
        <p:spPr>
          <a:xfrm>
            <a:off x="5343525" y="2045233"/>
            <a:ext cx="3343275" cy="2400300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76200" dir="540000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3" name="Image 2" descr="/tmp/h2p-fit-1787909753217-z2qwh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4963" y="2116671"/>
            <a:ext cx="3200400" cy="225742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343525" y="4516971"/>
            <a:ext cx="3343275" cy="163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59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涡旋对 </a:t>
            </a:r>
            <a:pPr algn="ctr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q=±1</a:t>
            </a:r>
            <a:pPr algn="ctr" indent="0" marL="0">
              <a:lnSpc>
                <a:spcPts val="1200"/>
              </a:lnSpc>
              <a:buNone/>
            </a:pPr>
            <a:r>
              <a:rPr lang="en-US" sz="759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在 </a:t>
            </a:r>
            <a:pPr algn="ctr" indent="0" marL="0">
              <a:lnSpc>
                <a:spcPts val="1200"/>
              </a:lnSpc>
              <a:buNone/>
            </a:pPr>
            <a:r>
              <a:rPr lang="en-US" sz="759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Landau</a:t>
            </a:r>
            <a:pPr algn="ctr" indent="0" marL="0">
              <a:lnSpc>
                <a:spcPts val="1200"/>
              </a:lnSpc>
              <a:buNone/>
            </a:pPr>
            <a:r>
              <a:rPr lang="en-US" sz="759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规范上的相位『云』</a:t>
            </a:r>
            <a:endParaRPr lang="en-US" sz="759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00050"/>
            <a:ext cx="863600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00" spc="194" kern="0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规范选择 · </a:t>
            </a:r>
            <a:pPr algn="l" indent="0" marL="0">
              <a:lnSpc>
                <a:spcPts val="970"/>
              </a:lnSpc>
              <a:buNone/>
            </a:pPr>
            <a:r>
              <a:rPr lang="en-US" sz="700" spc="194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GAUGE</a:t>
            </a:r>
            <a:pPr algn="l" indent="0" marL="0">
              <a:lnSpc>
                <a:spcPts val="970"/>
              </a:lnSpc>
              <a:buNone/>
            </a:pPr>
            <a:r>
              <a:rPr lang="en-US" sz="700" spc="194" kern="0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970"/>
              </a:lnSpc>
              <a:buNone/>
            </a:pPr>
            <a:r>
              <a:rPr lang="en-US" sz="700" spc="194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BIFURCATION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457200" y="623292"/>
            <a:ext cx="8636000" cy="314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913" b="1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两种相位规范——整个套件的关键分叉</a:t>
            </a:r>
            <a:endParaRPr lang="en-US" sz="1913" dirty="0"/>
          </a:p>
        </p:txBody>
      </p:sp>
      <p:sp>
        <p:nvSpPr>
          <p:cNvPr id="6" name="Text 2"/>
          <p:cNvSpPr/>
          <p:nvPr/>
        </p:nvSpPr>
        <p:spPr>
          <a:xfrm>
            <a:off x="457200" y="1014747"/>
            <a:ext cx="514350" cy="21431"/>
          </a:xfrm>
          <a:prstGeom prst="roundRect">
            <a:avLst>
              <a:gd name="adj" fmla="val 88890"/>
            </a:avLst>
          </a:prstGeom>
          <a:solidFill>
            <a:srgbClr val="FFB7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457200" y="1164766"/>
            <a:ext cx="4029075" cy="2843213"/>
          </a:xfrm>
          <a:prstGeom prst="roundRect">
            <a:avLst>
              <a:gd name="adj" fmla="val 4020"/>
            </a:avLst>
          </a:prstGeom>
          <a:solidFill>
            <a:srgbClr val="12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4"/>
          <p:cNvSpPr/>
          <p:nvPr/>
        </p:nvSpPr>
        <p:spPr>
          <a:xfrm>
            <a:off x="457200" y="1175482"/>
            <a:ext cx="4029075" cy="0"/>
          </a:xfrm>
          <a:prstGeom prst="line">
            <a:avLst/>
          </a:prstGeom>
          <a:noFill/>
          <a:ln w="21431">
            <a:solidFill>
              <a:srgbClr val="FFA726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482703" y="1164766"/>
            <a:ext cx="0" cy="2843213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4004407"/>
            <a:ext cx="4029075" cy="0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60772" y="1164766"/>
            <a:ext cx="0" cy="2843213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50081" y="1343360"/>
            <a:ext cx="943663" cy="300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4"/>
              </a:lnSpc>
              <a:buNone/>
            </a:pPr>
            <a:r>
              <a:rPr lang="en-US" sz="1463" spc="-15" kern="0" dirty="0">
                <a:solidFill>
                  <a:srgbClr val="FFA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:dirac</a:t>
            </a:r>
            <a:endParaRPr lang="en-US" sz="1463" dirty="0"/>
          </a:p>
        </p:txBody>
      </p:sp>
      <p:sp>
        <p:nvSpPr>
          <p:cNvPr id="13" name="Text 9"/>
          <p:cNvSpPr/>
          <p:nvPr/>
        </p:nvSpPr>
        <p:spPr>
          <a:xfrm>
            <a:off x="1395710" y="1436229"/>
            <a:ext cx="2897684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——显式弦</a:t>
            </a:r>
            <a:endParaRPr lang="en-US" sz="788" dirty="0"/>
          </a:p>
        </p:txBody>
      </p:sp>
      <p:sp>
        <p:nvSpPr>
          <p:cNvPr id="14" name="Text 10"/>
          <p:cNvSpPr/>
          <p:nvPr/>
        </p:nvSpPr>
        <p:spPr>
          <a:xfrm>
            <a:off x="650081" y="1721979"/>
            <a:ext cx="3643313" cy="7144"/>
          </a:xfrm>
          <a:prstGeom prst="rect">
            <a:avLst/>
          </a:prstGeom>
          <a:solidFill>
            <a:srgbClr val="4FC3F7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650081" y="1843422"/>
            <a:ext cx="114300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72" dirty="0">
                <a:solidFill>
                  <a:srgbClr val="9DB4C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▸</a:t>
            </a:r>
            <a:endParaRPr lang="en-US" sz="872" dirty="0"/>
          </a:p>
        </p:txBody>
      </p:sp>
      <p:sp>
        <p:nvSpPr>
          <p:cNvPr id="16" name="Text 12"/>
          <p:cNvSpPr/>
          <p:nvPr/>
        </p:nvSpPr>
        <p:spPr>
          <a:xfrm>
            <a:off x="835819" y="1843422"/>
            <a:ext cx="3457575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整数荷规范不可见（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Byers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Yang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872" dirty="0"/>
          </a:p>
        </p:txBody>
      </p:sp>
      <p:sp>
        <p:nvSpPr>
          <p:cNvPr id="17" name="Text 13"/>
          <p:cNvSpPr/>
          <p:nvPr/>
        </p:nvSpPr>
        <p:spPr>
          <a:xfrm>
            <a:off x="650081" y="2095240"/>
            <a:ext cx="114300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72" dirty="0">
                <a:solidFill>
                  <a:srgbClr val="9DB4C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▸</a:t>
            </a:r>
            <a:endParaRPr lang="en-US" sz="872" dirty="0"/>
          </a:p>
        </p:txBody>
      </p:sp>
      <p:sp>
        <p:nvSpPr>
          <p:cNvPr id="18" name="Text 14"/>
          <p:cNvSpPr/>
          <p:nvPr/>
        </p:nvSpPr>
        <p:spPr>
          <a:xfrm>
            <a:off x="835819" y="2095240"/>
            <a:ext cx="3457575" cy="187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矩阵为实：τ(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)=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GOE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类</a:t>
            </a:r>
            <a:endParaRPr lang="en-US" sz="872" dirty="0"/>
          </a:p>
        </p:txBody>
      </p:sp>
      <p:sp>
        <p:nvSpPr>
          <p:cNvPr id="19" name="Text 15"/>
          <p:cNvSpPr/>
          <p:nvPr/>
        </p:nvSpPr>
        <p:spPr>
          <a:xfrm>
            <a:off x="650081" y="2397063"/>
            <a:ext cx="3643313" cy="2368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88" spc="-34" kern="0" dirty="0">
                <a:solidFill>
                  <a:srgbClr val="FFA72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⟨r⟩ = 0.513</a:t>
            </a:r>
            <a:endParaRPr lang="en-US" sz="1688" dirty="0"/>
          </a:p>
        </p:txBody>
      </p:sp>
      <p:sp>
        <p:nvSpPr>
          <p:cNvPr id="20" name="Text 16"/>
          <p:cNvSpPr/>
          <p:nvPr/>
        </p:nvSpPr>
        <p:spPr>
          <a:xfrm>
            <a:off x="650081" y="2661382"/>
            <a:ext cx="3643313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</a:t>
            </a:r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GOE</a:t>
            </a:r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天花板，无序无济于事</a:t>
            </a:r>
            <a:endParaRPr lang="en-US" sz="788" dirty="0"/>
          </a:p>
        </p:txBody>
      </p:sp>
      <p:sp>
        <p:nvSpPr>
          <p:cNvPr id="21" name="Text 17"/>
          <p:cNvSpPr/>
          <p:nvPr/>
        </p:nvSpPr>
        <p:spPr>
          <a:xfrm>
            <a:off x="3808155" y="3605843"/>
            <a:ext cx="503902" cy="250631"/>
          </a:xfrm>
          <a:prstGeom prst="roundRect">
            <a:avLst>
              <a:gd name="adj" fmla="val 3796607"/>
            </a:avLst>
          </a:prstGeom>
          <a:noFill/>
          <a:ln w="7144">
            <a:solidFill>
              <a:srgbClr val="FFA7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3826818" y="3618644"/>
            <a:ext cx="466576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FA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4657725" y="1164766"/>
            <a:ext cx="4029075" cy="2843213"/>
          </a:xfrm>
          <a:prstGeom prst="roundRect">
            <a:avLst>
              <a:gd name="adj" fmla="val 4020"/>
            </a:avLst>
          </a:prstGeom>
          <a:solidFill>
            <a:srgbClr val="12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0"/>
          <p:cNvSpPr/>
          <p:nvPr/>
        </p:nvSpPr>
        <p:spPr>
          <a:xfrm>
            <a:off x="4657725" y="1175482"/>
            <a:ext cx="4029075" cy="0"/>
          </a:xfrm>
          <a:prstGeom prst="line">
            <a:avLst/>
          </a:prstGeom>
          <a:noFill/>
          <a:ln w="21431">
            <a:solidFill>
              <a:srgbClr val="66BB6A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683228" y="1164766"/>
            <a:ext cx="0" cy="2843213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657725" y="4004407"/>
            <a:ext cx="4029075" cy="0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661297" y="1164766"/>
            <a:ext cx="0" cy="2843213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850606" y="1343360"/>
            <a:ext cx="1512047" cy="300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4"/>
              </a:lnSpc>
              <a:buNone/>
            </a:pPr>
            <a:r>
              <a:rPr lang="en-US" sz="1463" spc="-15" kern="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:monumental</a:t>
            </a:r>
            <a:endParaRPr lang="en-US" sz="1463" dirty="0"/>
          </a:p>
        </p:txBody>
      </p:sp>
      <p:sp>
        <p:nvSpPr>
          <p:cNvPr id="29" name="Text 25"/>
          <p:cNvSpPr/>
          <p:nvPr/>
        </p:nvSpPr>
        <p:spPr>
          <a:xfrm>
            <a:off x="6145969" y="1436229"/>
            <a:ext cx="2347950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——光滑 </a:t>
            </a:r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atan</a:t>
            </a:r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模型</a:t>
            </a:r>
            <a:endParaRPr lang="en-US" sz="788" dirty="0"/>
          </a:p>
        </p:txBody>
      </p:sp>
      <p:sp>
        <p:nvSpPr>
          <p:cNvPr id="30" name="Text 26"/>
          <p:cNvSpPr/>
          <p:nvPr/>
        </p:nvSpPr>
        <p:spPr>
          <a:xfrm>
            <a:off x="4850606" y="1721979"/>
            <a:ext cx="3643313" cy="7144"/>
          </a:xfrm>
          <a:prstGeom prst="rect">
            <a:avLst/>
          </a:prstGeom>
          <a:solidFill>
            <a:srgbClr val="4FC3F7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4850606" y="1843422"/>
            <a:ext cx="114300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72" dirty="0">
                <a:solidFill>
                  <a:srgbClr val="9DB4C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▸</a:t>
            </a:r>
            <a:endParaRPr lang="en-US" sz="872" dirty="0"/>
          </a:p>
        </p:txBody>
      </p:sp>
      <p:sp>
        <p:nvSpPr>
          <p:cNvPr id="32" name="Text 28"/>
          <p:cNvSpPr/>
          <p:nvPr/>
        </p:nvSpPr>
        <p:spPr>
          <a:xfrm>
            <a:off x="5036344" y="1843422"/>
            <a:ext cx="3457575" cy="187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相位对任意 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均为复数</a:t>
            </a:r>
            <a:endParaRPr lang="en-US" sz="872" dirty="0"/>
          </a:p>
        </p:txBody>
      </p:sp>
      <p:sp>
        <p:nvSpPr>
          <p:cNvPr id="33" name="Text 29"/>
          <p:cNvSpPr/>
          <p:nvPr/>
        </p:nvSpPr>
        <p:spPr>
          <a:xfrm>
            <a:off x="4850606" y="2102383"/>
            <a:ext cx="114300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72" dirty="0">
                <a:solidFill>
                  <a:srgbClr val="9DB4C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▸</a:t>
            </a:r>
            <a:endParaRPr lang="en-US" sz="872" dirty="0"/>
          </a:p>
        </p:txBody>
      </p:sp>
      <p:sp>
        <p:nvSpPr>
          <p:cNvPr id="34" name="Text 30"/>
          <p:cNvSpPr/>
          <p:nvPr/>
        </p:nvSpPr>
        <p:spPr>
          <a:xfrm>
            <a:off x="5036344" y="2102383"/>
            <a:ext cx="3457575" cy="187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τ(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 = 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0.225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对称破缺</a:t>
            </a:r>
            <a:endParaRPr lang="en-US" sz="872" dirty="0"/>
          </a:p>
        </p:txBody>
      </p:sp>
      <p:sp>
        <p:nvSpPr>
          <p:cNvPr id="35" name="Text 31"/>
          <p:cNvSpPr/>
          <p:nvPr/>
        </p:nvSpPr>
        <p:spPr>
          <a:xfrm>
            <a:off x="4850606" y="2404207"/>
            <a:ext cx="3643313" cy="2368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88" spc="-34" kern="0" dirty="0">
                <a:solidFill>
                  <a:srgbClr val="66BB6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⟨r⟩ = 0.585</a:t>
            </a:r>
            <a:endParaRPr lang="en-US" sz="1688" dirty="0"/>
          </a:p>
        </p:txBody>
      </p:sp>
      <p:sp>
        <p:nvSpPr>
          <p:cNvPr id="36" name="Text 32"/>
          <p:cNvSpPr/>
          <p:nvPr/>
        </p:nvSpPr>
        <p:spPr>
          <a:xfrm>
            <a:off x="4850606" y="2668525"/>
            <a:ext cx="3643313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</a:t>
            </a:r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GUE</a:t>
            </a:r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带内</a:t>
            </a:r>
            <a:endParaRPr lang="en-US" sz="788" dirty="0"/>
          </a:p>
        </p:txBody>
      </p:sp>
      <p:sp>
        <p:nvSpPr>
          <p:cNvPr id="37" name="Text 33"/>
          <p:cNvSpPr/>
          <p:nvPr/>
        </p:nvSpPr>
        <p:spPr>
          <a:xfrm>
            <a:off x="8008680" y="3605843"/>
            <a:ext cx="503902" cy="250631"/>
          </a:xfrm>
          <a:prstGeom prst="roundRect">
            <a:avLst>
              <a:gd name="adj" fmla="val 3796607"/>
            </a:avLst>
          </a:prstGeom>
          <a:noFill/>
          <a:ln w="7144">
            <a:solidFill>
              <a:srgbClr val="66BB6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4"/>
          <p:cNvSpPr/>
          <p:nvPr/>
        </p:nvSpPr>
        <p:spPr>
          <a:xfrm>
            <a:off x="8027343" y="3618644"/>
            <a:ext cx="466576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460772" y="4125850"/>
            <a:ext cx="8222456" cy="514350"/>
          </a:xfrm>
          <a:prstGeom prst="roundRect">
            <a:avLst>
              <a:gd name="adj" fmla="val 22222"/>
            </a:avLst>
          </a:prstGeom>
          <a:solidFill>
            <a:srgbClr val="16304F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635794" y="4243722"/>
            <a:ext cx="1833237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4"/>
              </a:lnSpc>
              <a:buNone/>
            </a:pPr>
            <a:r>
              <a:rPr lang="en-US" sz="1463" dirty="0">
                <a:solidFill>
                  <a:srgbClr val="FFB7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tips_and_updates</a:t>
            </a:r>
            <a:endParaRPr lang="en-US" sz="1463" dirty="0"/>
          </a:p>
        </p:txBody>
      </p:sp>
      <p:sp>
        <p:nvSpPr>
          <p:cNvPr id="41" name="Text 37"/>
          <p:cNvSpPr/>
          <p:nvPr/>
        </p:nvSpPr>
        <p:spPr>
          <a:xfrm>
            <a:off x="2216683" y="4291719"/>
            <a:ext cx="6298667" cy="197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9"/>
              </a:lnSpc>
              <a:buNone/>
            </a:pPr>
            <a:r>
              <a:rPr lang="en-US" sz="928" b="1" dirty="0">
                <a:solidFill>
                  <a:srgbClr val="FFB7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教训：</a:t>
            </a:r>
            <a:pPr algn="l" indent="0" marL="0">
              <a:lnSpc>
                <a:spcPts val="1439"/>
              </a:lnSpc>
              <a:buNone/>
            </a:pPr>
            <a:r>
              <a:rPr lang="en-US" sz="928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相位规范是</a:t>
            </a:r>
            <a:pPr algn="l" indent="0" marL="0">
              <a:lnSpc>
                <a:spcPts val="1439"/>
              </a:lnSpc>
              <a:buNone/>
            </a:pPr>
            <a:r>
              <a:rPr lang="en-US" sz="928" b="1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物理规约的一部分</a:t>
            </a:r>
            <a:pPr algn="l" indent="0" marL="0">
              <a:lnSpc>
                <a:spcPts val="1439"/>
              </a:lnSpc>
              <a:buNone/>
            </a:pPr>
            <a:r>
              <a:rPr lang="en-US" sz="928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。套件各版本的全部历史分歧皆可追溯到这一分叉</a:t>
            </a:r>
            <a:endParaRPr lang="en-US" sz="92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00050"/>
            <a:ext cx="863600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00" spc="194" kern="0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拓扑定理 · </a:t>
            </a:r>
            <a:pPr algn="l" indent="0" marL="0">
              <a:lnSpc>
                <a:spcPts val="970"/>
              </a:lnSpc>
              <a:buNone/>
            </a:pPr>
            <a:r>
              <a:rPr lang="en-US" sz="700" spc="194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MACHINE</a:t>
            </a:r>
            <a:pPr algn="l" indent="0" marL="0">
              <a:lnSpc>
                <a:spcPts val="970"/>
              </a:lnSpc>
              <a:buNone/>
            </a:pPr>
            <a:r>
              <a:rPr lang="en-US" sz="700" spc="194" kern="0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970"/>
              </a:lnSpc>
              <a:buNone/>
            </a:pPr>
            <a:r>
              <a:rPr lang="en-US" sz="700" spc="194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PRECISION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457200" y="623292"/>
            <a:ext cx="8636000" cy="314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913" b="1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拓扑骨架：机器精度</a:t>
            </a:r>
            <a:endParaRPr lang="en-US" sz="1913" dirty="0"/>
          </a:p>
        </p:txBody>
      </p:sp>
      <p:sp>
        <p:nvSpPr>
          <p:cNvPr id="6" name="Text 2"/>
          <p:cNvSpPr/>
          <p:nvPr/>
        </p:nvSpPr>
        <p:spPr>
          <a:xfrm>
            <a:off x="457200" y="1014747"/>
            <a:ext cx="514350" cy="21431"/>
          </a:xfrm>
          <a:prstGeom prst="roundRect">
            <a:avLst>
              <a:gd name="adj" fmla="val 88890"/>
            </a:avLst>
          </a:prstGeom>
          <a:solidFill>
            <a:srgbClr val="FFB7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460772" y="1168338"/>
            <a:ext cx="2659819" cy="1500522"/>
          </a:xfrm>
          <a:prstGeom prst="roundRect">
            <a:avLst>
              <a:gd name="adj" fmla="val 7617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607219" y="1300497"/>
            <a:ext cx="1980063" cy="29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85"/>
              </a:lnSpc>
              <a:buNone/>
            </a:pPr>
            <a:r>
              <a:rPr lang="en-US" sz="2081" spc="-42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3.5·10⁻¹⁵</a:t>
            </a:r>
            <a:endParaRPr lang="en-US" sz="2081" dirty="0"/>
          </a:p>
        </p:txBody>
      </p:sp>
      <p:sp>
        <p:nvSpPr>
          <p:cNvPr id="9" name="Text 5"/>
          <p:cNvSpPr/>
          <p:nvPr/>
        </p:nvSpPr>
        <p:spPr>
          <a:xfrm>
            <a:off x="2575157" y="1289675"/>
            <a:ext cx="414333" cy="202025"/>
          </a:xfrm>
          <a:prstGeom prst="roundRect">
            <a:avLst>
              <a:gd name="adj" fmla="val 4710048"/>
            </a:avLst>
          </a:prstGeom>
          <a:noFill/>
          <a:ln w="7144">
            <a:solidFill>
              <a:srgbClr val="66BB6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2590502" y="1300497"/>
            <a:ext cx="383642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607219" y="1635137"/>
            <a:ext cx="2366925" cy="334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Byers–Yang</a:t>
            </a:r>
            <a:pPr algn="l" indent="0" marL="0">
              <a:lnSpc>
                <a:spcPts val="1240"/>
              </a:lnSpc>
              <a:buNone/>
            </a:pPr>
            <a:r>
              <a:rPr lang="en-US" sz="788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：整数荷 </a:t>
            </a:r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q=1</a:t>
            </a:r>
            <a:pPr algn="l" indent="0" marL="0">
              <a:lnSpc>
                <a:spcPts val="1240"/>
              </a:lnSpc>
              <a:buNone/>
            </a:pPr>
            <a:r>
              <a:rPr lang="en-US" sz="788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谱上不可见；分数 </a:t>
            </a:r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q=0.3</a:t>
            </a:r>
            <a:pPr algn="l" indent="0" marL="0">
              <a:lnSpc>
                <a:spcPts val="1240"/>
              </a:lnSpc>
              <a:buNone/>
            </a:pPr>
            <a:r>
              <a:rPr lang="en-US" sz="788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位移 </a:t>
            </a:r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0.342</a:t>
            </a:r>
            <a:endParaRPr lang="en-US" sz="788" dirty="0"/>
          </a:p>
        </p:txBody>
      </p:sp>
      <p:sp>
        <p:nvSpPr>
          <p:cNvPr id="12" name="Text 8"/>
          <p:cNvSpPr/>
          <p:nvPr/>
        </p:nvSpPr>
        <p:spPr>
          <a:xfrm>
            <a:off x="3242035" y="1168338"/>
            <a:ext cx="2659819" cy="1500522"/>
          </a:xfrm>
          <a:prstGeom prst="roundRect">
            <a:avLst>
              <a:gd name="adj" fmla="val 7617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3388482" y="1300497"/>
            <a:ext cx="2366925" cy="29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85"/>
              </a:lnSpc>
              <a:buNone/>
            </a:pPr>
            <a:r>
              <a:rPr lang="en-US" sz="2081" spc="-42" kern="0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10⁻¹⁴ </a:t>
            </a:r>
            <a:pPr algn="l" indent="0" marL="0">
              <a:lnSpc>
                <a:spcPts val="2185"/>
              </a:lnSpc>
              <a:buNone/>
            </a:pPr>
            <a:r>
              <a:rPr lang="en-US" sz="1041" spc="-42" kern="0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弧度</a:t>
            </a:r>
            <a:endParaRPr lang="en-US" sz="2081" dirty="0"/>
          </a:p>
        </p:txBody>
      </p:sp>
      <p:sp>
        <p:nvSpPr>
          <p:cNvPr id="14" name="Text 10"/>
          <p:cNvSpPr/>
          <p:nvPr/>
        </p:nvSpPr>
        <p:spPr>
          <a:xfrm>
            <a:off x="3388482" y="1635137"/>
            <a:ext cx="2366925" cy="167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224</a:t>
            </a:r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个空元胞</a:t>
            </a:r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上的最大 |磁通|（狄拉克弦精确）</a:t>
            </a:r>
            <a:endParaRPr lang="en-US" sz="788" dirty="0"/>
          </a:p>
        </p:txBody>
      </p:sp>
      <p:sp>
        <p:nvSpPr>
          <p:cNvPr id="15" name="Text 11"/>
          <p:cNvSpPr/>
          <p:nvPr/>
        </p:nvSpPr>
        <p:spPr>
          <a:xfrm>
            <a:off x="6023297" y="1168338"/>
            <a:ext cx="2659931" cy="1500522"/>
          </a:xfrm>
          <a:prstGeom prst="roundRect">
            <a:avLst>
              <a:gd name="adj" fmla="val 7617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6169744" y="1300497"/>
            <a:ext cx="1453693" cy="120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spc="42" kern="0" dirty="0">
                <a:solidFill>
                  <a:srgbClr val="FFB7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α=</a:t>
            </a:r>
            <a:pPr algn="l" indent="0" marL="0">
              <a:lnSpc>
                <a:spcPts val="1055"/>
              </a:lnSpc>
              <a:buNone/>
            </a:pPr>
            <a:r>
              <a:rPr lang="en-US" sz="703" spc="42" kern="0" dirty="0">
                <a:solidFill>
                  <a:srgbClr val="FFB7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1/2</a:t>
            </a:r>
            <a:pPr algn="l" indent="0" marL="0">
              <a:lnSpc>
                <a:spcPts val="1055"/>
              </a:lnSpc>
              <a:buNone/>
            </a:pPr>
            <a:r>
              <a:rPr lang="en-US" sz="703" spc="42" kern="0" dirty="0">
                <a:solidFill>
                  <a:srgbClr val="FFB7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处</a:t>
            </a:r>
            <a:endParaRPr lang="en-US" sz="703" dirty="0"/>
          </a:p>
        </p:txBody>
      </p:sp>
      <p:sp>
        <p:nvSpPr>
          <p:cNvPr id="17" name="Text 13"/>
          <p:cNvSpPr/>
          <p:nvPr/>
        </p:nvSpPr>
        <p:spPr>
          <a:xfrm>
            <a:off x="6169744" y="1448730"/>
            <a:ext cx="1714056" cy="29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85"/>
              </a:lnSpc>
              <a:buNone/>
            </a:pPr>
            <a:r>
              <a:rPr lang="en-US" sz="2081" spc="-42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pPr algn="l" indent="0" marL="0">
              <a:lnSpc>
                <a:spcPts val="2185"/>
              </a:lnSpc>
              <a:buNone/>
            </a:pPr>
            <a:r>
              <a:rPr lang="en-US" sz="2081" spc="-42" kern="0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个零模</a:t>
            </a:r>
            <a:endParaRPr lang="en-US" sz="2081" dirty="0"/>
          </a:p>
        </p:txBody>
      </p:sp>
      <p:sp>
        <p:nvSpPr>
          <p:cNvPr id="18" name="Text 14"/>
          <p:cNvSpPr/>
          <p:nvPr/>
        </p:nvSpPr>
        <p:spPr>
          <a:xfrm>
            <a:off x="8137794" y="1289675"/>
            <a:ext cx="414333" cy="202025"/>
          </a:xfrm>
          <a:prstGeom prst="roundRect">
            <a:avLst>
              <a:gd name="adj" fmla="val 4710048"/>
            </a:avLst>
          </a:prstGeom>
          <a:noFill/>
          <a:ln w="7144">
            <a:solidFill>
              <a:srgbClr val="66BB6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8153140" y="1300497"/>
            <a:ext cx="383642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6169744" y="1783370"/>
            <a:ext cx="2367037" cy="167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Connes</a:t>
            </a:r>
            <a:pPr algn="l" indent="0" marL="0">
              <a:lnSpc>
                <a:spcPts val="1240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自对偶</a:t>
            </a:r>
            <a:pPr algn="l" indent="0" marL="0">
              <a:lnSpc>
                <a:spcPts val="1240"/>
              </a:lnSpc>
              <a:buNone/>
            </a:pPr>
            <a:r>
              <a:rPr lang="en-US" sz="788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E→−E</a:t>
            </a:r>
            <a:pPr algn="l" indent="0" marL="0">
              <a:lnSpc>
                <a:spcPts val="1240"/>
              </a:lnSpc>
              <a:buNone/>
            </a:pPr>
            <a:r>
              <a:rPr lang="en-US" sz="788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缺陷 </a:t>
            </a:r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1.4·10⁻¹⁵</a:t>
            </a:r>
            <a:endParaRPr lang="en-US" sz="788" dirty="0"/>
          </a:p>
        </p:txBody>
      </p:sp>
      <p:sp>
        <p:nvSpPr>
          <p:cNvPr id="21" name="Text 17"/>
          <p:cNvSpPr/>
          <p:nvPr/>
        </p:nvSpPr>
        <p:spPr>
          <a:xfrm>
            <a:off x="460772" y="2790304"/>
            <a:ext cx="4050506" cy="1356866"/>
          </a:xfrm>
          <a:prstGeom prst="roundRect">
            <a:avLst>
              <a:gd name="adj" fmla="val 8424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621506" y="3303761"/>
            <a:ext cx="878324" cy="35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en-US" sz="2475" spc="-49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0.0</a:t>
            </a:r>
            <a:endParaRPr lang="en-US" sz="2475" dirty="0"/>
          </a:p>
        </p:txBody>
      </p:sp>
      <p:sp>
        <p:nvSpPr>
          <p:cNvPr id="23" name="Text 19"/>
          <p:cNvSpPr/>
          <p:nvPr/>
        </p:nvSpPr>
        <p:spPr>
          <a:xfrm>
            <a:off x="1313334" y="3391272"/>
            <a:ext cx="3037210" cy="167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</a:t>
            </a:r>
            <a:pPr algn="l" indent="0" marL="0">
              <a:lnSpc>
                <a:spcPts val="1240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pPr algn="l" indent="0" marL="0">
              <a:lnSpc>
                <a:spcPts val="1240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pPr algn="l" indent="0" marL="0">
              <a:lnSpc>
                <a:spcPts val="1240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时手征缺陷</a:t>
            </a:r>
            <a:pPr algn="l" indent="0" marL="0">
              <a:lnSpc>
                <a:spcPts val="1240"/>
              </a:lnSpc>
              <a:buNone/>
            </a:pPr>
            <a:r>
              <a:rPr lang="en-US" sz="788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ΓHΓ=−H</a:t>
            </a:r>
            <a:pPr algn="l" indent="0" marL="0">
              <a:lnSpc>
                <a:spcPts val="1240"/>
              </a:lnSpc>
              <a:buNone/>
            </a:pPr>
            <a:r>
              <a:rPr lang="en-US" sz="788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W=4</a:t>
            </a:r>
            <a:pPr algn="l" indent="0" marL="0">
              <a:lnSpc>
                <a:spcPts val="1240"/>
              </a:lnSpc>
              <a:buNone/>
            </a:pPr>
            <a:r>
              <a:rPr lang="en-US" sz="788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时 </a:t>
            </a:r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5.9·10⁻³</a:t>
            </a:r>
            <a:endParaRPr lang="en-US" sz="788" dirty="0"/>
          </a:p>
        </p:txBody>
      </p:sp>
      <p:sp>
        <p:nvSpPr>
          <p:cNvPr id="24" name="Text 20"/>
          <p:cNvSpPr/>
          <p:nvPr/>
        </p:nvSpPr>
        <p:spPr>
          <a:xfrm>
            <a:off x="4632722" y="2790304"/>
            <a:ext cx="4050506" cy="1356866"/>
          </a:xfrm>
          <a:prstGeom prst="roundRect">
            <a:avLst>
              <a:gd name="adj" fmla="val 8424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4793456" y="3303761"/>
            <a:ext cx="1569845" cy="35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en-US" sz="2475" spc="-49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C₁ = 2</a:t>
            </a:r>
            <a:endParaRPr lang="en-US" sz="2475" dirty="0"/>
          </a:p>
        </p:txBody>
      </p:sp>
      <p:sp>
        <p:nvSpPr>
          <p:cNvPr id="26" name="Text 22"/>
          <p:cNvSpPr/>
          <p:nvPr/>
        </p:nvSpPr>
        <p:spPr>
          <a:xfrm>
            <a:off x="6034125" y="3391272"/>
            <a:ext cx="2488369" cy="167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最低带陈数</a:t>
            </a:r>
            <a:pPr algn="l" indent="0" marL="0">
              <a:lnSpc>
                <a:spcPts val="1240"/>
              </a:lnSpc>
              <a:buNone/>
            </a:pPr>
            <a:r>
              <a:rPr lang="en-US" sz="788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（Fukui–Hatsugai–Suzuki，</a:t>
            </a:r>
            <a:pPr algn="l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8×8</a:t>
            </a:r>
            <a:pPr algn="l" indent="0" marL="0">
              <a:lnSpc>
                <a:spcPts val="1240"/>
              </a:lnSpc>
              <a:buNone/>
            </a:pPr>
            <a:r>
              <a:rPr lang="en-US" sz="788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扭转）</a:t>
            </a:r>
            <a:endParaRPr lang="en-US" sz="788" dirty="0"/>
          </a:p>
        </p:txBody>
      </p:sp>
      <p:sp>
        <p:nvSpPr>
          <p:cNvPr id="27" name="Text 23"/>
          <p:cNvSpPr/>
          <p:nvPr/>
        </p:nvSpPr>
        <p:spPr>
          <a:xfrm>
            <a:off x="460772" y="4283013"/>
            <a:ext cx="8222456" cy="442913"/>
          </a:xfrm>
          <a:prstGeom prst="roundRect">
            <a:avLst>
              <a:gd name="adj" fmla="val 25806"/>
            </a:avLst>
          </a:prstGeom>
          <a:solidFill>
            <a:srgbClr val="16304F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607947" y="4386597"/>
            <a:ext cx="82648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terminal</a:t>
            </a:r>
            <a:endParaRPr lang="en-US" sz="1238" dirty="0"/>
          </a:p>
        </p:txBody>
      </p:sp>
      <p:sp>
        <p:nvSpPr>
          <p:cNvPr id="29" name="Text 25"/>
          <p:cNvSpPr/>
          <p:nvPr/>
        </p:nvSpPr>
        <p:spPr>
          <a:xfrm>
            <a:off x="1294805" y="4424102"/>
            <a:ext cx="7227689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每个数字都是带完整日志的独立测试；复现命令 </a:t>
            </a:r>
            <a:pPr algn="l" indent="0" marL="0">
              <a:lnSpc>
                <a:spcPts val="1266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julia ab_cloud_v19.jl --test N</a:t>
            </a:r>
            <a:endParaRPr lang="en-US" sz="84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695987" y="774204"/>
            <a:ext cx="1752026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700" spc="155" kern="0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 </a:t>
            </a:r>
            <a:pPr algn="ctr" indent="0" marL="0">
              <a:lnSpc>
                <a:spcPts val="970"/>
              </a:lnSpc>
              <a:buNone/>
            </a:pPr>
            <a:r>
              <a:rPr lang="en-US" sz="700" spc="155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33</a:t>
            </a:r>
            <a:pPr algn="ctr" indent="0" marL="0">
              <a:lnSpc>
                <a:spcPts val="970"/>
              </a:lnSpc>
              <a:buNone/>
            </a:pPr>
            <a:r>
              <a:rPr lang="en-US" sz="700" spc="155" kern="0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多实现自助法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1833692" y="1040309"/>
            <a:ext cx="5476505" cy="58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253"/>
              </a:lnSpc>
              <a:buNone/>
            </a:pPr>
            <a:r>
              <a:rPr lang="en-US" sz="4050" spc="-122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⟨r⟩ = 0.5848 </a:t>
            </a:r>
            <a:pPr algn="ctr" indent="0" marL="0">
              <a:lnSpc>
                <a:spcPts val="4253"/>
              </a:lnSpc>
              <a:buNone/>
            </a:pPr>
            <a:r>
              <a:rPr lang="en-US" sz="2475" spc="-122" kern="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± 0.0260</a:t>
            </a:r>
            <a:endParaRPr lang="en-US" sz="4050" dirty="0"/>
          </a:p>
        </p:txBody>
      </p:sp>
      <p:sp>
        <p:nvSpPr>
          <p:cNvPr id="6" name="Text 2"/>
          <p:cNvSpPr/>
          <p:nvPr/>
        </p:nvSpPr>
        <p:spPr>
          <a:xfrm>
            <a:off x="2493347" y="1680344"/>
            <a:ext cx="4157194" cy="19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GUE</a:t>
            </a:r>
            <a:pPr algn="ctr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目标 </a:t>
            </a:r>
            <a:pPr algn="ctr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0.5992</a:t>
            </a:r>
            <a:pPr algn="ctr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偏差 </a:t>
            </a:r>
            <a:pPr algn="ctr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FFB7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−2.4%</a:t>
            </a:r>
            <a:pPr algn="ctr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· 95% CI [0.5588; 0.6108]</a:t>
            </a:r>
            <a:endParaRPr lang="en-US" sz="956" dirty="0"/>
          </a:p>
        </p:txBody>
      </p:sp>
      <p:sp>
        <p:nvSpPr>
          <p:cNvPr id="7" name="Text 3"/>
          <p:cNvSpPr/>
          <p:nvPr/>
        </p:nvSpPr>
        <p:spPr>
          <a:xfrm>
            <a:off x="4227225" y="1964008"/>
            <a:ext cx="689550" cy="286350"/>
          </a:xfrm>
          <a:prstGeom prst="roundRect">
            <a:avLst>
              <a:gd name="adj" fmla="val 3323023"/>
            </a:avLst>
          </a:prstGeom>
          <a:solidFill>
            <a:srgbClr val="66BB6A">
              <a:alpha val="10000"/>
            </a:srgbClr>
          </a:solidFill>
          <a:ln w="7144">
            <a:solidFill>
              <a:srgbClr val="66BB6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4250085" y="1976810"/>
            <a:ext cx="64383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844" dirty="0"/>
          </a:p>
        </p:txBody>
      </p:sp>
      <p:sp>
        <p:nvSpPr>
          <p:cNvPr id="9" name="Text 5"/>
          <p:cNvSpPr/>
          <p:nvPr/>
        </p:nvSpPr>
        <p:spPr>
          <a:xfrm>
            <a:off x="460772" y="2398291"/>
            <a:ext cx="2659819" cy="1010059"/>
          </a:xfrm>
          <a:prstGeom prst="roundRect">
            <a:avLst>
              <a:gd name="adj" fmla="val 11316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958155" y="2557239"/>
            <a:ext cx="315039" cy="115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构型</a:t>
            </a:r>
            <a:endParaRPr lang="en-US" sz="731" dirty="0"/>
          </a:p>
        </p:txBody>
      </p:sp>
      <p:sp>
        <p:nvSpPr>
          <p:cNvPr id="11" name="Text 7"/>
          <p:cNvSpPr/>
          <p:nvPr/>
        </p:nvSpPr>
        <p:spPr>
          <a:xfrm>
            <a:off x="607219" y="2516163"/>
            <a:ext cx="2366925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44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tune</a:t>
            </a:r>
            <a:endParaRPr lang="en-US" sz="1013" dirty="0"/>
          </a:p>
        </p:txBody>
      </p:sp>
      <p:sp>
        <p:nvSpPr>
          <p:cNvPr id="12" name="Text 8"/>
          <p:cNvSpPr/>
          <p:nvPr/>
        </p:nvSpPr>
        <p:spPr>
          <a:xfrm>
            <a:off x="607219" y="2780481"/>
            <a:ext cx="2366925" cy="367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9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环面 </a:t>
            </a:r>
            <a:pPr algn="l" indent="0" marL="0">
              <a:lnSpc>
                <a:spcPts val="1339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</a:t>
            </a:r>
            <a:pPr algn="l" indent="0" marL="0">
              <a:lnSpc>
                <a:spcPts val="1339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pPr algn="l" indent="0" marL="0">
              <a:lnSpc>
                <a:spcPts val="1339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</a:t>
            </a:r>
            <a:pPr algn="l" indent="0" marL="0">
              <a:lnSpc>
                <a:spcPts val="1339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l" indent="0" marL="0">
              <a:lnSpc>
                <a:spcPts val="1339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N_v</a:t>
            </a:r>
            <a:pPr algn="l" indent="0" marL="0">
              <a:lnSpc>
                <a:spcPts val="1339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pPr algn="l" indent="0" marL="0">
              <a:lnSpc>
                <a:spcPts val="1339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pPr algn="l" indent="0" marL="0">
              <a:lnSpc>
                <a:spcPts val="1339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l" indent="0" marL="0">
              <a:lnSpc>
                <a:spcPts val="1339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</a:t>
            </a:r>
            <a:pPr algn="l" indent="0" marL="0">
              <a:lnSpc>
                <a:spcPts val="1339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=±</a:t>
            </a:r>
            <a:pPr algn="l" indent="0" marL="0">
              <a:lnSpc>
                <a:spcPts val="1339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pPr algn="l" indent="0" marL="0">
              <a:lnSpc>
                <a:spcPts val="1339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α=</a:t>
            </a:r>
            <a:pPr algn="l" indent="0" marL="0">
              <a:lnSpc>
                <a:spcPts val="1339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1/2</a:t>
            </a:r>
            <a:pPr algn="l" indent="0" marL="0">
              <a:lnSpc>
                <a:spcPts val="1339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l" indent="0" marL="0">
              <a:lnSpc>
                <a:spcPts val="1339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</a:t>
            </a:r>
            <a:pPr algn="l" indent="0" marL="0">
              <a:lnSpc>
                <a:spcPts val="1339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pPr algn="l" indent="0" marL="0">
              <a:lnSpc>
                <a:spcPts val="1339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pPr algn="l" indent="0" marL="0">
              <a:lnSpc>
                <a:spcPts val="1339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l" indent="0" marL="0">
              <a:lnSpc>
                <a:spcPts val="1339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pPr algn="l" indent="0" marL="0">
              <a:lnSpc>
                <a:spcPts val="1339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次实现</a:t>
            </a:r>
            <a:endParaRPr lang="en-US" sz="788" dirty="0"/>
          </a:p>
        </p:txBody>
      </p:sp>
      <p:sp>
        <p:nvSpPr>
          <p:cNvPr id="13" name="Text 9"/>
          <p:cNvSpPr/>
          <p:nvPr/>
        </p:nvSpPr>
        <p:spPr>
          <a:xfrm>
            <a:off x="3242035" y="2398291"/>
            <a:ext cx="2659819" cy="1010059"/>
          </a:xfrm>
          <a:prstGeom prst="roundRect">
            <a:avLst>
              <a:gd name="adj" fmla="val 11316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3857960" y="2557239"/>
            <a:ext cx="630079" cy="115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三次实现</a:t>
            </a:r>
            <a:endParaRPr lang="en-US" sz="731" dirty="0"/>
          </a:p>
        </p:txBody>
      </p:sp>
      <p:sp>
        <p:nvSpPr>
          <p:cNvPr id="15" name="Text 11"/>
          <p:cNvSpPr/>
          <p:nvPr/>
        </p:nvSpPr>
        <p:spPr>
          <a:xfrm>
            <a:off x="3388482" y="2516163"/>
            <a:ext cx="2366925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44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replay</a:t>
            </a:r>
            <a:endParaRPr lang="en-US" sz="1013" dirty="0"/>
          </a:p>
        </p:txBody>
      </p:sp>
      <p:sp>
        <p:nvSpPr>
          <p:cNvPr id="16" name="Text 12"/>
          <p:cNvSpPr/>
          <p:nvPr/>
        </p:nvSpPr>
        <p:spPr>
          <a:xfrm>
            <a:off x="3388482" y="2780481"/>
            <a:ext cx="2366925" cy="509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9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real 1: 0.5639</a:t>
            </a:r>
            <a:endParaRPr lang="en-US" sz="800" dirty="0"/>
          </a:p>
          <a:p>
            <a:pPr algn="l" indent="0" marL="0">
              <a:lnSpc>
                <a:spcPts val="1339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real 2: 0.5811</a:t>
            </a:r>
            <a:endParaRPr lang="en-US" sz="800" dirty="0"/>
          </a:p>
          <a:p>
            <a:pPr algn="l" indent="0" marL="0">
              <a:lnSpc>
                <a:spcPts val="1339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real 3: 0.6094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023297" y="2398291"/>
            <a:ext cx="2659931" cy="1010059"/>
          </a:xfrm>
          <a:prstGeom prst="roundRect">
            <a:avLst>
              <a:gd name="adj" fmla="val 11316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7334176" y="2557239"/>
            <a:ext cx="1202606" cy="115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 · </a:t>
            </a:r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</a:t>
            </a:r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0.3</a:t>
            </a:r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，开边界</a:t>
            </a:r>
            <a:endParaRPr lang="en-US" sz="731" dirty="0"/>
          </a:p>
        </p:txBody>
      </p:sp>
      <p:sp>
        <p:nvSpPr>
          <p:cNvPr id="19" name="Text 15"/>
          <p:cNvSpPr/>
          <p:nvPr/>
        </p:nvSpPr>
        <p:spPr>
          <a:xfrm>
            <a:off x="6169744" y="2516163"/>
            <a:ext cx="2367037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44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compare_arrows</a:t>
            </a:r>
            <a:endParaRPr lang="en-US" sz="1013" dirty="0"/>
          </a:p>
        </p:txBody>
      </p:sp>
      <p:sp>
        <p:nvSpPr>
          <p:cNvPr id="20" name="Text 16"/>
          <p:cNvSpPr/>
          <p:nvPr/>
        </p:nvSpPr>
        <p:spPr>
          <a:xfrm>
            <a:off x="6169744" y="2780481"/>
            <a:ext cx="2367037" cy="183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FFB7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⟨r⟩ = 0.4417 ± 0.0555</a:t>
            </a:r>
            <a:endParaRPr lang="en-US" sz="956" dirty="0"/>
          </a:p>
        </p:txBody>
      </p:sp>
      <p:sp>
        <p:nvSpPr>
          <p:cNvPr id="21" name="Text 17"/>
          <p:cNvSpPr/>
          <p:nvPr/>
        </p:nvSpPr>
        <p:spPr>
          <a:xfrm>
            <a:off x="6169744" y="2991222"/>
            <a:ext cx="2367037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——边缘态混入泊松成分</a:t>
            </a:r>
            <a:endParaRPr lang="en-US" sz="759" dirty="0"/>
          </a:p>
        </p:txBody>
      </p:sp>
      <p:sp>
        <p:nvSpPr>
          <p:cNvPr id="22" name="Text 18"/>
          <p:cNvSpPr/>
          <p:nvPr/>
        </p:nvSpPr>
        <p:spPr>
          <a:xfrm>
            <a:off x="460772" y="3544081"/>
            <a:ext cx="8222456" cy="821531"/>
          </a:xfrm>
          <a:prstGeom prst="roundRect">
            <a:avLst>
              <a:gd name="adj" fmla="val 13913"/>
            </a:avLst>
          </a:prstGeom>
          <a:solidFill>
            <a:srgbClr val="16304F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635794" y="3919128"/>
            <a:ext cx="7872413" cy="14288"/>
          </a:xfrm>
          <a:prstGeom prst="rect">
            <a:avLst/>
          </a:prstGeom>
          <a:solidFill>
            <a:srgbClr val="4FC3F7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6560795" y="3747678"/>
            <a:ext cx="67209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⟨r⟩ 0.5848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6853926" y="3903055"/>
            <a:ext cx="85725" cy="85725"/>
          </a:xfrm>
          <a:prstGeom prst="roundRect">
            <a:avLst>
              <a:gd name="adj" fmla="val 111100000"/>
            </a:avLst>
          </a:prstGeom>
          <a:solidFill>
            <a:srgbClr val="4FC3F7"/>
          </a:solidFill>
          <a:ln/>
          <a:effectLst>
            <a:outerShdw sx="100000" sy="100000" kx="0" ky="0" algn="bl" rotWithShape="0" blurRad="133350" dist="50800" dir="16200000">
              <a:srgbClr val="4FC3F7">
                <a:alpha val="9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1451186" y="3976278"/>
            <a:ext cx="14288" cy="64294"/>
          </a:xfrm>
          <a:prstGeom prst="rect">
            <a:avLst/>
          </a:prstGeom>
          <a:solidFill>
            <a:srgbClr val="9DB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1189903" y="4069147"/>
            <a:ext cx="536853" cy="95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700" spc="52" kern="0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泊松</a:t>
            </a:r>
            <a:endParaRPr lang="en-US" sz="700" dirty="0"/>
          </a:p>
        </p:txBody>
      </p:sp>
      <p:sp>
        <p:nvSpPr>
          <p:cNvPr id="28" name="Text 24"/>
          <p:cNvSpPr/>
          <p:nvPr/>
        </p:nvSpPr>
        <p:spPr>
          <a:xfrm>
            <a:off x="1227748" y="4192377"/>
            <a:ext cx="461162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0.3863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5402796" y="3976278"/>
            <a:ext cx="14288" cy="64294"/>
          </a:xfrm>
          <a:prstGeom prst="rect">
            <a:avLst/>
          </a:prstGeom>
          <a:solidFill>
            <a:srgbClr val="9DB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5141513" y="4069147"/>
            <a:ext cx="536853" cy="95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spc="52" kern="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GOE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5179358" y="4192377"/>
            <a:ext cx="461162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0.5307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7292318" y="3976278"/>
            <a:ext cx="14288" cy="64294"/>
          </a:xfrm>
          <a:prstGeom prst="rect">
            <a:avLst/>
          </a:prstGeom>
          <a:solidFill>
            <a:srgbClr val="4FC3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7031035" y="4069147"/>
            <a:ext cx="536853" cy="95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spc="52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GUE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7068880" y="4192377"/>
            <a:ext cx="461162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0.5996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00050"/>
            <a:ext cx="8636000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00" spc="194" kern="0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尺寸标度 · </a:t>
            </a:r>
            <a:pPr algn="l" indent="0" marL="0">
              <a:lnSpc>
                <a:spcPts val="970"/>
              </a:lnSpc>
              <a:buNone/>
            </a:pPr>
            <a:r>
              <a:rPr lang="en-US" sz="700" spc="194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FINITE-SIZE</a:t>
            </a:r>
            <a:pPr algn="l" indent="0" marL="0">
              <a:lnSpc>
                <a:spcPts val="970"/>
              </a:lnSpc>
              <a:buNone/>
            </a:pPr>
            <a:r>
              <a:rPr lang="en-US" sz="700" spc="194" kern="0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970"/>
              </a:lnSpc>
              <a:buNone/>
            </a:pPr>
            <a:r>
              <a:rPr lang="en-US" sz="700" spc="194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SCALING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457200" y="623292"/>
            <a:ext cx="8636000" cy="314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913" b="1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 </a:t>
            </a:r>
            <a:pPr algn="l" indent="0" marL="0">
              <a:lnSpc>
                <a:spcPts val="2295"/>
              </a:lnSpc>
              <a:buNone/>
            </a:pPr>
            <a:r>
              <a:rPr lang="en-US" sz="1913" b="1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34</a:t>
            </a:r>
            <a:pPr algn="l" indent="0" marL="0">
              <a:lnSpc>
                <a:spcPts val="2295"/>
              </a:lnSpc>
              <a:buNone/>
            </a:pPr>
            <a:r>
              <a:rPr lang="en-US" sz="1913" b="1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：随晶格尺寸的收敛</a:t>
            </a:r>
            <a:endParaRPr lang="en-US" sz="1913" dirty="0"/>
          </a:p>
        </p:txBody>
      </p:sp>
      <p:sp>
        <p:nvSpPr>
          <p:cNvPr id="6" name="Text 2"/>
          <p:cNvSpPr/>
          <p:nvPr/>
        </p:nvSpPr>
        <p:spPr>
          <a:xfrm>
            <a:off x="457200" y="1014747"/>
            <a:ext cx="514350" cy="21431"/>
          </a:xfrm>
          <a:prstGeom prst="roundRect">
            <a:avLst>
              <a:gd name="adj" fmla="val 88890"/>
            </a:avLst>
          </a:prstGeom>
          <a:solidFill>
            <a:srgbClr val="FFB7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457200" y="1164766"/>
            <a:ext cx="5029200" cy="3357563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76200" dir="540000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2" descr="/tmp/h2p-fit-1787909753446-tnedej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38" y="1236204"/>
            <a:ext cx="4886325" cy="32146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661422" y="1168338"/>
            <a:ext cx="3021806" cy="596503"/>
          </a:xfrm>
          <a:prstGeom prst="roundRect">
            <a:avLst>
              <a:gd name="adj" fmla="val 19162"/>
            </a:avLst>
          </a:prstGeom>
          <a:solidFill>
            <a:srgbClr val="16304F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5793581" y="1287103"/>
            <a:ext cx="2386013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24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</a:t>
            </a:r>
            <a:pPr algn="l" indent="0" marL="0">
              <a:lnSpc>
                <a:spcPts val="1181"/>
              </a:lnSpc>
              <a:buNone/>
            </a:pPr>
            <a:r>
              <a:rPr lang="en-US" sz="788" spc="24" kern="0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pPr algn="l" indent="0" marL="0">
              <a:lnSpc>
                <a:spcPts val="1181"/>
              </a:lnSpc>
              <a:buNone/>
            </a:pPr>
            <a:r>
              <a:rPr lang="en-US" sz="788" spc="24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0.3</a:t>
            </a:r>
            <a:pPr algn="l" indent="0" marL="0">
              <a:lnSpc>
                <a:spcPts val="1181"/>
              </a:lnSpc>
              <a:buNone/>
            </a:pPr>
            <a:r>
              <a:rPr lang="en-US" sz="788" spc="24" kern="0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（开边界）</a:t>
            </a:r>
            <a:endParaRPr lang="en-US" sz="788" dirty="0"/>
          </a:p>
        </p:txBody>
      </p:sp>
      <p:sp>
        <p:nvSpPr>
          <p:cNvPr id="11" name="Text 6"/>
          <p:cNvSpPr/>
          <p:nvPr/>
        </p:nvSpPr>
        <p:spPr>
          <a:xfrm>
            <a:off x="8179594" y="1261100"/>
            <a:ext cx="385763" cy="202025"/>
          </a:xfrm>
          <a:prstGeom prst="roundRect">
            <a:avLst>
              <a:gd name="adj" fmla="val 4710048"/>
            </a:avLst>
          </a:prstGeom>
          <a:noFill/>
          <a:ln w="7144">
            <a:solidFill>
              <a:srgbClr val="FFA7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8193881" y="1271922"/>
            <a:ext cx="357188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700" dirty="0">
                <a:solidFill>
                  <a:srgbClr val="FFA7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单调</a:t>
            </a:r>
            <a:endParaRPr lang="en-US" sz="700" dirty="0"/>
          </a:p>
        </p:txBody>
      </p:sp>
      <p:sp>
        <p:nvSpPr>
          <p:cNvPr id="13" name="Text 8"/>
          <p:cNvSpPr/>
          <p:nvPr/>
        </p:nvSpPr>
        <p:spPr>
          <a:xfrm>
            <a:off x="5793581" y="1495165"/>
            <a:ext cx="2867215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spc="-9" kern="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0.548 → 0.592 → 0.605 → 0.595</a:t>
            </a:r>
            <a:endParaRPr lang="en-US" sz="872" dirty="0"/>
          </a:p>
        </p:txBody>
      </p:sp>
      <p:sp>
        <p:nvSpPr>
          <p:cNvPr id="14" name="Text 9"/>
          <p:cNvSpPr/>
          <p:nvPr/>
        </p:nvSpPr>
        <p:spPr>
          <a:xfrm>
            <a:off x="5661422" y="2128056"/>
            <a:ext cx="3021806" cy="566142"/>
          </a:xfrm>
          <a:prstGeom prst="roundRect">
            <a:avLst>
              <a:gd name="adj" fmla="val 20189"/>
            </a:avLst>
          </a:prstGeom>
          <a:solidFill>
            <a:srgbClr val="16304F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5793581" y="2231641"/>
            <a:ext cx="2757487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24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</a:t>
            </a:r>
            <a:pPr algn="l" indent="0" marL="0">
              <a:lnSpc>
                <a:spcPts val="1181"/>
              </a:lnSpc>
              <a:buNone/>
            </a:pPr>
            <a:r>
              <a:rPr lang="en-US" sz="788" spc="24" kern="0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pPr algn="l" indent="0" marL="0">
              <a:lnSpc>
                <a:spcPts val="1181"/>
              </a:lnSpc>
              <a:buNone/>
            </a:pPr>
            <a:r>
              <a:rPr lang="en-US" sz="788" spc="24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pPr algn="l" indent="0" marL="0">
              <a:lnSpc>
                <a:spcPts val="1181"/>
              </a:lnSpc>
              <a:buNone/>
            </a:pPr>
            <a:r>
              <a:rPr lang="en-US" sz="788" spc="24" kern="0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（环面）</a:t>
            </a:r>
            <a:endParaRPr lang="en-US" sz="788" dirty="0"/>
          </a:p>
        </p:txBody>
      </p:sp>
      <p:sp>
        <p:nvSpPr>
          <p:cNvPr id="16" name="Text 11"/>
          <p:cNvSpPr/>
          <p:nvPr/>
        </p:nvSpPr>
        <p:spPr>
          <a:xfrm>
            <a:off x="5793581" y="2424522"/>
            <a:ext cx="2867215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spc="-9" kern="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0.574 → 0.568 → 0.604 → 0.586</a:t>
            </a:r>
            <a:endParaRPr lang="en-US" sz="872" dirty="0"/>
          </a:p>
        </p:txBody>
      </p:sp>
      <p:sp>
        <p:nvSpPr>
          <p:cNvPr id="17" name="Text 12"/>
          <p:cNvSpPr/>
          <p:nvPr/>
        </p:nvSpPr>
        <p:spPr>
          <a:xfrm>
            <a:off x="5661422" y="3057525"/>
            <a:ext cx="3021806" cy="571612"/>
          </a:xfrm>
          <a:prstGeom prst="roundRect">
            <a:avLst>
              <a:gd name="adj" fmla="val 19996"/>
            </a:avLst>
          </a:prstGeom>
          <a:solidFill>
            <a:srgbClr val="16304F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5793581" y="3161109"/>
            <a:ext cx="27574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24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L≥30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5793581" y="3353991"/>
            <a:ext cx="2757488" cy="171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1"/>
              </a:lnSpc>
              <a:buNone/>
            </a:pPr>
            <a:r>
              <a:rPr lang="en-US" sz="788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 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≈0.60</a:t>
            </a:r>
            <a:pPr algn="l" indent="0" marL="0">
              <a:lnSpc>
                <a:spcPts val="1351"/>
              </a:lnSpc>
              <a:buNone/>
            </a:pPr>
            <a:r>
              <a:rPr lang="en-US" sz="788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，在 </a:t>
            </a:r>
            <a:pPr algn="l" indent="0" marL="0">
              <a:lnSpc>
                <a:spcPts val="1351"/>
              </a:lnSpc>
              <a:buNone/>
            </a:pPr>
            <a:r>
              <a:rPr lang="en-US" sz="788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GUE</a:t>
            </a:r>
            <a:pPr algn="l" indent="0" marL="0">
              <a:lnSpc>
                <a:spcPts val="1351"/>
              </a:lnSpc>
              <a:buNone/>
            </a:pPr>
            <a:r>
              <a:rPr lang="en-US" sz="788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两个标准误之内</a:t>
            </a:r>
            <a:endParaRPr lang="en-US" sz="788" dirty="0"/>
          </a:p>
        </p:txBody>
      </p:sp>
      <p:sp>
        <p:nvSpPr>
          <p:cNvPr id="20" name="Text 15"/>
          <p:cNvSpPr/>
          <p:nvPr/>
        </p:nvSpPr>
        <p:spPr>
          <a:xfrm>
            <a:off x="5661422" y="3992352"/>
            <a:ext cx="3021806" cy="554980"/>
          </a:xfrm>
          <a:prstGeom prst="roundRect">
            <a:avLst>
              <a:gd name="adj" fmla="val 20595"/>
            </a:avLst>
          </a:prstGeom>
          <a:solidFill>
            <a:srgbClr val="16304F"/>
          </a:solidFill>
          <a:ln w="7144">
            <a:solidFill>
              <a:srgbClr val="FFB7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5793581" y="4095936"/>
            <a:ext cx="2757488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24" kern="0" dirty="0">
                <a:solidFill>
                  <a:srgbClr val="FFB7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v13</a:t>
            </a:r>
            <a:pPr algn="l" indent="0" marL="0">
              <a:lnSpc>
                <a:spcPts val="1181"/>
              </a:lnSpc>
              <a:buNone/>
            </a:pPr>
            <a:r>
              <a:rPr lang="en-US" sz="788" spc="24" kern="0" dirty="0">
                <a:solidFill>
                  <a:srgbClr val="FFB7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的『衰减悖论』解除</a:t>
            </a:r>
            <a:endParaRPr lang="en-US" sz="788" dirty="0"/>
          </a:p>
        </p:txBody>
      </p:sp>
      <p:sp>
        <p:nvSpPr>
          <p:cNvPr id="22" name="Text 17"/>
          <p:cNvSpPr/>
          <p:nvPr/>
        </p:nvSpPr>
        <p:spPr>
          <a:xfrm>
            <a:off x="5793581" y="4288817"/>
            <a:ext cx="2757488" cy="154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压低是</a:t>
            </a:r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小晶格与实数规范的伪影</a:t>
            </a:r>
            <a:endParaRPr lang="en-US" sz="788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431943" y="-414337"/>
            <a:ext cx="5712057" cy="2237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313"/>
              </a:lnSpc>
              <a:buNone/>
            </a:pPr>
            <a:r>
              <a:rPr lang="en-US" sz="16313" dirty="0">
                <a:solidFill>
                  <a:srgbClr val="4FC3F7">
                    <a:alpha val="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b(N)</a:t>
            </a:r>
            <a:endParaRPr lang="en-US" sz="16313" dirty="0"/>
          </a:p>
        </p:txBody>
      </p:sp>
      <p:sp>
        <p:nvSpPr>
          <p:cNvPr id="5" name="Text 1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94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FINITE-SIZE EFFECTS · TESTS 4–6 · 11 · 12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457200" y="623292"/>
            <a:ext cx="8636000" cy="314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913" b="1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ζ 统计中的有限样本效应</a:t>
            </a:r>
            <a:endParaRPr lang="en-US" sz="1913" dirty="0"/>
          </a:p>
        </p:txBody>
      </p:sp>
      <p:sp>
        <p:nvSpPr>
          <p:cNvPr id="7" name="Text 3"/>
          <p:cNvSpPr/>
          <p:nvPr/>
        </p:nvSpPr>
        <p:spPr>
          <a:xfrm>
            <a:off x="457200" y="1057610"/>
            <a:ext cx="4014788" cy="2357438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76200" dir="540000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2" descr="/tmp/h2p-fit-1787909754123-ct7vn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38" y="1129047"/>
            <a:ext cx="3871913" cy="221456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57200" y="3472197"/>
            <a:ext cx="4014788" cy="137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b(N) ≈ 7.03·N^(−0.169)，R²=0.99</a:t>
            </a:r>
            <a:pPr algn="l" indent="0" marL="0">
              <a:lnSpc>
                <a:spcPts val="1100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；更优——</a:t>
            </a:r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1/ln N：R²=0.9999</a:t>
            </a:r>
            <a:endParaRPr lang="en-US" sz="731" dirty="0"/>
          </a:p>
        </p:txBody>
      </p:sp>
      <p:sp>
        <p:nvSpPr>
          <p:cNvPr id="10" name="Text 5"/>
          <p:cNvSpPr/>
          <p:nvPr/>
        </p:nvSpPr>
        <p:spPr>
          <a:xfrm>
            <a:off x="4672013" y="1057610"/>
            <a:ext cx="4014788" cy="2357438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76200" dir="540000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3" descr="/tmp/h2p-fit-1787909754125-nvm2y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3450" y="1129047"/>
            <a:ext cx="3871913" cy="221456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672013" y="3472197"/>
            <a:ext cx="4014788" cy="137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 </a:t>
            </a:r>
            <a:pPr algn="l" indent="0" marL="0">
              <a:lnSpc>
                <a:spcPts val="1100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Berry</a:t>
            </a:r>
            <a:pPr algn="l" indent="0" marL="0">
              <a:lnSpc>
                <a:spcPts val="1100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截断的 </a:t>
            </a:r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R₂(0)：−2.3394</a:t>
            </a:r>
            <a:pPr algn="l" indent="0" marL="0">
              <a:lnSpc>
                <a:spcPts val="1100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，附加量 </a:t>
            </a:r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~T^(−1/2)</a:t>
            </a:r>
            <a:endParaRPr lang="en-US" sz="731" dirty="0"/>
          </a:p>
        </p:txBody>
      </p:sp>
      <p:sp>
        <p:nvSpPr>
          <p:cNvPr id="13" name="Text 7"/>
          <p:cNvSpPr/>
          <p:nvPr/>
        </p:nvSpPr>
        <p:spPr>
          <a:xfrm>
            <a:off x="460772" y="3861532"/>
            <a:ext cx="8222456" cy="878346"/>
          </a:xfrm>
          <a:prstGeom prst="roundRect">
            <a:avLst>
              <a:gd name="adj" fmla="val 13013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621506" y="4034098"/>
            <a:ext cx="7900988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零点与</a:t>
            </a:r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有限尺寸 </a:t>
            </a:r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GUE</a:t>
            </a:r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矩阵</a:t>
            </a:r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不可区分</a:t>
            </a:r>
            <a:endParaRPr lang="en-US" sz="1069" dirty="0"/>
          </a:p>
        </p:txBody>
      </p:sp>
      <p:sp>
        <p:nvSpPr>
          <p:cNvPr id="15" name="Text 9"/>
          <p:cNvSpPr/>
          <p:nvPr/>
        </p:nvSpPr>
        <p:spPr>
          <a:xfrm>
            <a:off x="621506" y="4298926"/>
            <a:ext cx="383642" cy="190524"/>
          </a:xfrm>
          <a:prstGeom prst="roundRect">
            <a:avLst>
              <a:gd name="adj" fmla="val 4994371"/>
            </a:avLst>
          </a:prstGeom>
          <a:noFill/>
          <a:ln w="7144">
            <a:solidFill>
              <a:srgbClr val="FFA7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0"/>
          <p:cNvSpPr/>
          <p:nvPr/>
        </p:nvSpPr>
        <p:spPr>
          <a:xfrm>
            <a:off x="621506" y="4309132"/>
            <a:ext cx="383642" cy="1701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9"/>
              </a:lnSpc>
              <a:buNone/>
            </a:pPr>
            <a:r>
              <a:rPr lang="en-US" sz="800" dirty="0">
                <a:solidFill>
                  <a:srgbClr val="FFA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</a:t>
            </a:r>
            <a:endParaRPr lang="en-US" sz="800" dirty="0"/>
          </a:p>
        </p:txBody>
      </p:sp>
      <p:sp>
        <p:nvSpPr>
          <p:cNvPr id="17" name="Text 11"/>
          <p:cNvSpPr/>
          <p:nvPr/>
        </p:nvSpPr>
        <p:spPr>
          <a:xfrm>
            <a:off x="1076585" y="4294845"/>
            <a:ext cx="3409690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 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KS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0.088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（临界 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0.006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）、χ²、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²——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FFB7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GUE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FFB7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被拒</a:t>
            </a:r>
            <a:endParaRPr lang="en-US" sz="759" dirty="0"/>
          </a:p>
        </p:txBody>
      </p:sp>
      <p:sp>
        <p:nvSpPr>
          <p:cNvPr id="18" name="Text 12"/>
          <p:cNvSpPr/>
          <p:nvPr/>
        </p:nvSpPr>
        <p:spPr>
          <a:xfrm>
            <a:off x="4657725" y="4298926"/>
            <a:ext cx="383642" cy="190524"/>
          </a:xfrm>
          <a:prstGeom prst="roundRect">
            <a:avLst>
              <a:gd name="adj" fmla="val 4994371"/>
            </a:avLst>
          </a:prstGeom>
          <a:noFill/>
          <a:ln w="7144">
            <a:solidFill>
              <a:srgbClr val="66BB6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3"/>
          <p:cNvSpPr/>
          <p:nvPr/>
        </p:nvSpPr>
        <p:spPr>
          <a:xfrm>
            <a:off x="4657725" y="4309132"/>
            <a:ext cx="383642" cy="1701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9"/>
              </a:lnSpc>
              <a:buNone/>
            </a:pPr>
            <a:r>
              <a:rPr lang="en-US" sz="8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800" dirty="0"/>
          </a:p>
        </p:txBody>
      </p:sp>
      <p:sp>
        <p:nvSpPr>
          <p:cNvPr id="20" name="Text 14"/>
          <p:cNvSpPr/>
          <p:nvPr/>
        </p:nvSpPr>
        <p:spPr>
          <a:xfrm>
            <a:off x="5112804" y="4294845"/>
            <a:ext cx="3409690" cy="294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 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2000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2000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GUE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矩阵的双样本 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KS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0.041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0.139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66BB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未被拒绝</a:t>
            </a:r>
            <a:endParaRPr lang="en-US" sz="759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342396" y="-500062"/>
            <a:ext cx="3801604" cy="2546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3"/>
              </a:lnSpc>
              <a:buNone/>
            </a:pPr>
            <a:r>
              <a:rPr lang="en-US" sz="18563" dirty="0">
                <a:solidFill>
                  <a:srgbClr val="4FC3F7">
                    <a:alpha val="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R₂</a:t>
            </a:r>
            <a:endParaRPr lang="en-US" sz="18563" dirty="0"/>
          </a:p>
        </p:txBody>
      </p:sp>
      <p:sp>
        <p:nvSpPr>
          <p:cNvPr id="5" name="Text 1"/>
          <p:cNvSpPr/>
          <p:nvPr/>
        </p:nvSpPr>
        <p:spPr>
          <a:xfrm>
            <a:off x="2689622" y="4747022"/>
            <a:ext cx="5997178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同一普适类——</a:t>
            </a:r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；同一谱——</a:t>
            </a:r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FFB7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</a:t>
            </a:r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。我们把距离记为数字，而非形容词</a:t>
            </a:r>
            <a:endParaRPr lang="en-US" sz="956" dirty="0"/>
          </a:p>
        </p:txBody>
      </p:sp>
      <p:sp>
        <p:nvSpPr>
          <p:cNvPr id="6" name="Text 2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94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TEST 35 · DIRECT COMPARISON · AB ↔ Ζ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457200" y="623292"/>
            <a:ext cx="8636000" cy="314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913" b="1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 </a:t>
            </a:r>
            <a:pPr algn="l" indent="0" marL="0">
              <a:lnSpc>
                <a:spcPts val="2295"/>
              </a:lnSpc>
              <a:buNone/>
            </a:pPr>
            <a:r>
              <a:rPr lang="en-US" sz="1913" b="1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35</a:t>
            </a:r>
            <a:pPr algn="l" indent="0" marL="0">
              <a:lnSpc>
                <a:spcPts val="2295"/>
              </a:lnSpc>
              <a:buNone/>
            </a:pPr>
            <a:r>
              <a:rPr lang="en-US" sz="1913" b="1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：与 ζ 零点的直接比较</a:t>
            </a:r>
            <a:endParaRPr lang="en-US" sz="1913" dirty="0"/>
          </a:p>
        </p:txBody>
      </p:sp>
      <p:sp>
        <p:nvSpPr>
          <p:cNvPr id="8" name="Text 4"/>
          <p:cNvSpPr/>
          <p:nvPr/>
        </p:nvSpPr>
        <p:spPr>
          <a:xfrm>
            <a:off x="2264569" y="1000460"/>
            <a:ext cx="4614863" cy="2843213"/>
          </a:xfrm>
          <a:prstGeom prst="roundRect">
            <a:avLst>
              <a:gd name="adj" fmla="val 33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76200" dir="540000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2" descr="/tmp/h2p-fit-1787909758781-4304gv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006" y="1071897"/>
            <a:ext cx="4471988" cy="270033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0772" y="3932969"/>
            <a:ext cx="2659819" cy="664369"/>
          </a:xfrm>
          <a:prstGeom prst="roundRect">
            <a:avLst>
              <a:gd name="adj" fmla="val 17204"/>
            </a:avLst>
          </a:prstGeom>
          <a:solidFill>
            <a:srgbClr val="16304F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592931" y="4077630"/>
            <a:ext cx="2395500" cy="1672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KS：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D=0.117，p=6.7·10⁻⁴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592931" y="4261475"/>
            <a:ext cx="383642" cy="202025"/>
          </a:xfrm>
          <a:prstGeom prst="roundRect">
            <a:avLst>
              <a:gd name="adj" fmla="val 4710048"/>
            </a:avLst>
          </a:prstGeom>
          <a:noFill/>
          <a:ln w="7144">
            <a:solidFill>
              <a:srgbClr val="FFA7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592931" y="4272297"/>
            <a:ext cx="383642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FFA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1033723" y="4292836"/>
            <a:ext cx="1954709" cy="15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无逐点吻合</a:t>
            </a:r>
            <a:endParaRPr lang="en-US" sz="731" dirty="0"/>
          </a:p>
        </p:txBody>
      </p:sp>
      <p:sp>
        <p:nvSpPr>
          <p:cNvPr id="15" name="Text 10"/>
          <p:cNvSpPr/>
          <p:nvPr/>
        </p:nvSpPr>
        <p:spPr>
          <a:xfrm>
            <a:off x="3242035" y="3932969"/>
            <a:ext cx="2659819" cy="664369"/>
          </a:xfrm>
          <a:prstGeom prst="roundRect">
            <a:avLst>
              <a:gd name="adj" fmla="val 17204"/>
            </a:avLst>
          </a:prstGeom>
          <a:solidFill>
            <a:srgbClr val="16304F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3374194" y="4101740"/>
            <a:ext cx="2395500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59" b="1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关联洞被复现</a:t>
            </a:r>
            <a:endParaRPr lang="en-US" sz="759" dirty="0"/>
          </a:p>
        </p:txBody>
      </p:sp>
      <p:sp>
        <p:nvSpPr>
          <p:cNvPr id="17" name="Text 12"/>
          <p:cNvSpPr/>
          <p:nvPr/>
        </p:nvSpPr>
        <p:spPr>
          <a:xfrm>
            <a:off x="3374194" y="4289264"/>
            <a:ext cx="2395500" cy="15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两曲线 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₂(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0.05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)≤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0.005</a:t>
            </a:r>
            <a:endParaRPr lang="en-US" sz="731" dirty="0"/>
          </a:p>
        </p:txBody>
      </p:sp>
      <p:sp>
        <p:nvSpPr>
          <p:cNvPr id="18" name="Text 13"/>
          <p:cNvSpPr/>
          <p:nvPr/>
        </p:nvSpPr>
        <p:spPr>
          <a:xfrm>
            <a:off x="6023297" y="3932969"/>
            <a:ext cx="2659931" cy="664369"/>
          </a:xfrm>
          <a:prstGeom prst="roundRect">
            <a:avLst>
              <a:gd name="adj" fmla="val 17204"/>
            </a:avLst>
          </a:prstGeom>
          <a:solidFill>
            <a:srgbClr val="16304F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6155457" y="4101740"/>
            <a:ext cx="2395612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59" b="1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比泊松更接近 </a:t>
            </a:r>
            <a:pPr algn="l" indent="0" marL="0">
              <a:lnSpc>
                <a:spcPts val="1139"/>
              </a:lnSpc>
              <a:buNone/>
            </a:pPr>
            <a:r>
              <a:rPr lang="en-US" sz="759" b="1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GUE</a:t>
            </a:r>
            <a:endParaRPr lang="en-US" sz="759" dirty="0"/>
          </a:p>
        </p:txBody>
      </p:sp>
      <p:sp>
        <p:nvSpPr>
          <p:cNvPr id="20" name="Text 15"/>
          <p:cNvSpPr/>
          <p:nvPr/>
        </p:nvSpPr>
        <p:spPr>
          <a:xfrm>
            <a:off x="6155457" y="4289264"/>
            <a:ext cx="23956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algn="l" indent="0" marL="0">
              <a:lnSpc>
                <a:spcPts val="1097"/>
              </a:lnSpc>
              <a:buNone/>
            </a:pPr>
            <a:r>
              <a:rPr lang="en-US" sz="800" baseline="-4000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=0.140 &lt; d</a:t>
            </a:r>
            <a:pPr algn="l" indent="0" marL="0">
              <a:lnSpc>
                <a:spcPts val="1097"/>
              </a:lnSpc>
              <a:buNone/>
            </a:pPr>
            <a:r>
              <a:rPr lang="en-US" sz="800" baseline="-4000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Pois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=0.227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999025" y="-457200"/>
            <a:ext cx="4144975" cy="246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0"/>
              </a:lnSpc>
              <a:buNone/>
            </a:pPr>
            <a:r>
              <a:rPr lang="en-US" sz="18000" dirty="0">
                <a:solidFill>
                  <a:srgbClr val="4FC3F7">
                    <a:alpha val="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36</a:t>
            </a:r>
            <a:endParaRPr lang="en-US" sz="18000" dirty="0"/>
          </a:p>
        </p:txBody>
      </p:sp>
      <p:sp>
        <p:nvSpPr>
          <p:cNvPr id="5" name="Text 1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94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TEST 36 · FORM FACTOR K(T)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457200" y="623292"/>
            <a:ext cx="8636000" cy="314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913" b="1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 </a:t>
            </a:r>
            <a:pPr algn="l" indent="0" marL="0">
              <a:lnSpc>
                <a:spcPts val="2295"/>
              </a:lnSpc>
              <a:buNone/>
            </a:pPr>
            <a:r>
              <a:rPr lang="en-US" sz="1913" b="1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36</a:t>
            </a:r>
            <a:pPr algn="l" indent="0" marL="0">
              <a:lnSpc>
                <a:spcPts val="2295"/>
              </a:lnSpc>
              <a:buNone/>
            </a:pPr>
            <a:r>
              <a:rPr lang="en-US" sz="1913" b="1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：形因子——小系综的界限</a:t>
            </a:r>
            <a:endParaRPr lang="en-US" sz="1913" dirty="0"/>
          </a:p>
        </p:txBody>
      </p:sp>
      <p:sp>
        <p:nvSpPr>
          <p:cNvPr id="7" name="Text 3"/>
          <p:cNvSpPr/>
          <p:nvPr/>
        </p:nvSpPr>
        <p:spPr>
          <a:xfrm>
            <a:off x="457200" y="1486012"/>
            <a:ext cx="4572000" cy="2857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76200" dir="540000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2" descr="/tmp/h2p-fit-1787909758846-i76bg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38" y="1557449"/>
            <a:ext cx="4429125" cy="271462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204222" y="1089757"/>
            <a:ext cx="1685925" cy="1193006"/>
          </a:xfrm>
          <a:prstGeom prst="roundRect">
            <a:avLst>
              <a:gd name="adj" fmla="val 9581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5364956" y="1347155"/>
            <a:ext cx="1364456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GUE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斜坡的 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RMS</a:t>
            </a:r>
            <a:endParaRPr lang="en-US" sz="731" dirty="0"/>
          </a:p>
        </p:txBody>
      </p:sp>
      <p:sp>
        <p:nvSpPr>
          <p:cNvPr id="11" name="Text 6"/>
          <p:cNvSpPr/>
          <p:nvPr/>
        </p:nvSpPr>
        <p:spPr>
          <a:xfrm>
            <a:off x="5364956" y="1486458"/>
            <a:ext cx="1364456" cy="33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599"/>
              </a:lnSpc>
              <a:buNone/>
            </a:pPr>
            <a:r>
              <a:rPr lang="en-US" sz="2363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0.93</a:t>
            </a:r>
            <a:endParaRPr lang="en-US" sz="2363" dirty="0"/>
          </a:p>
        </p:txBody>
      </p:sp>
      <p:sp>
        <p:nvSpPr>
          <p:cNvPr id="12" name="Text 7"/>
          <p:cNvSpPr/>
          <p:nvPr/>
        </p:nvSpPr>
        <p:spPr>
          <a:xfrm>
            <a:off x="5364956" y="1834162"/>
            <a:ext cx="383642" cy="202025"/>
          </a:xfrm>
          <a:prstGeom prst="roundRect">
            <a:avLst>
              <a:gd name="adj" fmla="val 4710048"/>
            </a:avLst>
          </a:prstGeom>
          <a:noFill/>
          <a:ln w="7144">
            <a:solidFill>
              <a:srgbClr val="FFA7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5364956" y="1844985"/>
            <a:ext cx="383642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FFA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5805748" y="1868202"/>
            <a:ext cx="92366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PASS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阈值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0.30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703" dirty="0"/>
          </a:p>
        </p:txBody>
      </p:sp>
      <p:sp>
        <p:nvSpPr>
          <p:cNvPr id="15" name="Text 10"/>
          <p:cNvSpPr/>
          <p:nvPr/>
        </p:nvSpPr>
        <p:spPr>
          <a:xfrm>
            <a:off x="6997303" y="1089757"/>
            <a:ext cx="1685925" cy="1193006"/>
          </a:xfrm>
          <a:prstGeom prst="roundRect">
            <a:avLst>
              <a:gd name="adj" fmla="val 9581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7158038" y="1347155"/>
            <a:ext cx="1364456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与理论的相关</a:t>
            </a:r>
            <a:endParaRPr lang="en-US" sz="731" dirty="0"/>
          </a:p>
        </p:txBody>
      </p:sp>
      <p:sp>
        <p:nvSpPr>
          <p:cNvPr id="17" name="Text 12"/>
          <p:cNvSpPr/>
          <p:nvPr/>
        </p:nvSpPr>
        <p:spPr>
          <a:xfrm>
            <a:off x="7158038" y="1486458"/>
            <a:ext cx="1364456" cy="33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599"/>
              </a:lnSpc>
              <a:buNone/>
            </a:pPr>
            <a:r>
              <a:rPr lang="en-US" sz="2363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0.018</a:t>
            </a:r>
            <a:endParaRPr lang="en-US" sz="2363" dirty="0"/>
          </a:p>
        </p:txBody>
      </p:sp>
      <p:sp>
        <p:nvSpPr>
          <p:cNvPr id="18" name="Text 13"/>
          <p:cNvSpPr/>
          <p:nvPr/>
        </p:nvSpPr>
        <p:spPr>
          <a:xfrm>
            <a:off x="7158038" y="1834162"/>
            <a:ext cx="383642" cy="202025"/>
          </a:xfrm>
          <a:prstGeom prst="roundRect">
            <a:avLst>
              <a:gd name="adj" fmla="val 4710048"/>
            </a:avLst>
          </a:prstGeom>
          <a:noFill/>
          <a:ln w="7144">
            <a:solidFill>
              <a:srgbClr val="FFA7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7158038" y="1844985"/>
            <a:ext cx="383642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FFA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7598829" y="1868202"/>
            <a:ext cx="92366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（阈值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0.50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703" dirty="0"/>
          </a:p>
        </p:txBody>
      </p:sp>
      <p:sp>
        <p:nvSpPr>
          <p:cNvPr id="21" name="Text 16"/>
          <p:cNvSpPr/>
          <p:nvPr/>
        </p:nvSpPr>
        <p:spPr>
          <a:xfrm>
            <a:off x="5204222" y="2389919"/>
            <a:ext cx="3479006" cy="1121346"/>
          </a:xfrm>
          <a:prstGeom prst="roundRect">
            <a:avLst>
              <a:gd name="adj" fmla="val 10193"/>
            </a:avLst>
          </a:prstGeom>
          <a:solidFill>
            <a:srgbClr val="16304F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5336381" y="2881833"/>
            <a:ext cx="3214688" cy="14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即便 </a:t>
            </a:r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ζ-5000</a:t>
            </a:r>
            <a:pPr algn="l" indent="0" marL="0">
              <a:lnSpc>
                <a:spcPts val="1100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也有 </a:t>
            </a:r>
            <a:pPr algn="l" indent="0" marL="0">
              <a:lnSpc>
                <a:spcPts val="1100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RMS</a:t>
            </a:r>
            <a:pPr algn="l" indent="0" marL="0">
              <a:lnSpc>
                <a:spcPts val="1100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FFB7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0.86</a:t>
            </a:r>
            <a:pPr algn="l" indent="0" marL="0">
              <a:lnSpc>
                <a:spcPts val="1100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——硬阈值按 </a:t>
            </a:r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≥3,000</a:t>
            </a:r>
            <a:pPr algn="l" indent="0" marL="0">
              <a:lnSpc>
                <a:spcPts val="1100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个间隙校准</a:t>
            </a:r>
            <a:endParaRPr lang="en-US" sz="788" dirty="0"/>
          </a:p>
        </p:txBody>
      </p:sp>
      <p:sp>
        <p:nvSpPr>
          <p:cNvPr id="23" name="Text 18"/>
          <p:cNvSpPr/>
          <p:nvPr/>
        </p:nvSpPr>
        <p:spPr>
          <a:xfrm>
            <a:off x="5204222" y="3618421"/>
            <a:ext cx="3479006" cy="1121457"/>
          </a:xfrm>
          <a:prstGeom prst="roundRect">
            <a:avLst>
              <a:gd name="adj" fmla="val 10192"/>
            </a:avLst>
          </a:prstGeom>
          <a:solidFill>
            <a:srgbClr val="16304F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5336381" y="4094038"/>
            <a:ext cx="3214688" cy="183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预测：</a:t>
            </a:r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≥10⁴</a:t>
            </a:r>
            <a:pPr algn="l" indent="0" marL="0">
              <a:lnSpc>
                <a:spcPts val="1100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间隙（更大晶格 × 实现 × 涡旋移位）可达 </a:t>
            </a:r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788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255907" y="3686175"/>
            <a:ext cx="1888093" cy="1457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75"/>
              </a:lnSpc>
              <a:buNone/>
            </a:pPr>
            <a:r>
              <a:rPr lang="en-US" sz="16875" dirty="0">
                <a:solidFill>
                  <a:srgbClr val="4FC3F7">
                    <a:alpha val="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</a:t>
            </a:r>
            <a:endParaRPr lang="en-US" sz="16875" dirty="0"/>
          </a:p>
        </p:txBody>
      </p:sp>
      <p:sp>
        <p:nvSpPr>
          <p:cNvPr id="5" name="Shape 1"/>
          <p:cNvSpPr/>
          <p:nvPr/>
        </p:nvSpPr>
        <p:spPr>
          <a:xfrm>
            <a:off x="5072063" y="3465054"/>
            <a:ext cx="3614738" cy="0"/>
          </a:xfrm>
          <a:prstGeom prst="line">
            <a:avLst/>
          </a:prstGeom>
          <a:noFill/>
          <a:ln w="14288">
            <a:solidFill>
              <a:srgbClr val="FFB74D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8683228" y="3457910"/>
            <a:ext cx="0" cy="1285540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5072063" y="4739878"/>
            <a:ext cx="3614738" cy="0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075634" y="3457910"/>
            <a:ext cx="0" cy="1285540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94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DIRAC DYNAMICS · HATANO–NELSON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457200" y="623292"/>
            <a:ext cx="8636000" cy="314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913" b="1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狄拉克动力学：锥、凹陷、趋肤</a:t>
            </a:r>
            <a:endParaRPr lang="en-US" sz="1913" dirty="0"/>
          </a:p>
        </p:txBody>
      </p:sp>
      <p:sp>
        <p:nvSpPr>
          <p:cNvPr id="11" name="Text 7"/>
          <p:cNvSpPr/>
          <p:nvPr/>
        </p:nvSpPr>
        <p:spPr>
          <a:xfrm>
            <a:off x="460772" y="1089757"/>
            <a:ext cx="4464844" cy="1145232"/>
          </a:xfrm>
          <a:prstGeom prst="roundRect">
            <a:avLst>
              <a:gd name="adj" fmla="val 9981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621506" y="1328403"/>
            <a:ext cx="4143375" cy="211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锥</a:t>
            </a:r>
            <a:endParaRPr lang="en-US" sz="1069" dirty="0"/>
          </a:p>
        </p:txBody>
      </p:sp>
      <p:sp>
        <p:nvSpPr>
          <p:cNvPr id="13" name="Text 9"/>
          <p:cNvSpPr/>
          <p:nvPr/>
        </p:nvSpPr>
        <p:spPr>
          <a:xfrm>
            <a:off x="621506" y="1567718"/>
            <a:ext cx="4143375" cy="2618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294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algn="l" indent="0" marL="0">
              <a:lnSpc>
                <a:spcPts val="1941"/>
              </a:lnSpc>
              <a:buNone/>
            </a:pPr>
            <a:r>
              <a:rPr lang="en-US" sz="970" baseline="-40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pPr algn="l" indent="0" marL="0">
              <a:lnSpc>
                <a:spcPts val="1941"/>
              </a:lnSpc>
              <a:buNone/>
            </a:pPr>
            <a:r>
              <a:rPr lang="en-US" sz="1294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= 0.0202 + 11.83/L</a:t>
            </a:r>
            <a:endParaRPr lang="en-US" sz="1294" dirty="0"/>
          </a:p>
        </p:txBody>
      </p:sp>
      <p:sp>
        <p:nvSpPr>
          <p:cNvPr id="14" name="Text 10"/>
          <p:cNvSpPr/>
          <p:nvPr/>
        </p:nvSpPr>
        <p:spPr>
          <a:xfrm>
            <a:off x="621506" y="1857040"/>
            <a:ext cx="4143375" cy="150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</a:t>
            </a:r>
            <a:pPr algn="l" indent="0" marL="0">
              <a:lnSpc>
                <a:spcPts val="1200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²=</a:t>
            </a:r>
            <a:pPr algn="l" indent="0" marL="0">
              <a:lnSpc>
                <a:spcPts val="1200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0.9997</a:t>
            </a:r>
            <a:pPr algn="l" indent="0" marL="0">
              <a:lnSpc>
                <a:spcPts val="1200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</a:t>
            </a:r>
            <a:pPr algn="l" indent="0" marL="0">
              <a:lnSpc>
                <a:spcPts val="1200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</a:t>
            </a:r>
            <a:pPr algn="l" indent="0" marL="0">
              <a:lnSpc>
                <a:spcPts val="1200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pPr algn="l" indent="0" marL="0">
              <a:lnSpc>
                <a:spcPts val="1200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pPr algn="l" indent="0" marL="0">
              <a:lnSpc>
                <a:spcPts val="1200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</a:t>
            </a:r>
            <a:pPr algn="l" indent="0" marL="0">
              <a:lnSpc>
                <a:spcPts val="1200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48</a:t>
            </a:r>
            <a:pPr algn="l" indent="0" marL="0">
              <a:lnSpc>
                <a:spcPts val="1200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pPr algn="l" indent="0" marL="0">
              <a:lnSpc>
                <a:spcPts val="1200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pPr algn="l" indent="0" marL="0">
              <a:lnSpc>
                <a:spcPts val="1200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个零模）；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algn="l" indent="0" marL="0">
              <a:lnSpc>
                <a:spcPts val="1200"/>
              </a:lnSpc>
              <a:buNone/>
            </a:pPr>
            <a:r>
              <a:rPr lang="en-US" sz="800" baseline="-400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= b/2π ≈ 1.88</a:t>
            </a:r>
            <a:endParaRPr lang="en-US" sz="731" dirty="0"/>
          </a:p>
        </p:txBody>
      </p:sp>
      <p:sp>
        <p:nvSpPr>
          <p:cNvPr id="15" name="Text 11"/>
          <p:cNvSpPr/>
          <p:nvPr/>
        </p:nvSpPr>
        <p:spPr>
          <a:xfrm>
            <a:off x="460772" y="2342145"/>
            <a:ext cx="4464844" cy="1145344"/>
          </a:xfrm>
          <a:prstGeom prst="roundRect">
            <a:avLst>
              <a:gd name="adj" fmla="val 9980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621506" y="2646871"/>
            <a:ext cx="3819339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α=</a:t>
            </a:r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1/2</a:t>
            </a:r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处 </a:t>
            </a:r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DOS</a:t>
            </a:r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凹陷</a:t>
            </a:r>
            <a:endParaRPr lang="en-US" sz="1069" dirty="0"/>
          </a:p>
        </p:txBody>
      </p:sp>
      <p:sp>
        <p:nvSpPr>
          <p:cNvPr id="17" name="Text 13"/>
          <p:cNvSpPr/>
          <p:nvPr/>
        </p:nvSpPr>
        <p:spPr>
          <a:xfrm>
            <a:off x="4409050" y="2618296"/>
            <a:ext cx="401913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FB7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20×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621506" y="2918333"/>
            <a:ext cx="4143375" cy="131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ρ=</a:t>
            </a:r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0.010</a:t>
            </a:r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对 α=</a:t>
            </a:r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0.4/0.6</a:t>
            </a:r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 </a:t>
            </a:r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0.200</a:t>
            </a:r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——对比 </a:t>
            </a:r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</a:t>
            </a:r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endParaRPr lang="en-US" sz="759" dirty="0"/>
          </a:p>
        </p:txBody>
      </p:sp>
      <p:sp>
        <p:nvSpPr>
          <p:cNvPr id="19" name="Text 15"/>
          <p:cNvSpPr/>
          <p:nvPr/>
        </p:nvSpPr>
        <p:spPr>
          <a:xfrm>
            <a:off x="621506" y="3077282"/>
            <a:ext cx="414337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（霍尔相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₁=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+1/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之间的临界点）</a:t>
            </a:r>
            <a:endParaRPr lang="en-US" sz="703" dirty="0"/>
          </a:p>
        </p:txBody>
      </p:sp>
      <p:sp>
        <p:nvSpPr>
          <p:cNvPr id="20" name="Text 16"/>
          <p:cNvSpPr/>
          <p:nvPr/>
        </p:nvSpPr>
        <p:spPr>
          <a:xfrm>
            <a:off x="460772" y="3594646"/>
            <a:ext cx="4464844" cy="1145232"/>
          </a:xfrm>
          <a:prstGeom prst="roundRect">
            <a:avLst>
              <a:gd name="adj" fmla="val 9981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621506" y="3885084"/>
            <a:ext cx="3677469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4FC3F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Hatano–Nelson</a:t>
            </a:r>
            <a:endParaRPr lang="en-US" sz="1069" dirty="0"/>
          </a:p>
        </p:txBody>
      </p:sp>
      <p:sp>
        <p:nvSpPr>
          <p:cNvPr id="22" name="Text 18"/>
          <p:cNvSpPr/>
          <p:nvPr/>
        </p:nvSpPr>
        <p:spPr>
          <a:xfrm>
            <a:off x="4273753" y="3927946"/>
            <a:ext cx="53063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g=0.322</a:t>
            </a:r>
            <a:endParaRPr lang="en-US" sz="844" dirty="0"/>
          </a:p>
        </p:txBody>
      </p:sp>
      <p:sp>
        <p:nvSpPr>
          <p:cNvPr id="23" name="Text 19"/>
          <p:cNvSpPr/>
          <p:nvPr/>
        </p:nvSpPr>
        <p:spPr>
          <a:xfrm>
            <a:off x="621506" y="4131543"/>
            <a:ext cx="4143375" cy="156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σ=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0.5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实谱；σ=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0.7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全谱复数</a:t>
            </a:r>
            <a:endParaRPr lang="en-US" sz="816" dirty="0"/>
          </a:p>
        </p:txBody>
      </p:sp>
      <p:sp>
        <p:nvSpPr>
          <p:cNvPr id="24" name="Text 20"/>
          <p:cNvSpPr/>
          <p:nvPr/>
        </p:nvSpPr>
        <p:spPr>
          <a:xfrm>
            <a:off x="621506" y="4315495"/>
            <a:ext cx="4143375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max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|=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0.623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，趋肤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0.322</a:t>
            </a:r>
            <a:endParaRPr lang="en-US" sz="703" dirty="0"/>
          </a:p>
        </p:txBody>
      </p:sp>
      <p:sp>
        <p:nvSpPr>
          <p:cNvPr id="25" name="Text 21"/>
          <p:cNvSpPr/>
          <p:nvPr/>
        </p:nvSpPr>
        <p:spPr>
          <a:xfrm>
            <a:off x="5072063" y="1086185"/>
            <a:ext cx="3614738" cy="2271713"/>
          </a:xfrm>
          <a:prstGeom prst="roundRect">
            <a:avLst>
              <a:gd name="adj" fmla="val 41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76200" dir="540000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6" name="Image 2" descr="/tmp/h2p-fit-1787909758371-a3vvu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1157622"/>
            <a:ext cx="3471863" cy="212883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072063" y="3457910"/>
            <a:ext cx="3614738" cy="1285540"/>
          </a:xfrm>
          <a:prstGeom prst="roundRect">
            <a:avLst>
              <a:gd name="adj" fmla="val 8891"/>
            </a:avLst>
          </a:prstGeom>
          <a:solidFill>
            <a:srgbClr val="12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5236369" y="3897027"/>
            <a:ext cx="3286125" cy="183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临界线 </a:t>
            </a:r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σ=1/2</a:t>
            </a:r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三重凸显：</a:t>
            </a:r>
            <a:endParaRPr lang="en-US" sz="1069" dirty="0"/>
          </a:p>
        </p:txBody>
      </p:sp>
      <p:sp>
        <p:nvSpPr>
          <p:cNvPr id="29" name="Text 24"/>
          <p:cNvSpPr/>
          <p:nvPr/>
        </p:nvSpPr>
        <p:spPr>
          <a:xfrm>
            <a:off x="5236369" y="4107768"/>
            <a:ext cx="3286125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Connes</a:t>
            </a:r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自对偶</a:t>
            </a:r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</a:t>
            </a:r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厄米性</a:t>
            </a:r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</a:t>
            </a:r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狄拉克凹陷</a:t>
            </a:r>
            <a:endParaRPr lang="en-US" sz="1069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856264" y="-542925"/>
            <a:ext cx="4287736" cy="2160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0"/>
              </a:lnSpc>
              <a:buNone/>
            </a:pPr>
            <a:r>
              <a:rPr lang="en-US" sz="15750" dirty="0">
                <a:solidFill>
                  <a:srgbClr val="4FC3F7">
                    <a:alpha val="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π/7</a:t>
            </a:r>
            <a:endParaRPr lang="en-US" sz="15750" dirty="0"/>
          </a:p>
        </p:txBody>
      </p:sp>
      <p:sp>
        <p:nvSpPr>
          <p:cNvPr id="5" name="Text 1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94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ANALYTIC STRUCTURE · TESTS 21 · 22 · 23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457200" y="623292"/>
            <a:ext cx="8636000" cy="314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913" b="1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解析结构：π/</a:t>
            </a:r>
            <a:pPr algn="l" indent="0" marL="0">
              <a:lnSpc>
                <a:spcPts val="2295"/>
              </a:lnSpc>
              <a:buNone/>
            </a:pPr>
            <a:r>
              <a:rPr lang="en-US" sz="1913" b="1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1913" dirty="0"/>
          </a:p>
        </p:txBody>
      </p:sp>
      <p:sp>
        <p:nvSpPr>
          <p:cNvPr id="7" name="Text 3"/>
          <p:cNvSpPr/>
          <p:nvPr/>
        </p:nvSpPr>
        <p:spPr>
          <a:xfrm>
            <a:off x="460772" y="1061182"/>
            <a:ext cx="5193506" cy="907145"/>
          </a:xfrm>
          <a:prstGeom prst="roundRect">
            <a:avLst>
              <a:gd name="adj" fmla="val 12600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621506" y="1305744"/>
            <a:ext cx="4872038" cy="2511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Φ</a:t>
            </a:r>
            <a:pPr algn="l" indent="0" marL="0">
              <a:lnSpc>
                <a:spcPts val="1856"/>
              </a:lnSpc>
              <a:buNone/>
            </a:pPr>
            <a:r>
              <a:rPr lang="en-US" sz="928" baseline="-400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</a:t>
            </a:r>
            <a:pPr algn="l" indent="0" marL="0">
              <a:lnSpc>
                <a:spcPts val="1856"/>
              </a:lnSpc>
              <a:buNone/>
            </a:pPr>
            <a:r>
              <a:rPr lang="en-US" sz="1238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2π/14 = </a:t>
            </a:r>
            <a:pPr algn="l" indent="0" marL="0">
              <a:lnSpc>
                <a:spcPts val="1856"/>
              </a:lnSpc>
              <a:buNone/>
            </a:pPr>
            <a:r>
              <a:rPr lang="en-US" sz="1238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π/7</a:t>
            </a:r>
            <a:endParaRPr lang="en-US" sz="1238" dirty="0"/>
          </a:p>
        </p:txBody>
      </p:sp>
      <p:sp>
        <p:nvSpPr>
          <p:cNvPr id="9" name="Text 5"/>
          <p:cNvSpPr/>
          <p:nvPr/>
        </p:nvSpPr>
        <p:spPr>
          <a:xfrm>
            <a:off x="621506" y="1584350"/>
            <a:ext cx="4872038" cy="15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1/14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的精确恒等式（测试 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731" dirty="0"/>
          </a:p>
        </p:txBody>
      </p:sp>
      <p:sp>
        <p:nvSpPr>
          <p:cNvPr id="10" name="Text 6"/>
          <p:cNvSpPr/>
          <p:nvPr/>
        </p:nvSpPr>
        <p:spPr>
          <a:xfrm>
            <a:off x="460772" y="2061195"/>
            <a:ext cx="5193506" cy="907145"/>
          </a:xfrm>
          <a:prstGeom prst="roundRect">
            <a:avLst>
              <a:gd name="adj" fmla="val 12600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21506" y="2257537"/>
            <a:ext cx="4872038" cy="1940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γ* = a</a:t>
            </a:r>
            <a:pPr algn="l" indent="0" marL="0">
              <a:lnSpc>
                <a:spcPts val="1519"/>
              </a:lnSpc>
              <a:buNone/>
            </a:pPr>
            <a:r>
              <a:rPr lang="en-US" sz="800" baseline="-400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i·b</a:t>
            </a:r>
            <a:pPr algn="l" indent="0" marL="0">
              <a:lnSpc>
                <a:spcPts val="1519"/>
              </a:lnSpc>
              <a:buNone/>
            </a:pPr>
            <a:r>
              <a:rPr lang="en-US" sz="800" baseline="-400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013" dirty="0"/>
          </a:p>
        </p:txBody>
      </p:sp>
      <p:sp>
        <p:nvSpPr>
          <p:cNvPr id="12" name="Text 8"/>
          <p:cNvSpPr/>
          <p:nvPr/>
        </p:nvSpPr>
        <p:spPr>
          <a:xfrm>
            <a:off x="621506" y="2478993"/>
            <a:ext cx="4872038" cy="12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ts val="1097"/>
              </a:lnSpc>
              <a:buNone/>
            </a:pPr>
            <a:r>
              <a:rPr lang="en-US" sz="800" baseline="-4000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= (π/7)⁵/22 = 8.276·10⁻⁴，b</a:t>
            </a:r>
            <a:pPr algn="l" indent="0" marL="0">
              <a:lnSpc>
                <a:spcPts val="1097"/>
              </a:lnSpc>
              <a:buNone/>
            </a:pPr>
            <a:r>
              <a:rPr lang="en-US" sz="800" baseline="-4000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= 2sin²(π/7) = 0.3765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621506" y="2632583"/>
            <a:ext cx="4872038" cy="150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arg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γ* = 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89.87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° ≈ π/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（测试 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21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731" dirty="0"/>
          </a:p>
        </p:txBody>
      </p:sp>
      <p:sp>
        <p:nvSpPr>
          <p:cNvPr id="14" name="Text 10"/>
          <p:cNvSpPr/>
          <p:nvPr/>
        </p:nvSpPr>
        <p:spPr>
          <a:xfrm>
            <a:off x="460772" y="3061208"/>
            <a:ext cx="5193506" cy="907145"/>
          </a:xfrm>
          <a:prstGeom prst="roundRect">
            <a:avLst>
              <a:gd name="adj" fmla="val 12600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621506" y="3340596"/>
            <a:ext cx="4872038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 = exp(2πi/22)·exp(i·2.854·ln 22) = −0.950+0.312i，|CF|=1</a:t>
            </a:r>
            <a:endParaRPr lang="en-US" sz="872" dirty="0"/>
          </a:p>
        </p:txBody>
      </p:sp>
      <p:sp>
        <p:nvSpPr>
          <p:cNvPr id="16" name="Text 12"/>
          <p:cNvSpPr/>
          <p:nvPr/>
        </p:nvSpPr>
        <p:spPr>
          <a:xfrm>
            <a:off x="621506" y="3549551"/>
            <a:ext cx="4872038" cy="150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经验输入 </a:t>
            </a:r>
            <a:pPr algn="l" indent="0" marL="0">
              <a:lnSpc>
                <a:spcPts val="1200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CF</a:t>
            </a:r>
            <a:pPr algn="l" indent="0" marL="0">
              <a:lnSpc>
                <a:spcPts val="1200"/>
              </a:lnSpc>
              <a:buNone/>
            </a:pPr>
            <a:r>
              <a:rPr lang="en-US" sz="800" baseline="-400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hard</a:t>
            </a:r>
            <a:pPr algn="l" indent="0" marL="0">
              <a:lnSpc>
                <a:spcPts val="1200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algn="l" indent="0" marL="0">
              <a:lnSpc>
                <a:spcPts val="1200"/>
              </a:lnSpc>
              <a:buNone/>
            </a:pPr>
            <a:r>
              <a:rPr lang="en-US" sz="800" baseline="-400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= 0.0206</a:t>
            </a:r>
            <a:pPr algn="l" indent="0" marL="0">
              <a:lnSpc>
                <a:spcPts val="1200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（测试 </a:t>
            </a:r>
            <a:pPr algn="l" indent="0" marL="0">
              <a:lnSpc>
                <a:spcPts val="1200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23</a:t>
            </a:r>
            <a:pPr algn="l" indent="0" marL="0">
              <a:lnSpc>
                <a:spcPts val="1200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731" dirty="0"/>
          </a:p>
        </p:txBody>
      </p:sp>
      <p:sp>
        <p:nvSpPr>
          <p:cNvPr id="17" name="Text 13"/>
          <p:cNvSpPr/>
          <p:nvPr/>
        </p:nvSpPr>
        <p:spPr>
          <a:xfrm>
            <a:off x="5829300" y="1085962"/>
            <a:ext cx="2857500" cy="2857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76200" dir="540000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2" descr="/tmp/h2p-fit-1787909758860-yqms6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738" y="1157399"/>
            <a:ext cx="2714625" cy="27146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0772" y="4061222"/>
            <a:ext cx="4050506" cy="678656"/>
          </a:xfrm>
          <a:prstGeom prst="roundRect">
            <a:avLst>
              <a:gd name="adj" fmla="val 16842"/>
            </a:avLst>
          </a:prstGeom>
          <a:solidFill>
            <a:srgbClr val="16304F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592931" y="4320183"/>
            <a:ext cx="3359683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公式精度——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机器级</a:t>
            </a:r>
            <a:endParaRPr lang="en-US" sz="844" dirty="0"/>
          </a:p>
        </p:txBody>
      </p:sp>
      <p:sp>
        <p:nvSpPr>
          <p:cNvPr id="21" name="Text 16"/>
          <p:cNvSpPr/>
          <p:nvPr/>
        </p:nvSpPr>
        <p:spPr>
          <a:xfrm>
            <a:off x="3980131" y="4299537"/>
            <a:ext cx="414333" cy="202025"/>
          </a:xfrm>
          <a:prstGeom prst="roundRect">
            <a:avLst>
              <a:gd name="adj" fmla="val 4710048"/>
            </a:avLst>
          </a:prstGeom>
          <a:noFill/>
          <a:ln w="7144">
            <a:solidFill>
              <a:srgbClr val="66BB6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3995477" y="4310360"/>
            <a:ext cx="383642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4632722" y="4061222"/>
            <a:ext cx="4050506" cy="678656"/>
          </a:xfrm>
          <a:prstGeom prst="roundRect">
            <a:avLst>
              <a:gd name="adj" fmla="val 16842"/>
            </a:avLst>
          </a:prstGeom>
          <a:solidFill>
            <a:srgbClr val="16304F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4764881" y="4334247"/>
            <a:ext cx="3786188" cy="143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物理解读（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Peccei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Quinn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PSL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2,7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)⊂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Monster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）——</a:t>
            </a:r>
            <a:pPr algn="l" indent="0" marL="0">
              <a:lnSpc>
                <a:spcPts val="1044"/>
              </a:lnSpc>
              <a:buNone/>
            </a:pPr>
            <a:r>
              <a:rPr lang="en-US" sz="759" b="1" dirty="0">
                <a:solidFill>
                  <a:srgbClr val="FFB7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假说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algn="l" indent="0" marL="0">
              <a:lnSpc>
                <a:spcPts val="1044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套件不矛盾，但不证明</a:t>
            </a:r>
            <a:endParaRPr lang="en-US" sz="759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289793" y="-414337"/>
            <a:ext cx="4854207" cy="2160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0"/>
              </a:lnSpc>
              <a:buNone/>
            </a:pPr>
            <a:r>
              <a:rPr lang="en-US" sz="15750" dirty="0">
                <a:solidFill>
                  <a:srgbClr val="4FC3F7">
                    <a:alpha val="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v19</a:t>
            </a:r>
            <a:endParaRPr lang="en-US" sz="15750" dirty="0"/>
          </a:p>
        </p:txBody>
      </p:sp>
      <p:sp>
        <p:nvSpPr>
          <p:cNvPr id="5" name="Text 1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94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REPRODUCIBILITY · SUITE V19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457200" y="623292"/>
            <a:ext cx="8636000" cy="314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913" b="1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v19</a:t>
            </a:r>
            <a:pPr algn="l" indent="0" marL="0">
              <a:lnSpc>
                <a:spcPts val="2295"/>
              </a:lnSpc>
              <a:buNone/>
            </a:pPr>
            <a:r>
              <a:rPr lang="en-US" sz="1913" b="1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：信任的基础设施</a:t>
            </a:r>
            <a:endParaRPr lang="en-US" sz="1913" dirty="0"/>
          </a:p>
        </p:txBody>
      </p:sp>
      <p:sp>
        <p:nvSpPr>
          <p:cNvPr id="7" name="Text 3"/>
          <p:cNvSpPr/>
          <p:nvPr/>
        </p:nvSpPr>
        <p:spPr>
          <a:xfrm>
            <a:off x="460772" y="1089757"/>
            <a:ext cx="2659819" cy="1514252"/>
          </a:xfrm>
          <a:prstGeom prst="roundRect">
            <a:avLst>
              <a:gd name="adj" fmla="val 7548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621506" y="1236204"/>
            <a:ext cx="21954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63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FIX-R1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2831269" y="12469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FC3F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266" dirty="0"/>
          </a:p>
        </p:txBody>
      </p:sp>
      <p:sp>
        <p:nvSpPr>
          <p:cNvPr id="10" name="Text 6"/>
          <p:cNvSpPr/>
          <p:nvPr/>
        </p:nvSpPr>
        <p:spPr>
          <a:xfrm>
            <a:off x="621506" y="1457660"/>
            <a:ext cx="2338350" cy="294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PDF</a:t>
            </a:r>
            <a:pPr algn="l" indent="0" marL="0">
              <a:lnSpc>
                <a:spcPts val="1100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写出器 </a:t>
            </a:r>
            <a:pPr algn="l" indent="0" marL="0">
              <a:lnSpc>
                <a:spcPts val="1100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MethodError</a:t>
            </a:r>
            <a:pPr algn="l" indent="0" marL="0">
              <a:lnSpc>
                <a:spcPts val="1100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</a:t>
            </a:r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FFB7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37</a:t>
            </a:r>
            <a:pPr algn="l" indent="0" marL="0">
              <a:lnSpc>
                <a:spcPts val="1100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个虚假 </a:t>
            </a:r>
            <a:pPr algn="l" indent="0" marL="0">
              <a:lnSpc>
                <a:spcPts val="1100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WARN</a:t>
            </a:r>
            <a:pPr algn="l" indent="0" marL="0">
              <a:lnSpc>
                <a:spcPts val="1100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与失效的第二通；以行列表类型标注修复</a:t>
            </a:r>
            <a:endParaRPr lang="en-US" sz="759" dirty="0"/>
          </a:p>
        </p:txBody>
      </p:sp>
      <p:sp>
        <p:nvSpPr>
          <p:cNvPr id="11" name="Text 7"/>
          <p:cNvSpPr/>
          <p:nvPr/>
        </p:nvSpPr>
        <p:spPr>
          <a:xfrm>
            <a:off x="3242035" y="1089757"/>
            <a:ext cx="2659819" cy="1514252"/>
          </a:xfrm>
          <a:prstGeom prst="roundRect">
            <a:avLst>
              <a:gd name="adj" fmla="val 7548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3402769" y="1236204"/>
            <a:ext cx="21954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63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FIX-R2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612532" y="12469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FC3F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266" dirty="0"/>
          </a:p>
        </p:txBody>
      </p:sp>
      <p:sp>
        <p:nvSpPr>
          <p:cNvPr id="14" name="Text 10"/>
          <p:cNvSpPr/>
          <p:nvPr/>
        </p:nvSpPr>
        <p:spPr>
          <a:xfrm>
            <a:off x="3402769" y="1457660"/>
            <a:ext cx="2338350" cy="294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任何报告格式失败不再影响裁决（</a:t>
            </a:r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_write_test_report!</a:t>
            </a:r>
            <a:pPr algn="l" indent="0" marL="0">
              <a:lnSpc>
                <a:spcPts val="1100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外包 </a:t>
            </a:r>
            <a:pPr algn="l" indent="0" marL="0">
              <a:lnSpc>
                <a:spcPts val="1100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try</a:t>
            </a:r>
            <a:pPr algn="l" indent="0" marL="0">
              <a:lnSpc>
                <a:spcPts val="1100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pPr algn="l" indent="0" marL="0">
              <a:lnSpc>
                <a:spcPts val="1100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catch</a:t>
            </a:r>
            <a:pPr algn="l" indent="0" marL="0">
              <a:lnSpc>
                <a:spcPts val="1100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759" dirty="0"/>
          </a:p>
        </p:txBody>
      </p:sp>
      <p:sp>
        <p:nvSpPr>
          <p:cNvPr id="15" name="Text 11"/>
          <p:cNvSpPr/>
          <p:nvPr/>
        </p:nvSpPr>
        <p:spPr>
          <a:xfrm>
            <a:off x="6023297" y="1089757"/>
            <a:ext cx="2659931" cy="1514252"/>
          </a:xfrm>
          <a:prstGeom prst="roundRect">
            <a:avLst>
              <a:gd name="adj" fmla="val 7548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6184032" y="1236204"/>
            <a:ext cx="21955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63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FIX-R3/R4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8393906" y="12469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FC3F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266" dirty="0"/>
          </a:p>
        </p:txBody>
      </p:sp>
      <p:sp>
        <p:nvSpPr>
          <p:cNvPr id="18" name="Text 14"/>
          <p:cNvSpPr/>
          <p:nvPr/>
        </p:nvSpPr>
        <p:spPr>
          <a:xfrm>
            <a:off x="6184032" y="1457660"/>
            <a:ext cx="2338462" cy="286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 </a:t>
            </a:r>
            <a:pPr algn="l" indent="0" marL="0">
              <a:lnSpc>
                <a:spcPts val="1100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28</a:t>
            </a:r>
            <a:pPr algn="l" indent="0" marL="0">
              <a:lnSpc>
                <a:spcPts val="1100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（变量作用域）与测试 </a:t>
            </a:r>
            <a:pPr algn="l" indent="0" marL="0">
              <a:lnSpc>
                <a:spcPts val="1100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</a:t>
            </a:r>
            <a:pPr algn="l" indent="0" marL="0">
              <a:lnSpc>
                <a:spcPts val="1100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（α·</a:t>
            </a:r>
            <a:pPr algn="l" indent="0" marL="0">
              <a:lnSpc>
                <a:spcPts val="1100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</a:t>
            </a:r>
            <a:pPr algn="l" indent="0" marL="0">
              <a:lnSpc>
                <a:spcPts val="1100"/>
              </a:lnSpc>
              <a:buNone/>
            </a:pPr>
            <a:r>
              <a:rPr lang="en-US" sz="800" baseline="-400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</a:t>
            </a:r>
            <a:pPr algn="l" indent="0" marL="0">
              <a:lnSpc>
                <a:spcPts val="1100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∈ℤ，</a:t>
            </a:r>
            <a:pPr algn="l" indent="0" marL="0">
              <a:lnSpc>
                <a:spcPts val="1100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pPr algn="l" indent="0" marL="0">
              <a:lnSpc>
                <a:spcPts val="1100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的倍数）</a:t>
            </a:r>
            <a:endParaRPr lang="en-US" sz="759" dirty="0"/>
          </a:p>
        </p:txBody>
      </p:sp>
      <p:sp>
        <p:nvSpPr>
          <p:cNvPr id="19" name="Text 15"/>
          <p:cNvSpPr/>
          <p:nvPr/>
        </p:nvSpPr>
        <p:spPr>
          <a:xfrm>
            <a:off x="460772" y="2725452"/>
            <a:ext cx="2659819" cy="1514363"/>
          </a:xfrm>
          <a:prstGeom prst="roundRect">
            <a:avLst>
              <a:gd name="adj" fmla="val 7548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621506" y="2871899"/>
            <a:ext cx="21954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63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FIX-R5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2831269" y="288261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FC3F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266" dirty="0"/>
          </a:p>
        </p:txBody>
      </p:sp>
      <p:sp>
        <p:nvSpPr>
          <p:cNvPr id="22" name="Text 18"/>
          <p:cNvSpPr/>
          <p:nvPr/>
        </p:nvSpPr>
        <p:spPr>
          <a:xfrm>
            <a:off x="621506" y="3093355"/>
            <a:ext cx="2338350" cy="294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快速检查——ζ≤</a:t>
            </a:r>
            <a:pPr algn="l" indent="0" marL="0">
              <a:lnSpc>
                <a:spcPts val="1100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5000</a:t>
            </a:r>
            <a:pPr algn="l" indent="0" marL="0">
              <a:lnSpc>
                <a:spcPts val="1100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、关闭 </a:t>
            </a:r>
            <a:pPr algn="l" indent="0" marL="0">
              <a:lnSpc>
                <a:spcPts val="1100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GIF</a:t>
            </a:r>
            <a:pPr algn="l" indent="0" marL="0">
              <a:lnSpc>
                <a:spcPts val="1100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、新增 </a:t>
            </a:r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--quick</a:t>
            </a:r>
            <a:pPr algn="l" indent="0" marL="0">
              <a:lnSpc>
                <a:spcPts val="1100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标志；真正执行双通 </a:t>
            </a:r>
            <a:pPr algn="l" indent="0" marL="0">
              <a:lnSpc>
                <a:spcPts val="1100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</a:t>
            </a:r>
            <a:pPr algn="l" indent="0" marL="0">
              <a:lnSpc>
                <a:spcPts val="1100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pPr algn="l" indent="0" marL="0">
              <a:lnSpc>
                <a:spcPts val="1100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</a:t>
            </a:r>
            <a:pPr algn="l" indent="0" marL="0">
              <a:lnSpc>
                <a:spcPts val="1100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pPr algn="l" indent="0" marL="0">
              <a:lnSpc>
                <a:spcPts val="1100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32</a:t>
            </a:r>
            <a:pPr algn="l" indent="0" marL="0">
              <a:lnSpc>
                <a:spcPts val="1100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pPr algn="l" indent="0" marL="0">
              <a:lnSpc>
                <a:spcPts val="1100"/>
              </a:lnSpc>
              <a:buNone/>
            </a:pPr>
            <a:r>
              <a:rPr lang="en-US" sz="759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32</a:t>
            </a:r>
            <a:endParaRPr lang="en-US" sz="759" dirty="0"/>
          </a:p>
        </p:txBody>
      </p:sp>
      <p:sp>
        <p:nvSpPr>
          <p:cNvPr id="23" name="Text 19"/>
          <p:cNvSpPr/>
          <p:nvPr/>
        </p:nvSpPr>
        <p:spPr>
          <a:xfrm>
            <a:off x="3242035" y="2725452"/>
            <a:ext cx="5441193" cy="1514363"/>
          </a:xfrm>
          <a:prstGeom prst="roundRect">
            <a:avLst>
              <a:gd name="adj" fmla="val 7548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3402769" y="2895116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4FC3F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336" dirty="0"/>
          </a:p>
        </p:txBody>
      </p:sp>
      <p:sp>
        <p:nvSpPr>
          <p:cNvPr id="25" name="Text 21"/>
          <p:cNvSpPr/>
          <p:nvPr/>
        </p:nvSpPr>
        <p:spPr>
          <a:xfrm>
            <a:off x="3595650" y="2871899"/>
            <a:ext cx="4926843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两套裁决系统</a:t>
            </a:r>
            <a:endParaRPr lang="en-US" sz="956" dirty="0"/>
          </a:p>
        </p:txBody>
      </p:sp>
      <p:sp>
        <p:nvSpPr>
          <p:cNvPr id="26" name="Text 22"/>
          <p:cNvSpPr/>
          <p:nvPr/>
        </p:nvSpPr>
        <p:spPr>
          <a:xfrm>
            <a:off x="3406341" y="3129074"/>
            <a:ext cx="2509800" cy="960723"/>
          </a:xfrm>
          <a:prstGeom prst="roundRect">
            <a:avLst>
              <a:gd name="adj" fmla="val 11897"/>
            </a:avLst>
          </a:prstGeom>
          <a:solidFill>
            <a:srgbClr val="16304F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3538500" y="3428107"/>
            <a:ext cx="2245482" cy="15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59" kern="0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公式型</a:t>
            </a:r>
            <a:endParaRPr lang="en-US" sz="731" dirty="0"/>
          </a:p>
        </p:txBody>
      </p:sp>
      <p:sp>
        <p:nvSpPr>
          <p:cNvPr id="28" name="Text 24"/>
          <p:cNvSpPr/>
          <p:nvPr/>
        </p:nvSpPr>
        <p:spPr>
          <a:xfrm>
            <a:off x="3538500" y="3610273"/>
            <a:ext cx="2245482" cy="194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 ε 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10⁻¹²…10⁻¹⁶</a:t>
            </a:r>
            <a:pPr algn="l" indent="0" marL="0">
              <a:lnSpc>
                <a:spcPts val="1200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，二元 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pPr algn="l" indent="0" marL="0">
              <a:lnSpc>
                <a:spcPts val="1200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F5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</a:t>
            </a:r>
            <a:endParaRPr lang="en-US" sz="731" dirty="0"/>
          </a:p>
        </p:txBody>
      </p:sp>
      <p:sp>
        <p:nvSpPr>
          <p:cNvPr id="29" name="Text 25"/>
          <p:cNvSpPr/>
          <p:nvPr/>
        </p:nvSpPr>
        <p:spPr>
          <a:xfrm>
            <a:off x="6009010" y="3129074"/>
            <a:ext cx="2509912" cy="960723"/>
          </a:xfrm>
          <a:prstGeom prst="roundRect">
            <a:avLst>
              <a:gd name="adj" fmla="val 11897"/>
            </a:avLst>
          </a:prstGeom>
          <a:solidFill>
            <a:srgbClr val="16304F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6141169" y="3428107"/>
            <a:ext cx="2245593" cy="15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59" kern="0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统计型</a:t>
            </a:r>
            <a:endParaRPr lang="en-US" sz="731" dirty="0"/>
          </a:p>
        </p:txBody>
      </p:sp>
      <p:sp>
        <p:nvSpPr>
          <p:cNvPr id="31" name="Text 27"/>
          <p:cNvSpPr/>
          <p:nvPr/>
        </p:nvSpPr>
        <p:spPr>
          <a:xfrm>
            <a:off x="6141169" y="3610273"/>
            <a:ext cx="2245593" cy="194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校准带，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pPr algn="l" indent="0" marL="0">
              <a:lnSpc>
                <a:spcPts val="1200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FFA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</a:t>
            </a:r>
            <a:pPr algn="l" indent="0" marL="0">
              <a:lnSpc>
                <a:spcPts val="1200"/>
              </a:lnSpc>
              <a:buNone/>
            </a:pPr>
            <a:r>
              <a:rPr lang="en-US" sz="731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F5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</a:t>
            </a:r>
            <a:endParaRPr lang="en-US" sz="731" dirty="0"/>
          </a:p>
        </p:txBody>
      </p:sp>
      <p:sp>
        <p:nvSpPr>
          <p:cNvPr id="32" name="Text 28"/>
          <p:cNvSpPr/>
          <p:nvPr/>
        </p:nvSpPr>
        <p:spPr>
          <a:xfrm>
            <a:off x="460772" y="4346972"/>
            <a:ext cx="8222456" cy="392906"/>
          </a:xfrm>
          <a:prstGeom prst="roundRect">
            <a:avLst>
              <a:gd name="adj" fmla="val 29091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607219" y="4475559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4FC3F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336" dirty="0"/>
          </a:p>
        </p:txBody>
      </p:sp>
      <p:sp>
        <p:nvSpPr>
          <p:cNvPr id="34" name="Text 30"/>
          <p:cNvSpPr/>
          <p:nvPr/>
        </p:nvSpPr>
        <p:spPr>
          <a:xfrm>
            <a:off x="828675" y="4468416"/>
            <a:ext cx="800100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每次运行：</a:t>
            </a:r>
            <a:endParaRPr lang="en-US" sz="788" dirty="0"/>
          </a:p>
        </p:txBody>
      </p:sp>
      <p:sp>
        <p:nvSpPr>
          <p:cNvPr id="35" name="Text 31"/>
          <p:cNvSpPr/>
          <p:nvPr/>
        </p:nvSpPr>
        <p:spPr>
          <a:xfrm>
            <a:off x="1414463" y="4442412"/>
            <a:ext cx="700088" cy="202025"/>
          </a:xfrm>
          <a:prstGeom prst="roundRect">
            <a:avLst>
              <a:gd name="adj" fmla="val 4710048"/>
            </a:avLst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1414463" y="4453235"/>
            <a:ext cx="700088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700" dirty="0">
                <a:solidFill>
                  <a:srgbClr val="9D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含日志的目录</a:t>
            </a:r>
            <a:endParaRPr lang="en-US" sz="700" dirty="0"/>
          </a:p>
        </p:txBody>
      </p:sp>
      <p:sp>
        <p:nvSpPr>
          <p:cNvPr id="37" name="Text 33"/>
          <p:cNvSpPr/>
          <p:nvPr/>
        </p:nvSpPr>
        <p:spPr>
          <a:xfrm>
            <a:off x="2200275" y="4442412"/>
            <a:ext cx="977131" cy="202025"/>
          </a:xfrm>
          <a:prstGeom prst="roundRect">
            <a:avLst>
              <a:gd name="adj" fmla="val 4710048"/>
            </a:avLst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4"/>
          <p:cNvSpPr/>
          <p:nvPr/>
        </p:nvSpPr>
        <p:spPr>
          <a:xfrm>
            <a:off x="2200275" y="4453235"/>
            <a:ext cx="977131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md/html/pdf/docx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3263131" y="4442412"/>
            <a:ext cx="729890" cy="202025"/>
          </a:xfrm>
          <a:prstGeom prst="roundRect">
            <a:avLst>
              <a:gd name="adj" fmla="val 4710048"/>
            </a:avLst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3260223" y="4453235"/>
            <a:ext cx="735706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PNG 600 dpi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4078746" y="4442412"/>
            <a:ext cx="334194" cy="202025"/>
          </a:xfrm>
          <a:prstGeom prst="roundRect">
            <a:avLst>
              <a:gd name="adj" fmla="val 4710048"/>
            </a:avLst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8"/>
          <p:cNvSpPr/>
          <p:nvPr/>
        </p:nvSpPr>
        <p:spPr>
          <a:xfrm>
            <a:off x="4078746" y="4453235"/>
            <a:ext cx="334194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SVG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4498665" y="4442412"/>
            <a:ext cx="334194" cy="202025"/>
          </a:xfrm>
          <a:prstGeom prst="roundRect">
            <a:avLst>
              <a:gd name="adj" fmla="val 4710048"/>
            </a:avLst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0"/>
          <p:cNvSpPr/>
          <p:nvPr/>
        </p:nvSpPr>
        <p:spPr>
          <a:xfrm>
            <a:off x="4498665" y="4453235"/>
            <a:ext cx="334194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GIF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37733" y="3143250"/>
            <a:ext cx="2706267" cy="2000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88"/>
              </a:lnSpc>
              <a:buNone/>
            </a:pPr>
            <a:r>
              <a:rPr lang="en-US" sz="24188" dirty="0">
                <a:solidFill>
                  <a:srgbClr val="4FC3F7">
                    <a:alpha val="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ζ</a:t>
            </a:r>
            <a:endParaRPr lang="en-US" sz="24188" dirty="0"/>
          </a:p>
        </p:txBody>
      </p:sp>
      <p:sp>
        <p:nvSpPr>
          <p:cNvPr id="5" name="Text 1"/>
          <p:cNvSpPr/>
          <p:nvPr/>
        </p:nvSpPr>
        <p:spPr>
          <a:xfrm>
            <a:off x="2791420" y="4805958"/>
            <a:ext cx="5895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julia ab_cloud_v19.jl --test all · --quick · DOI 10.5281/zenodo.21825394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94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CONCLUSION · AB CLOUD V19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457200" y="623292"/>
            <a:ext cx="8636000" cy="404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588" b="1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2588" dirty="0"/>
          </a:p>
        </p:txBody>
      </p:sp>
      <p:sp>
        <p:nvSpPr>
          <p:cNvPr id="8" name="Text 4"/>
          <p:cNvSpPr/>
          <p:nvPr/>
        </p:nvSpPr>
        <p:spPr>
          <a:xfrm>
            <a:off x="460772" y="1115764"/>
            <a:ext cx="4057650" cy="742950"/>
          </a:xfrm>
          <a:prstGeom prst="roundRect">
            <a:avLst>
              <a:gd name="adj" fmla="val 15385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621506" y="1309539"/>
            <a:ext cx="514529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精确性</a:t>
            </a:r>
            <a:endParaRPr lang="en-US" sz="844" dirty="0"/>
          </a:p>
        </p:txBody>
      </p:sp>
      <p:sp>
        <p:nvSpPr>
          <p:cNvPr id="10" name="Text 6"/>
          <p:cNvSpPr/>
          <p:nvPr/>
        </p:nvSpPr>
        <p:spPr>
          <a:xfrm>
            <a:off x="1028812" y="1386334"/>
            <a:ext cx="3328876" cy="7144"/>
          </a:xfrm>
          <a:prstGeom prst="rect">
            <a:avLst/>
          </a:prstGeom>
          <a:solidFill>
            <a:srgbClr val="4FC3F7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21506" y="1527423"/>
            <a:ext cx="3736181" cy="14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磁通 </a:t>
            </a:r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10⁻¹⁴</a:t>
            </a:r>
            <a:pPr algn="l" indent="0" marL="0">
              <a:lnSpc>
                <a:spcPts val="1100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、Byers–Yang </a:t>
            </a:r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3.5·10⁻¹⁵</a:t>
            </a:r>
            <a:pPr algn="l" indent="0" marL="0">
              <a:lnSpc>
                <a:spcPts val="1100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pPr algn="l" indent="0" marL="0">
              <a:lnSpc>
                <a:spcPts val="1100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Connes</a:t>
            </a:r>
            <a:pPr algn="l" indent="0" marL="0">
              <a:lnSpc>
                <a:spcPts val="1100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100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pPr algn="l" indent="0" marL="0">
              <a:lnSpc>
                <a:spcPts val="1100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零模——</a:t>
            </a:r>
            <a:pPr algn="l" indent="0" marL="0">
              <a:lnSpc>
                <a:spcPts val="1100"/>
              </a:lnSpc>
              <a:buNone/>
            </a:pPr>
            <a:r>
              <a:rPr lang="en-US" sz="788" b="1" dirty="0">
                <a:solidFill>
                  <a:srgbClr val="66BB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已证明</a:t>
            </a:r>
            <a:endParaRPr lang="en-US" sz="788" dirty="0"/>
          </a:p>
        </p:txBody>
      </p:sp>
      <p:sp>
        <p:nvSpPr>
          <p:cNvPr id="12" name="Text 8"/>
          <p:cNvSpPr/>
          <p:nvPr/>
        </p:nvSpPr>
        <p:spPr>
          <a:xfrm>
            <a:off x="4625578" y="1115764"/>
            <a:ext cx="4057650" cy="742950"/>
          </a:xfrm>
          <a:prstGeom prst="roundRect">
            <a:avLst>
              <a:gd name="adj" fmla="val 15385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786313" y="1309539"/>
            <a:ext cx="514529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普适性</a:t>
            </a:r>
            <a:endParaRPr lang="en-US" sz="844" dirty="0"/>
          </a:p>
        </p:txBody>
      </p:sp>
      <p:sp>
        <p:nvSpPr>
          <p:cNvPr id="14" name="Text 10"/>
          <p:cNvSpPr/>
          <p:nvPr/>
        </p:nvSpPr>
        <p:spPr>
          <a:xfrm>
            <a:off x="5193618" y="1386334"/>
            <a:ext cx="3328876" cy="7144"/>
          </a:xfrm>
          <a:prstGeom prst="rect">
            <a:avLst/>
          </a:prstGeom>
          <a:solidFill>
            <a:srgbClr val="4FC3F7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4786313" y="1527423"/>
            <a:ext cx="3736181" cy="14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⟨r⟩ = 0.585±0.026</a:t>
            </a:r>
            <a:pPr algn="l" indent="0" marL="0">
              <a:lnSpc>
                <a:spcPts val="1100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</a:t>
            </a:r>
            <a:pPr algn="l" indent="0" marL="0">
              <a:lnSpc>
                <a:spcPts val="1100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</a:t>
            </a:r>
            <a:pPr algn="l" indent="0" marL="0">
              <a:lnSpc>
                <a:spcPts val="1100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</a:t>
            </a:r>
            <a:pPr algn="l" indent="0" marL="0">
              <a:lnSpc>
                <a:spcPts val="1100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</a:t>
            </a:r>
            <a:pPr algn="l" indent="0" marL="0">
              <a:lnSpc>
                <a:spcPts val="1100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平台 </a:t>
            </a:r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0.595</a:t>
            </a:r>
            <a:pPr algn="l" indent="0" marL="0">
              <a:lnSpc>
                <a:spcPts val="1100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</a:t>
            </a:r>
            <a:pPr algn="l" indent="0" marL="0">
              <a:lnSpc>
                <a:spcPts val="1100"/>
              </a:lnSpc>
              <a:buNone/>
            </a:pPr>
            <a:r>
              <a:rPr lang="en-US" sz="788" b="1" dirty="0">
                <a:solidFill>
                  <a:srgbClr val="66BB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GUE</a:t>
            </a:r>
            <a:pPr algn="l" indent="0" marL="0">
              <a:lnSpc>
                <a:spcPts val="1100"/>
              </a:lnSpc>
              <a:buNone/>
            </a:pPr>
            <a:r>
              <a:rPr lang="en-US" sz="788" b="1" dirty="0">
                <a:solidFill>
                  <a:srgbClr val="66BB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复现</a:t>
            </a:r>
            <a:endParaRPr lang="en-US" sz="788" dirty="0"/>
          </a:p>
        </p:txBody>
      </p:sp>
      <p:sp>
        <p:nvSpPr>
          <p:cNvPr id="16" name="Text 12"/>
          <p:cNvSpPr/>
          <p:nvPr/>
        </p:nvSpPr>
        <p:spPr>
          <a:xfrm>
            <a:off x="460772" y="1965871"/>
            <a:ext cx="4057650" cy="742950"/>
          </a:xfrm>
          <a:prstGeom prst="roundRect">
            <a:avLst>
              <a:gd name="adj" fmla="val 15385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621506" y="2159645"/>
            <a:ext cx="343079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</a:t>
            </a:r>
            <a:endParaRPr lang="en-US" sz="844" dirty="0"/>
          </a:p>
        </p:txBody>
      </p:sp>
      <p:sp>
        <p:nvSpPr>
          <p:cNvPr id="18" name="Text 14"/>
          <p:cNvSpPr/>
          <p:nvPr/>
        </p:nvSpPr>
        <p:spPr>
          <a:xfrm>
            <a:off x="921655" y="2236440"/>
            <a:ext cx="3436032" cy="7144"/>
          </a:xfrm>
          <a:prstGeom prst="rect">
            <a:avLst/>
          </a:prstGeom>
          <a:solidFill>
            <a:srgbClr val="4FC3F7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621506" y="2377529"/>
            <a:ext cx="3736181" cy="14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</a:t>
            </a:r>
            <a:pPr algn="l" indent="0" marL="0">
              <a:lnSpc>
                <a:spcPts val="1100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₂ 定性吻合，</a:t>
            </a:r>
            <a:pPr algn="l" indent="0" marL="0">
              <a:lnSpc>
                <a:spcPts val="1100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KS</a:t>
            </a:r>
            <a:pPr algn="l" indent="0" marL="0">
              <a:lnSpc>
                <a:spcPts val="1100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p=6.7·10⁻⁴</a:t>
            </a:r>
            <a:pPr algn="l" indent="0" marL="0">
              <a:lnSpc>
                <a:spcPts val="1100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</a:t>
            </a:r>
            <a:pPr algn="l" indent="0" marL="0">
              <a:lnSpc>
                <a:spcPts val="1100"/>
              </a:lnSpc>
              <a:buNone/>
            </a:pPr>
            <a:r>
              <a:rPr lang="en-US" sz="788" b="1" dirty="0">
                <a:solidFill>
                  <a:srgbClr val="FFB7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距离已测量</a:t>
            </a:r>
            <a:endParaRPr lang="en-US" sz="788" dirty="0"/>
          </a:p>
        </p:txBody>
      </p:sp>
      <p:sp>
        <p:nvSpPr>
          <p:cNvPr id="20" name="Text 16"/>
          <p:cNvSpPr/>
          <p:nvPr/>
        </p:nvSpPr>
        <p:spPr>
          <a:xfrm>
            <a:off x="4625578" y="1965871"/>
            <a:ext cx="4057650" cy="742950"/>
          </a:xfrm>
          <a:prstGeom prst="roundRect">
            <a:avLst>
              <a:gd name="adj" fmla="val 15385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4786313" y="2159645"/>
            <a:ext cx="514529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动力学</a:t>
            </a:r>
            <a:endParaRPr lang="en-US" sz="844" dirty="0"/>
          </a:p>
        </p:txBody>
      </p:sp>
      <p:sp>
        <p:nvSpPr>
          <p:cNvPr id="22" name="Text 18"/>
          <p:cNvSpPr/>
          <p:nvPr/>
        </p:nvSpPr>
        <p:spPr>
          <a:xfrm>
            <a:off x="5193618" y="2236440"/>
            <a:ext cx="3328876" cy="7144"/>
          </a:xfrm>
          <a:prstGeom prst="rect">
            <a:avLst/>
          </a:prstGeom>
          <a:solidFill>
            <a:srgbClr val="4FC3F7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4786313" y="2377529"/>
            <a:ext cx="3736181" cy="14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锥 </a:t>
            </a:r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R²=0.9997</a:t>
            </a:r>
            <a:pPr algn="l" indent="0" marL="0">
              <a:lnSpc>
                <a:spcPts val="1100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、凹陷 </a:t>
            </a:r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20×</a:t>
            </a:r>
            <a:pPr algn="l" indent="0" marL="0">
              <a:lnSpc>
                <a:spcPts val="1100"/>
              </a:lnSpc>
              <a:buNone/>
            </a:pPr>
            <a:r>
              <a:rPr lang="en-US" sz="788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、趋肤效应——</a:t>
            </a:r>
            <a:pPr algn="l" indent="0" marL="0">
              <a:lnSpc>
                <a:spcPts val="1100"/>
              </a:lnSpc>
              <a:buNone/>
            </a:pPr>
            <a:r>
              <a:rPr lang="en-US" sz="788" b="1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临界线 σ=</a:t>
            </a:r>
            <a:pPr algn="l" indent="0" marL="0">
              <a:lnSpc>
                <a:spcPts val="1100"/>
              </a:lnSpc>
              <a:buNone/>
            </a:pPr>
            <a:r>
              <a:rPr lang="en-US" sz="788" b="1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1/2</a:t>
            </a:r>
            <a:endParaRPr lang="en-US" sz="788" dirty="0"/>
          </a:p>
        </p:txBody>
      </p:sp>
      <p:sp>
        <p:nvSpPr>
          <p:cNvPr id="24" name="Text 20"/>
          <p:cNvSpPr/>
          <p:nvPr/>
        </p:nvSpPr>
        <p:spPr>
          <a:xfrm>
            <a:off x="4314713" y="3342159"/>
            <a:ext cx="514350" cy="21431"/>
          </a:xfrm>
          <a:prstGeom prst="roundRect">
            <a:avLst>
              <a:gd name="adj" fmla="val 88890"/>
            </a:avLst>
          </a:prstGeom>
          <a:solidFill>
            <a:srgbClr val="FFB7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2438698" y="3492178"/>
            <a:ext cx="4266493" cy="671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47"/>
              </a:lnSpc>
              <a:buNone/>
            </a:pPr>
            <a:r>
              <a:rPr lang="en-US" sz="1631" b="1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</a:t>
            </a:r>
            <a:pPr algn="ctr" indent="0" marL="0">
              <a:lnSpc>
                <a:spcPts val="2447"/>
              </a:lnSpc>
              <a:buNone/>
            </a:pPr>
            <a:r>
              <a:rPr lang="en-US" sz="1631" b="1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云是具有可复现 </a:t>
            </a:r>
            <a:pPr algn="ctr" indent="0" marL="0">
              <a:lnSpc>
                <a:spcPts val="2447"/>
              </a:lnSpc>
              <a:buNone/>
            </a:pPr>
            <a:r>
              <a:rPr lang="en-US" sz="1631" b="1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GUE</a:t>
            </a:r>
            <a:pPr algn="ctr" indent="0" marL="0">
              <a:lnSpc>
                <a:spcPts val="2447"/>
              </a:lnSpc>
              <a:buNone/>
            </a:pPr>
            <a:r>
              <a:rPr lang="en-US" sz="1631" b="1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统计的</a:t>
            </a:r>
            <a:pPr algn="ctr" indent="0" marL="0">
              <a:lnSpc>
                <a:spcPts val="2447"/>
              </a:lnSpc>
              <a:buNone/>
            </a:pPr>
            <a:r>
              <a:rPr lang="en-US" sz="1631" b="1" dirty="0">
                <a:solidFill>
                  <a:srgbClr val="4FC3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相位谐振腔</a:t>
            </a:r>
            <a:pPr algn="ctr" indent="0" marL="0">
              <a:lnSpc>
                <a:spcPts val="2447"/>
              </a:lnSpc>
              <a:buNone/>
            </a:pPr>
            <a:r>
              <a:rPr lang="en-US" sz="1631" b="1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endParaRPr lang="en-US" sz="1631" dirty="0"/>
          </a:p>
          <a:p>
            <a:pPr algn="ctr" indent="0" marL="0">
              <a:lnSpc>
                <a:spcPts val="2447"/>
              </a:lnSpc>
              <a:buNone/>
            </a:pPr>
            <a:r>
              <a:rPr lang="en-US" sz="1631" b="1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希尔伯特–波利亚纲领作为</a:t>
            </a:r>
            <a:pPr algn="ctr" indent="0" marL="0">
              <a:lnSpc>
                <a:spcPts val="2447"/>
              </a:lnSpc>
              <a:buNone/>
            </a:pPr>
            <a:r>
              <a:rPr lang="en-US" sz="1631" b="1" dirty="0">
                <a:solidFill>
                  <a:srgbClr val="FFB7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定量、可检验</a:t>
            </a:r>
            <a:pPr algn="ctr" indent="0" marL="0">
              <a:lnSpc>
                <a:spcPts val="2447"/>
              </a:lnSpc>
              <a:buNone/>
            </a:pPr>
            <a:r>
              <a:rPr lang="en-US" sz="1631" b="1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的纲领</a:t>
            </a:r>
            <a:endParaRPr lang="en-US" sz="163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2026-08-28T09:35:59Z</dcterms:created>
  <dcterms:modified xsi:type="dcterms:W3CDTF">2026-08-28T09:35:59Z</dcterms:modified>
</cp:coreProperties>
</file>