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89947" y="217884"/>
            <a:ext cx="4707731" cy="4707731"/>
          </a:xfrm>
          <a:prstGeom prst="roundRect">
            <a:avLst>
              <a:gd name="adj" fmla="val 2023065"/>
            </a:avLst>
          </a:prstGeom>
          <a:noFill/>
          <a:ln w="7144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5790009" y="717947"/>
            <a:ext cx="3707606" cy="3707606"/>
          </a:xfrm>
          <a:prstGeom prst="roundRect">
            <a:avLst>
              <a:gd name="adj" fmla="val 2568786"/>
            </a:avLst>
          </a:prstGeom>
          <a:noFill/>
          <a:ln w="7144">
            <a:solidFill>
              <a:srgbClr val="4FC3F7"/>
            </a:solidFill>
            <a:prstDash val="dash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290072" y="1218009"/>
            <a:ext cx="2707481" cy="2707481"/>
          </a:xfrm>
          <a:prstGeom prst="roundRect">
            <a:avLst>
              <a:gd name="adj" fmla="val 3517678"/>
            </a:avLst>
          </a:prstGeom>
          <a:noFill/>
          <a:ln w="7144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790134" y="1718072"/>
            <a:ext cx="1707356" cy="1707356"/>
          </a:xfrm>
          <a:prstGeom prst="roundRect">
            <a:avLst>
              <a:gd name="adj" fmla="val 5578243"/>
            </a:avLst>
          </a:prstGeom>
          <a:noFill/>
          <a:ln w="7144">
            <a:solidFill>
              <a:srgbClr val="FFB74D"/>
            </a:solidFill>
            <a:prstDash val="dash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275909" y="2203847"/>
            <a:ext cx="735806" cy="735806"/>
          </a:xfrm>
          <a:prstGeom prst="roundRect">
            <a:avLst>
              <a:gd name="adj" fmla="val 12943694"/>
            </a:avLst>
          </a:prstGeom>
          <a:noFill/>
          <a:ln w="7144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225" y="2443163"/>
            <a:ext cx="257175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15225" y="2443163"/>
            <a:ext cx="257175" cy="257175"/>
          </a:xfrm>
          <a:prstGeom prst="roundRect">
            <a:avLst>
              <a:gd name="adj" fmla="val 37033333"/>
            </a:avLst>
          </a:prstGeom>
          <a:solidFill>
            <a:srgbClr val="4FC3F7">
              <a:alpha val="0"/>
            </a:srgbClr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5357813" y="2550319"/>
            <a:ext cx="42863" cy="42863"/>
          </a:xfrm>
          <a:prstGeom prst="roundRect">
            <a:avLst>
              <a:gd name="adj" fmla="val 222197408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6686550" y="900113"/>
            <a:ext cx="42863" cy="42863"/>
          </a:xfrm>
          <a:prstGeom prst="roundRect">
            <a:avLst>
              <a:gd name="adj" fmla="val 222197408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7615238" y="3543300"/>
            <a:ext cx="35719" cy="35719"/>
          </a:xfrm>
          <a:prstGeom prst="roundRect">
            <a:avLst>
              <a:gd name="adj" fmla="val 266638134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8672513" y="1785938"/>
            <a:ext cx="35719" cy="35719"/>
          </a:xfrm>
          <a:prstGeom prst="roundRect">
            <a:avLst>
              <a:gd name="adj" fmla="val 266638134"/>
            </a:avLst>
          </a:prstGeom>
          <a:solidFill>
            <a:srgbClr val="EAF2FA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743575" y="2407444"/>
            <a:ext cx="3738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DB4CC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 = 0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7485725" y="4572000"/>
            <a:ext cx="22618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DB4CC">
                    <a:alpha val="8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2πq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7400925" y="714375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DB4CC">
                    <a:alpha val="7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457200" y="480595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Monograph v22 · August 2026 · research-papers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57200" y="454521"/>
            <a:ext cx="314325" cy="14288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85825" y="400050"/>
            <a:ext cx="7800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VERIFIED NUMERICS · 37 TESTS · V19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457200" y="780455"/>
            <a:ext cx="8636000" cy="1320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15"/>
              </a:lnSpc>
              <a:buNone/>
            </a:pPr>
            <a:r>
              <a:rPr lang="en-US" sz="4500" b="1" spc="-45" kern="0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AB-Cloud as a</a:t>
            </a:r>
            <a:endParaRPr lang="en-US" sz="4500" dirty="0"/>
          </a:p>
          <a:p>
            <a:pPr algn="l" indent="0" marL="0">
              <a:lnSpc>
                <a:spcPts val="4815"/>
              </a:lnSpc>
              <a:buNone/>
            </a:pPr>
            <a:r>
              <a:rPr lang="en-US" sz="4500" b="1" spc="-45" kern="0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Phase Resonator</a:t>
            </a:r>
            <a:endParaRPr lang="en-US" sz="4500" dirty="0"/>
          </a:p>
        </p:txBody>
      </p:sp>
      <p:sp>
        <p:nvSpPr>
          <p:cNvPr id="22" name="Text 17"/>
          <p:cNvSpPr/>
          <p:nvPr/>
        </p:nvSpPr>
        <p:spPr>
          <a:xfrm>
            <a:off x="457200" y="2189113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57200" y="2353419"/>
            <a:ext cx="5643563" cy="486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18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ζ(s) zeros, GUE universality, and topological vortex matter — a fully verified numerical investigation</a:t>
            </a:r>
            <a:endParaRPr lang="en-US" sz="1181" dirty="0"/>
          </a:p>
        </p:txBody>
      </p:sp>
      <p:sp>
        <p:nvSpPr>
          <p:cNvPr id="24" name="Text 19"/>
          <p:cNvSpPr/>
          <p:nvPr/>
        </p:nvSpPr>
        <p:spPr>
          <a:xfrm>
            <a:off x="657225" y="2974925"/>
            <a:ext cx="149880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Isaev Iskhak Khamzatovich</a:t>
            </a:r>
            <a:endParaRPr lang="en-US" sz="844" dirty="0"/>
          </a:p>
        </p:txBody>
      </p:sp>
      <p:sp>
        <p:nvSpPr>
          <p:cNvPr id="25" name="Text 20"/>
          <p:cNvSpPr/>
          <p:nvPr/>
        </p:nvSpPr>
        <p:spPr>
          <a:xfrm>
            <a:off x="2116448" y="2974925"/>
            <a:ext cx="657035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· ORCID 0009-0003-7299-0701</a:t>
            </a:r>
            <a:endParaRPr lang="en-US" sz="844" dirty="0"/>
          </a:p>
        </p:txBody>
      </p:sp>
      <p:sp>
        <p:nvSpPr>
          <p:cNvPr id="26" name="Text 21"/>
          <p:cNvSpPr/>
          <p:nvPr/>
        </p:nvSpPr>
        <p:spPr>
          <a:xfrm>
            <a:off x="460772" y="4425553"/>
            <a:ext cx="2437135" cy="314325"/>
          </a:xfrm>
          <a:prstGeom prst="roundRect">
            <a:avLst>
              <a:gd name="adj" fmla="val 3027273"/>
            </a:avLst>
          </a:prstGeom>
          <a:solidFill>
            <a:srgbClr val="122640">
              <a:alpha val="62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21506" y="4557713"/>
            <a:ext cx="50006" cy="50006"/>
          </a:xfrm>
          <a:prstGeom prst="roundRect">
            <a:avLst>
              <a:gd name="adj" fmla="val 190458095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57200" y="4421981"/>
            <a:ext cx="2501429" cy="352697"/>
          </a:xfrm>
          <a:prstGeom prst="rect">
            <a:avLst/>
          </a:prstGeom>
          <a:noFill/>
          <a:ln/>
        </p:spPr>
        <p:txBody>
          <a:bodyPr wrap="none" lIns="157163" tIns="78581" rIns="157163" bIns="78581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0.585 ± 0.026 vs GUE 0.5992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2992919" y="4409180"/>
            <a:ext cx="1767475" cy="347072"/>
          </a:xfrm>
          <a:prstGeom prst="roundRect">
            <a:avLst>
              <a:gd name="adj" fmla="val 2741643"/>
            </a:avLst>
          </a:prstGeom>
          <a:solidFill>
            <a:srgbClr val="122640">
              <a:alpha val="62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3180085" y="4557713"/>
            <a:ext cx="50006" cy="50006"/>
          </a:xfrm>
          <a:prstGeom prst="roundRect">
            <a:avLst>
              <a:gd name="adj" fmla="val 190458095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3015779" y="4421981"/>
            <a:ext cx="172175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Byers–Yang: 3.5·10⁻¹⁵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855406" y="4425553"/>
            <a:ext cx="2075817" cy="314325"/>
          </a:xfrm>
          <a:prstGeom prst="roundRect">
            <a:avLst>
              <a:gd name="adj" fmla="val 3027273"/>
            </a:avLst>
          </a:prstGeom>
          <a:solidFill>
            <a:srgbClr val="122640">
              <a:alpha val="62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5016140" y="4557713"/>
            <a:ext cx="50006" cy="50006"/>
          </a:xfrm>
          <a:prstGeom prst="roundRect">
            <a:avLst>
              <a:gd name="adj" fmla="val 190458095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4851834" y="4421981"/>
            <a:ext cx="3834966" cy="352697"/>
          </a:xfrm>
          <a:prstGeom prst="rect">
            <a:avLst/>
          </a:prstGeom>
          <a:noFill/>
          <a:ln/>
        </p:spPr>
        <p:txBody>
          <a:bodyPr wrap="none" lIns="157163" tIns="78581" rIns="157163" bIns="78581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DOI 10.5281/zenodo.21825394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Hilbert–Pólya Program</a:t>
            </a:r>
            <a:endParaRPr lang="en-US" sz="1913" dirty="0"/>
          </a:p>
        </p:txBody>
      </p:sp>
      <p:sp>
        <p:nvSpPr>
          <p:cNvPr id="6" name="Shape 2"/>
          <p:cNvSpPr/>
          <p:nvPr/>
        </p:nvSpPr>
        <p:spPr>
          <a:xfrm>
            <a:off x="467916" y="1143335"/>
            <a:ext cx="0" cy="860822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0081" y="1186197"/>
            <a:ext cx="4524338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7"/>
              </a:lnSpc>
              <a:buNone/>
            </a:pPr>
            <a:r>
              <a:rPr lang="en-US" sz="1406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“If a self-adjoint operator exists whose spectrum is the ordinates of the zeros of </a:t>
            </a:r>
            <a:pPr algn="l" indent="0" marL="0">
              <a:lnSpc>
                <a:spcPts val="1997"/>
              </a:lnSpc>
              <a:buNone/>
            </a:pPr>
            <a:r>
              <a:rPr lang="en-US" sz="140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ζ(s)</a:t>
            </a:r>
            <a:pPr algn="l" indent="0" marL="0">
              <a:lnSpc>
                <a:spcPts val="1997"/>
              </a:lnSpc>
              <a:buNone/>
            </a:pPr>
            <a:r>
              <a:rPr lang="en-US" sz="1406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, the Riemann Hypothesis becomes a theorem”</a:t>
            </a:r>
            <a:endParaRPr lang="en-US" sz="1406" dirty="0"/>
          </a:p>
        </p:txBody>
      </p:sp>
      <p:sp>
        <p:nvSpPr>
          <p:cNvPr id="8" name="Text 4"/>
          <p:cNvSpPr/>
          <p:nvPr/>
        </p:nvSpPr>
        <p:spPr>
          <a:xfrm>
            <a:off x="460772" y="3309342"/>
            <a:ext cx="2294260" cy="576858"/>
          </a:xfrm>
          <a:prstGeom prst="roundRect">
            <a:avLst>
              <a:gd name="adj" fmla="val 1981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92931" y="3427214"/>
            <a:ext cx="2029941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1972 · MONTGOMERY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592931" y="3612952"/>
            <a:ext cx="213966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pair correlation of the zeros</a:t>
            </a:r>
            <a:endParaRPr lang="en-US" sz="816" dirty="0"/>
          </a:p>
        </p:txBody>
      </p:sp>
      <p:sp>
        <p:nvSpPr>
          <p:cNvPr id="11" name="Text 7"/>
          <p:cNvSpPr/>
          <p:nvPr/>
        </p:nvSpPr>
        <p:spPr>
          <a:xfrm>
            <a:off x="2876476" y="3309342"/>
            <a:ext cx="2294372" cy="576858"/>
          </a:xfrm>
          <a:prstGeom prst="roundRect">
            <a:avLst>
              <a:gd name="adj" fmla="val 1981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008635" y="3427214"/>
            <a:ext cx="203005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IAS TEA ROOM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008635" y="3612952"/>
            <a:ext cx="21397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Dyson: that is the GUE pair correlation</a:t>
            </a:r>
            <a:endParaRPr lang="en-US" sz="816" dirty="0"/>
          </a:p>
        </p:txBody>
      </p:sp>
      <p:sp>
        <p:nvSpPr>
          <p:cNvPr id="14" name="Text 10"/>
          <p:cNvSpPr/>
          <p:nvPr/>
        </p:nvSpPr>
        <p:spPr>
          <a:xfrm>
            <a:off x="460772" y="4007644"/>
            <a:ext cx="2294260" cy="732234"/>
          </a:xfrm>
          <a:prstGeom prst="roundRect">
            <a:avLst>
              <a:gd name="adj" fmla="val 1561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592931" y="4125516"/>
            <a:ext cx="2029941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1980S · ODLYZKO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92931" y="4311253"/>
            <a:ext cx="202994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numerical confirmation on hundreds of thousands of zeros</a:t>
            </a:r>
            <a:endParaRPr lang="en-US" sz="816" dirty="0"/>
          </a:p>
        </p:txBody>
      </p:sp>
      <p:sp>
        <p:nvSpPr>
          <p:cNvPr id="17" name="Text 13"/>
          <p:cNvSpPr/>
          <p:nvPr/>
        </p:nvSpPr>
        <p:spPr>
          <a:xfrm>
            <a:off x="2876476" y="4007644"/>
            <a:ext cx="2294372" cy="732234"/>
          </a:xfrm>
          <a:prstGeom prst="roundRect">
            <a:avLst>
              <a:gd name="adj" fmla="val 1561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008635" y="4125516"/>
            <a:ext cx="203005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1985 · BERRY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008635" y="4311253"/>
            <a:ext cx="2030053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finite-sample corrections: at heights T≲10⁵ the pure GUE is rejected, and rightly so</a:t>
            </a:r>
            <a:endParaRPr lang="en-US" sz="816" dirty="0"/>
          </a:p>
        </p:txBody>
      </p:sp>
      <p:sp>
        <p:nvSpPr>
          <p:cNvPr id="20" name="Text 16"/>
          <p:cNvSpPr/>
          <p:nvPr/>
        </p:nvSpPr>
        <p:spPr>
          <a:xfrm>
            <a:off x="5378016" y="1146907"/>
            <a:ext cx="3305212" cy="3592971"/>
          </a:xfrm>
          <a:prstGeom prst="roundRect">
            <a:avLst>
              <a:gd name="adj" fmla="val 3458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7279370" y="879016"/>
            <a:ext cx="1271699" cy="1465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88"/>
              </a:lnSpc>
              <a:buNone/>
            </a:pPr>
            <a:r>
              <a:rPr lang="en-US" sz="10688" dirty="0">
                <a:solidFill>
                  <a:srgbClr val="4FC3F7">
                    <a:alpha val="10000"/>
                  </a:srgbClr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”</a:t>
            </a:r>
            <a:endParaRPr lang="en-US" sz="10688" dirty="0"/>
          </a:p>
        </p:txBody>
      </p:sp>
      <p:sp>
        <p:nvSpPr>
          <p:cNvPr id="22" name="Text 18"/>
          <p:cNvSpPr/>
          <p:nvPr/>
        </p:nvSpPr>
        <p:spPr>
          <a:xfrm>
            <a:off x="5510175" y="1289782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828" dirty="0"/>
          </a:p>
        </p:txBody>
      </p:sp>
      <p:sp>
        <p:nvSpPr>
          <p:cNvPr id="23" name="Text 19"/>
          <p:cNvSpPr/>
          <p:nvPr/>
        </p:nvSpPr>
        <p:spPr>
          <a:xfrm>
            <a:off x="5781638" y="1264779"/>
            <a:ext cx="2769431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Our position</a:t>
            </a:r>
            <a:endParaRPr lang="en-US" sz="1238" dirty="0"/>
          </a:p>
        </p:txBody>
      </p:sp>
      <p:sp>
        <p:nvSpPr>
          <p:cNvPr id="24" name="Text 20"/>
          <p:cNvSpPr/>
          <p:nvPr/>
        </p:nvSpPr>
        <p:spPr>
          <a:xfrm>
            <a:off x="5510175" y="1614822"/>
            <a:ext cx="400050" cy="14288"/>
          </a:xfrm>
          <a:prstGeom prst="roundRect">
            <a:avLst>
              <a:gd name="adj" fmla="val 133329"/>
            </a:avLst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5510175" y="1771985"/>
            <a:ext cx="3040893" cy="730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77"/>
              </a:lnSpc>
              <a:buNone/>
            </a:pPr>
            <a:r>
              <a:rPr lang="en-US" sz="1097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do </a:t>
            </a:r>
            <a:pPr algn="l" indent="0" marL="0">
              <a:lnSpc>
                <a:spcPts val="1777"/>
              </a:lnSpc>
              <a:buNone/>
            </a:pPr>
            <a:r>
              <a:rPr lang="en-US" sz="1097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prove</a:t>
            </a:r>
            <a:pPr algn="l" indent="0" marL="0">
              <a:lnSpc>
                <a:spcPts val="1777"/>
              </a:lnSpc>
              <a:buNone/>
            </a:pPr>
            <a:r>
              <a:rPr lang="en-US" sz="1097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Riemann Hypothesis. We build a complete </a:t>
            </a:r>
            <a:pPr algn="l" indent="0" marL="0">
              <a:lnSpc>
                <a:spcPts val="1777"/>
              </a:lnSpc>
              <a:buNone/>
            </a:pPr>
            <a:r>
              <a:rPr lang="en-US" sz="1097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quantitative map</a:t>
            </a:r>
            <a:pPr algn="l" indent="0" marL="0">
              <a:lnSpc>
                <a:spcPts val="1777"/>
              </a:lnSpc>
              <a:buNone/>
            </a:pPr>
            <a:r>
              <a:rPr lang="en-US" sz="1097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how finite lattice ensembles approach universal statistics</a:t>
            </a:r>
            <a:endParaRPr lang="en-US" sz="1097" dirty="0"/>
          </a:p>
        </p:txBody>
      </p:sp>
      <p:sp>
        <p:nvSpPr>
          <p:cNvPr id="26" name="Text 22"/>
          <p:cNvSpPr/>
          <p:nvPr/>
        </p:nvSpPr>
        <p:spPr>
          <a:xfrm>
            <a:off x="5695913" y="4507706"/>
            <a:ext cx="18394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measured distance, not adjectives</a:t>
            </a:r>
            <a:endParaRPr lang="en-US" sz="675" dirty="0"/>
          </a:p>
        </p:txBody>
      </p:sp>
      <p:sp>
        <p:nvSpPr>
          <p:cNvPr id="27" name="Text 23"/>
          <p:cNvSpPr/>
          <p:nvPr/>
        </p:nvSpPr>
        <p:spPr>
          <a:xfrm>
            <a:off x="5510175" y="450056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9DB4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AB-cloud: lattice, phases, vortices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60772" y="1118332"/>
            <a:ext cx="8222456" cy="492919"/>
          </a:xfrm>
          <a:prstGeom prst="roundRect">
            <a:avLst>
              <a:gd name="adj" fmla="val 2318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50081" y="1250491"/>
            <a:ext cx="7843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−exp(iφ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,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2πα·j 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Σ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·[arg(r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−r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− arg(r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−r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 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φ</a:t>
            </a:r>
            <a:pPr algn="l" indent="0" marL="0">
              <a:lnSpc>
                <a:spcPts val="1800"/>
              </a:lnSpc>
              <a:buNone/>
            </a:pPr>
            <a:r>
              <a:rPr lang="en-US" sz="844" baseline="3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125" dirty="0"/>
          </a:p>
        </p:txBody>
      </p:sp>
      <p:sp>
        <p:nvSpPr>
          <p:cNvPr id="8" name="Text 4"/>
          <p:cNvSpPr/>
          <p:nvPr/>
        </p:nvSpPr>
        <p:spPr>
          <a:xfrm>
            <a:off x="460772" y="1789844"/>
            <a:ext cx="292894" cy="292894"/>
          </a:xfrm>
          <a:prstGeom prst="roundRect">
            <a:avLst>
              <a:gd name="adj" fmla="val 32520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93276" y="182234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547" dirty="0"/>
          </a:p>
        </p:txBody>
      </p:sp>
      <p:sp>
        <p:nvSpPr>
          <p:cNvPr id="10" name="Text 6"/>
          <p:cNvSpPr/>
          <p:nvPr/>
        </p:nvSpPr>
        <p:spPr>
          <a:xfrm>
            <a:off x="857250" y="1786272"/>
            <a:ext cx="4317169" cy="241102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Landau gauge: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column phase 2πα·j</a:t>
            </a:r>
            <a:endParaRPr lang="en-US" sz="872" dirty="0"/>
          </a:p>
        </p:txBody>
      </p:sp>
      <p:sp>
        <p:nvSpPr>
          <p:cNvPr id="11" name="Text 7"/>
          <p:cNvSpPr/>
          <p:nvPr/>
        </p:nvSpPr>
        <p:spPr>
          <a:xfrm>
            <a:off x="460772" y="2700114"/>
            <a:ext cx="292894" cy="292894"/>
          </a:xfrm>
          <a:prstGeom prst="roundRect">
            <a:avLst>
              <a:gd name="adj" fmla="val 32520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93276" y="273261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547" dirty="0"/>
          </a:p>
        </p:txBody>
      </p:sp>
      <p:sp>
        <p:nvSpPr>
          <p:cNvPr id="13" name="Text 9"/>
          <p:cNvSpPr/>
          <p:nvPr/>
        </p:nvSpPr>
        <p:spPr>
          <a:xfrm>
            <a:off x="857250" y="2696542"/>
            <a:ext cx="4317169" cy="241102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vortex q</a:t>
            </a:r>
            <a:pPr algn="l" indent="0" marL="0">
              <a:lnSpc>
                <a:spcPts val="1308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winds the phase by 2πq</a:t>
            </a:r>
            <a:pPr algn="l" indent="0" marL="0">
              <a:lnSpc>
                <a:spcPts val="1308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</a:t>
            </a:r>
            <a:endParaRPr lang="en-US" sz="872" dirty="0"/>
          </a:p>
        </p:txBody>
      </p:sp>
      <p:sp>
        <p:nvSpPr>
          <p:cNvPr id="14" name="Text 10"/>
          <p:cNvSpPr/>
          <p:nvPr/>
        </p:nvSpPr>
        <p:spPr>
          <a:xfrm>
            <a:off x="460772" y="3610273"/>
            <a:ext cx="292894" cy="292894"/>
          </a:xfrm>
          <a:prstGeom prst="roundRect">
            <a:avLst>
              <a:gd name="adj" fmla="val 32520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93276" y="364277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16" name="Text 12"/>
          <p:cNvSpPr/>
          <p:nvPr/>
        </p:nvSpPr>
        <p:spPr>
          <a:xfrm>
            <a:off x="857250" y="3606701"/>
            <a:ext cx="4317169" cy="241102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Dirac string: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−2πq on crossed bonds — flux exactly 2πq through one plaquette</a:t>
            </a:r>
            <a:endParaRPr lang="en-US" sz="872" dirty="0"/>
          </a:p>
        </p:txBody>
      </p:sp>
      <p:sp>
        <p:nvSpPr>
          <p:cNvPr id="17" name="Text 13"/>
          <p:cNvSpPr/>
          <p:nvPr/>
        </p:nvSpPr>
        <p:spPr>
          <a:xfrm>
            <a:off x="460772" y="4520543"/>
            <a:ext cx="292894" cy="292894"/>
          </a:xfrm>
          <a:prstGeom prst="roundRect">
            <a:avLst>
              <a:gd name="adj" fmla="val 32520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93276" y="455304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9" name="Text 15"/>
          <p:cNvSpPr/>
          <p:nvPr/>
        </p:nvSpPr>
        <p:spPr>
          <a:xfrm>
            <a:off x="857250" y="4516971"/>
            <a:ext cx="4317169" cy="241102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On-site disorder W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a fixed RNG seed</a:t>
            </a:r>
            <a:endParaRPr lang="en-US" sz="872" dirty="0"/>
          </a:p>
        </p:txBody>
      </p:sp>
      <p:sp>
        <p:nvSpPr>
          <p:cNvPr id="20" name="Text 16"/>
          <p:cNvSpPr/>
          <p:nvPr/>
        </p:nvSpPr>
        <p:spPr>
          <a:xfrm>
            <a:off x="5374444" y="1786272"/>
            <a:ext cx="3312356" cy="280035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/tmp/h2p-fit-1787909735909-dx6bl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882" y="1857710"/>
            <a:ext cx="3169481" cy="26574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74444" y="4672347"/>
            <a:ext cx="33123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39"/>
              </a:lnSpc>
              <a:buNone/>
            </a:pPr>
            <a:r>
              <a:rPr lang="en-US" sz="800" i="1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phase „cloud" of a vortex pair q=±1 over the Landau gauge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GAUGE CHOICE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Two phase gauges — the fork of the whole suite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60772" y="1146907"/>
            <a:ext cx="3993356" cy="3021471"/>
          </a:xfrm>
          <a:prstGeom prst="roundRect">
            <a:avLst>
              <a:gd name="adj" fmla="val 3783"/>
            </a:avLst>
          </a:prstGeom>
          <a:solidFill>
            <a:srgbClr val="122640"/>
          </a:solidFill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21506" y="1293354"/>
            <a:ext cx="2729917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B7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:dirac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42851" y="1320928"/>
            <a:ext cx="97340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365711" y="1331751"/>
            <a:ext cx="927683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 string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1506" y="1650541"/>
            <a:ext cx="3671888" cy="14288"/>
          </a:xfrm>
          <a:prstGeom prst="roundRect">
            <a:avLst>
              <a:gd name="adj" fmla="val 133329"/>
            </a:avLst>
          </a:prstGeom>
          <a:solidFill>
            <a:srgbClr val="FFA726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21506" y="1814847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DB4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336" dirty="0"/>
          </a:p>
        </p:txBody>
      </p:sp>
      <p:sp>
        <p:nvSpPr>
          <p:cNvPr id="12" name="Text 8"/>
          <p:cNvSpPr/>
          <p:nvPr/>
        </p:nvSpPr>
        <p:spPr>
          <a:xfrm>
            <a:off x="835819" y="1793416"/>
            <a:ext cx="345757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Integer charges are gauge-invisible (Byers–Yang)</a:t>
            </a:r>
            <a:endParaRPr lang="en-US" sz="872" dirty="0"/>
          </a:p>
        </p:txBody>
      </p:sp>
      <p:sp>
        <p:nvSpPr>
          <p:cNvPr id="13" name="Text 9"/>
          <p:cNvSpPr/>
          <p:nvPr/>
        </p:nvSpPr>
        <p:spPr>
          <a:xfrm>
            <a:off x="621506" y="208095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9DB4C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336" dirty="0"/>
          </a:p>
        </p:txBody>
      </p:sp>
      <p:sp>
        <p:nvSpPr>
          <p:cNvPr id="14" name="Text 10"/>
          <p:cNvSpPr/>
          <p:nvPr/>
        </p:nvSpPr>
        <p:spPr>
          <a:xfrm>
            <a:off x="835819" y="2059521"/>
            <a:ext cx="3457575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matrix is real: 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τ(H)=0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GOE class</a:t>
            </a:r>
            <a:endParaRPr lang="en-US" sz="872" dirty="0"/>
          </a:p>
        </p:txBody>
      </p:sp>
      <p:sp>
        <p:nvSpPr>
          <p:cNvPr id="15" name="Text 11"/>
          <p:cNvSpPr/>
          <p:nvPr/>
        </p:nvSpPr>
        <p:spPr>
          <a:xfrm>
            <a:off x="625078" y="3178969"/>
            <a:ext cx="3664744" cy="500063"/>
          </a:xfrm>
          <a:prstGeom prst="roundRect">
            <a:avLst>
              <a:gd name="adj" fmla="val 19048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57238" y="3268266"/>
            <a:ext cx="177421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0.513</a:t>
            </a:r>
            <a:endParaRPr lang="en-US" sz="1688" dirty="0"/>
          </a:p>
        </p:txBody>
      </p:sp>
      <p:sp>
        <p:nvSpPr>
          <p:cNvPr id="17" name="Text 13"/>
          <p:cNvSpPr/>
          <p:nvPr/>
        </p:nvSpPr>
        <p:spPr>
          <a:xfrm>
            <a:off x="2276624" y="3403997"/>
            <a:ext cx="19511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759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the GOE ceiling; disorder does not help</a:t>
            </a:r>
            <a:endParaRPr lang="en-US" sz="759" dirty="0"/>
          </a:p>
        </p:txBody>
      </p:sp>
      <p:sp>
        <p:nvSpPr>
          <p:cNvPr id="18" name="Text 14"/>
          <p:cNvSpPr/>
          <p:nvPr/>
        </p:nvSpPr>
        <p:spPr>
          <a:xfrm>
            <a:off x="601700" y="3784102"/>
            <a:ext cx="534763" cy="250631"/>
          </a:xfrm>
          <a:prstGeom prst="roundRect">
            <a:avLst>
              <a:gd name="adj" fmla="val 3796607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21506" y="3796903"/>
            <a:ext cx="49515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661158" y="3847802"/>
            <a:ext cx="1730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symmetric · GOE universality</a:t>
            </a:r>
            <a:endParaRPr lang="en-US" sz="647" dirty="0"/>
          </a:p>
        </p:txBody>
      </p:sp>
      <p:sp>
        <p:nvSpPr>
          <p:cNvPr id="21" name="Text 17"/>
          <p:cNvSpPr/>
          <p:nvPr/>
        </p:nvSpPr>
        <p:spPr>
          <a:xfrm>
            <a:off x="4689872" y="1146907"/>
            <a:ext cx="3993356" cy="3021471"/>
          </a:xfrm>
          <a:prstGeom prst="roundRect">
            <a:avLst>
              <a:gd name="adj" fmla="val 378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50606" y="1293354"/>
            <a:ext cx="2631021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:monumental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473055" y="1320928"/>
            <a:ext cx="1072299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7495915" y="1331751"/>
            <a:ext cx="102657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smooth atan model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50606" y="1650541"/>
            <a:ext cx="3671888" cy="14288"/>
          </a:xfrm>
          <a:prstGeom prst="roundRect">
            <a:avLst>
              <a:gd name="adj" fmla="val 133329"/>
            </a:avLst>
          </a:prstGeom>
          <a:solidFill>
            <a:srgbClr val="4FC3F7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850606" y="1814847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336" dirty="0"/>
          </a:p>
        </p:txBody>
      </p:sp>
      <p:sp>
        <p:nvSpPr>
          <p:cNvPr id="27" name="Text 23"/>
          <p:cNvSpPr/>
          <p:nvPr/>
        </p:nvSpPr>
        <p:spPr>
          <a:xfrm>
            <a:off x="5064919" y="1793416"/>
            <a:ext cx="345757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Phases are complex for any q</a:t>
            </a:r>
            <a:endParaRPr lang="en-US" sz="872" dirty="0"/>
          </a:p>
        </p:txBody>
      </p:sp>
      <p:sp>
        <p:nvSpPr>
          <p:cNvPr id="28" name="Text 24"/>
          <p:cNvSpPr/>
          <p:nvPr/>
        </p:nvSpPr>
        <p:spPr>
          <a:xfrm>
            <a:off x="4850606" y="2080952"/>
            <a:ext cx="1357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3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336" dirty="0"/>
          </a:p>
        </p:txBody>
      </p:sp>
      <p:sp>
        <p:nvSpPr>
          <p:cNvPr id="29" name="Text 25"/>
          <p:cNvSpPr/>
          <p:nvPr/>
        </p:nvSpPr>
        <p:spPr>
          <a:xfrm>
            <a:off x="5064919" y="2059521"/>
            <a:ext cx="3457575" cy="18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τ(H) = 0.225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T-symmetry broken</a:t>
            </a:r>
            <a:endParaRPr lang="en-US" sz="872" dirty="0"/>
          </a:p>
        </p:txBody>
      </p:sp>
      <p:sp>
        <p:nvSpPr>
          <p:cNvPr id="30" name="Text 26"/>
          <p:cNvSpPr/>
          <p:nvPr/>
        </p:nvSpPr>
        <p:spPr>
          <a:xfrm>
            <a:off x="4854178" y="3178969"/>
            <a:ext cx="3664744" cy="500063"/>
          </a:xfrm>
          <a:prstGeom prst="roundRect">
            <a:avLst>
              <a:gd name="adj" fmla="val 19048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4986338" y="3268266"/>
            <a:ext cx="177421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0.585</a:t>
            </a:r>
            <a:endParaRPr lang="en-US" sz="1688" dirty="0"/>
          </a:p>
        </p:txBody>
      </p:sp>
      <p:sp>
        <p:nvSpPr>
          <p:cNvPr id="32" name="Text 28"/>
          <p:cNvSpPr/>
          <p:nvPr/>
        </p:nvSpPr>
        <p:spPr>
          <a:xfrm>
            <a:off x="6505724" y="3403997"/>
            <a:ext cx="18810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the GUE band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830800" y="3784102"/>
            <a:ext cx="534763" cy="250631"/>
          </a:xfrm>
          <a:prstGeom prst="roundRect">
            <a:avLst>
              <a:gd name="adj" fmla="val 3796607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850606" y="3796903"/>
            <a:ext cx="49515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6741914" y="3847802"/>
            <a:ext cx="18874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 Hermitian · GUE universality</a:t>
            </a:r>
            <a:endParaRPr lang="en-US" sz="647" dirty="0"/>
          </a:p>
        </p:txBody>
      </p:sp>
      <p:sp>
        <p:nvSpPr>
          <p:cNvPr id="36" name="Text 32"/>
          <p:cNvSpPr/>
          <p:nvPr/>
        </p:nvSpPr>
        <p:spPr>
          <a:xfrm>
            <a:off x="457200" y="4314825"/>
            <a:ext cx="8229600" cy="428625"/>
          </a:xfrm>
          <a:prstGeom prst="roundRect">
            <a:avLst>
              <a:gd name="adj" fmla="val 26667"/>
            </a:avLst>
          </a:prstGeom>
          <a:solidFill>
            <a:srgbClr val="1630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3"/>
          <p:cNvSpPr/>
          <p:nvPr/>
        </p:nvSpPr>
        <p:spPr>
          <a:xfrm>
            <a:off x="457200" y="4318397"/>
            <a:ext cx="8229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683228" y="4314825"/>
            <a:ext cx="0" cy="428625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57200" y="4739878"/>
            <a:ext cx="8229600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67916" y="4314825"/>
            <a:ext cx="0" cy="428625"/>
          </a:xfrm>
          <a:prstGeom prst="line">
            <a:avLst/>
          </a:prstGeom>
          <a:noFill/>
          <a:ln w="21431">
            <a:solidFill>
              <a:srgbClr val="FFB74D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07219" y="4436269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FFB7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⚖</a:t>
            </a:r>
            <a:endParaRPr lang="en-US" sz="1828" dirty="0"/>
          </a:p>
        </p:txBody>
      </p:sp>
      <p:sp>
        <p:nvSpPr>
          <p:cNvPr id="42" name="Text 38"/>
          <p:cNvSpPr/>
          <p:nvPr/>
        </p:nvSpPr>
        <p:spPr>
          <a:xfrm>
            <a:off x="907256" y="4440734"/>
            <a:ext cx="764381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Moral:</a:t>
            </a:r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phase gauge is part of the physical specification. All historical disagreement between suite versions traces to this fork</a:t>
            </a:r>
            <a:endParaRPr lang="en-US" sz="928" dirty="0"/>
          </a:p>
        </p:txBody>
      </p:sp>
      <p:sp>
        <p:nvSpPr>
          <p:cNvPr id="43" name="Text 39"/>
          <p:cNvSpPr/>
          <p:nvPr/>
        </p:nvSpPr>
        <p:spPr>
          <a:xfrm>
            <a:off x="4375547" y="2218804"/>
            <a:ext cx="392906" cy="392906"/>
          </a:xfrm>
          <a:prstGeom prst="roundRect">
            <a:avLst>
              <a:gd name="adj" fmla="val 24240015"/>
            </a:avLst>
          </a:prstGeom>
          <a:solidFill>
            <a:srgbClr val="0B1626"/>
          </a:solidFill>
          <a:ln w="7144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50800" dir="16200000">
              <a:srgbClr val="0B1626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0"/>
          <p:cNvSpPr/>
          <p:nvPr/>
        </p:nvSpPr>
        <p:spPr>
          <a:xfrm>
            <a:off x="4371975" y="2215232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TOPOLOGICAL INVARIANTS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topological skeleton: machine precision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60772" y="1175482"/>
            <a:ext cx="2640732" cy="1559793"/>
          </a:xfrm>
          <a:prstGeom prst="roundRect">
            <a:avLst>
              <a:gd name="adj" fmla="val 73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621506" y="1338002"/>
            <a:ext cx="19145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BYERS–YANG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2534701" y="1312606"/>
            <a:ext cx="421687" cy="174022"/>
          </a:xfrm>
          <a:prstGeom prst="roundRect">
            <a:avLst>
              <a:gd name="adj" fmla="val 5467972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2550319" y="1321929"/>
            <a:ext cx="3904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04" kern="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21506" y="1548743"/>
            <a:ext cx="2319263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3.5·10⁻¹⁵</a:t>
            </a:r>
            <a:endParaRPr lang="en-US" sz="2138" dirty="0"/>
          </a:p>
        </p:txBody>
      </p:sp>
      <p:sp>
        <p:nvSpPr>
          <p:cNvPr id="11" name="Text 7"/>
          <p:cNvSpPr/>
          <p:nvPr/>
        </p:nvSpPr>
        <p:spPr>
          <a:xfrm>
            <a:off x="621506" y="1904479"/>
            <a:ext cx="2319263" cy="33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integer charge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q=1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spectrally invisible; fractional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q=0.3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shifts by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0.342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251522" y="1175482"/>
            <a:ext cx="2640843" cy="1559793"/>
          </a:xfrm>
          <a:prstGeom prst="roundRect">
            <a:avLst>
              <a:gd name="adj" fmla="val 73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412257" y="1321929"/>
            <a:ext cx="23193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FLUX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412257" y="1516596"/>
            <a:ext cx="2319375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10⁻¹⁴ </a:t>
            </a:r>
            <a:pPr algn="l" indent="0" marL="0">
              <a:lnSpc>
                <a:spcPts val="2351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</a:t>
            </a:r>
            <a:endParaRPr lang="en-US" sz="2138" dirty="0"/>
          </a:p>
        </p:txBody>
      </p:sp>
      <p:sp>
        <p:nvSpPr>
          <p:cNvPr id="15" name="Text 11"/>
          <p:cNvSpPr/>
          <p:nvPr/>
        </p:nvSpPr>
        <p:spPr>
          <a:xfrm>
            <a:off x="3412257" y="1872332"/>
            <a:ext cx="23193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max |flux| over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224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empty plaquettes (the Dirac string is exact)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042385" y="1175482"/>
            <a:ext cx="2640732" cy="1559793"/>
          </a:xfrm>
          <a:prstGeom prst="roundRect">
            <a:avLst>
              <a:gd name="adj" fmla="val 732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203119" y="1338002"/>
            <a:ext cx="19145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CONNES SELF-DUALITY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116314" y="1312606"/>
            <a:ext cx="421687" cy="174022"/>
          </a:xfrm>
          <a:prstGeom prst="roundRect">
            <a:avLst>
              <a:gd name="adj" fmla="val 5467972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8131932" y="1321929"/>
            <a:ext cx="3904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86"/>
              </a:lnSpc>
              <a:buNone/>
            </a:pPr>
            <a:r>
              <a:rPr lang="en-US" sz="800" spc="104" kern="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203119" y="1548743"/>
            <a:ext cx="2319263" cy="32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</a:t>
            </a:r>
            <a:pPr algn="l" indent="0" marL="0">
              <a:lnSpc>
                <a:spcPts val="2351"/>
              </a:lnSpc>
              <a:buNone/>
            </a:pPr>
            <a:r>
              <a:rPr lang="en-US" sz="1125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zero modes at α=1/2</a:t>
            </a:r>
            <a:endParaRPr lang="en-US" sz="2138" dirty="0"/>
          </a:p>
        </p:txBody>
      </p:sp>
      <p:sp>
        <p:nvSpPr>
          <p:cNvPr id="21" name="Text 17"/>
          <p:cNvSpPr/>
          <p:nvPr/>
        </p:nvSpPr>
        <p:spPr>
          <a:xfrm>
            <a:off x="6203119" y="1904479"/>
            <a:ext cx="2319263" cy="172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E→−E defect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1.4·10⁻¹⁵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0772" y="2885294"/>
            <a:ext cx="4036107" cy="1383097"/>
          </a:xfrm>
          <a:prstGeom prst="roundRect">
            <a:avLst>
              <a:gd name="adj" fmla="val 826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621506" y="3031741"/>
            <a:ext cx="37146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CHIRAL DEFECT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21506" y="3226408"/>
            <a:ext cx="3714638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</a:t>
            </a:r>
            <a:endParaRPr lang="en-US" sz="2138" dirty="0"/>
          </a:p>
        </p:txBody>
      </p:sp>
      <p:sp>
        <p:nvSpPr>
          <p:cNvPr id="25" name="Text 21"/>
          <p:cNvSpPr/>
          <p:nvPr/>
        </p:nvSpPr>
        <p:spPr>
          <a:xfrm>
            <a:off x="621506" y="3582144"/>
            <a:ext cx="3824366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ΓHΓ=−H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at W=0; at W=4: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5.9·10⁻³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646898" y="2885294"/>
            <a:ext cx="4036219" cy="1383097"/>
          </a:xfrm>
          <a:prstGeom prst="roundRect">
            <a:avLst>
              <a:gd name="adj" fmla="val 826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807632" y="3031741"/>
            <a:ext cx="37147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04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CHERN NUMBER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4807632" y="3226408"/>
            <a:ext cx="3714750" cy="322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C₁ = 2</a:t>
            </a:r>
            <a:endParaRPr lang="en-US" sz="2138" dirty="0"/>
          </a:p>
        </p:txBody>
      </p:sp>
      <p:sp>
        <p:nvSpPr>
          <p:cNvPr id="29" name="Text 25"/>
          <p:cNvSpPr/>
          <p:nvPr/>
        </p:nvSpPr>
        <p:spPr>
          <a:xfrm>
            <a:off x="4807632" y="3582144"/>
            <a:ext cx="3714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lowest-band Chern number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(Fukui–Hatsugai–Suzuki, 8×8 twists)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60772" y="4418409"/>
            <a:ext cx="8222456" cy="321469"/>
          </a:xfrm>
          <a:prstGeom prst="roundRect">
            <a:avLst>
              <a:gd name="adj" fmla="val 3555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607219" y="450770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2" name="Text 28"/>
          <p:cNvSpPr/>
          <p:nvPr/>
        </p:nvSpPr>
        <p:spPr>
          <a:xfrm>
            <a:off x="835819" y="4509492"/>
            <a:ext cx="7700963" cy="141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number is a separate test with a full log; reproduce with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julia ab_cloud_v19.jl --test 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54521"/>
            <a:ext cx="314325" cy="14288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885825" y="400050"/>
            <a:ext cx="7800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33 · MULTI-REALIZATION BOOTSTRAP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0" y="1277169"/>
            <a:ext cx="8367494" cy="879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13"/>
              </a:lnSpc>
              <a:buNone/>
            </a:pPr>
            <a:r>
              <a:rPr lang="en-US" sz="4275" spc="-43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0.5848 ± 0.0260</a:t>
            </a:r>
            <a:endParaRPr lang="en-US" sz="4275" dirty="0"/>
          </a:p>
        </p:txBody>
      </p:sp>
      <p:sp>
        <p:nvSpPr>
          <p:cNvPr id="7" name="Text 3"/>
          <p:cNvSpPr/>
          <p:nvPr/>
        </p:nvSpPr>
        <p:spPr>
          <a:xfrm>
            <a:off x="7672298" y="1514398"/>
            <a:ext cx="721028" cy="339928"/>
          </a:xfrm>
          <a:prstGeom prst="roundRect">
            <a:avLst>
              <a:gd name="adj" fmla="val 2799262"/>
            </a:avLst>
          </a:prstGeom>
          <a:noFill/>
          <a:ln w="14288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695158" y="1527200"/>
            <a:ext cx="675308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276289" y="2205856"/>
            <a:ext cx="4591422" cy="202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7"/>
              </a:lnSpc>
              <a:buNone/>
            </a:pPr>
            <a:r>
              <a:rPr lang="en-US" sz="984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 target </a:t>
            </a:r>
            <a:pPr algn="ctr" indent="0" marL="0">
              <a:lnSpc>
                <a:spcPts val="1477"/>
              </a:lnSpc>
              <a:buNone/>
            </a:pPr>
            <a:r>
              <a:rPr lang="en-US" sz="984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0.5992</a:t>
            </a:r>
            <a:pPr algn="ctr" indent="0" marL="0">
              <a:lnSpc>
                <a:spcPts val="1477"/>
              </a:lnSpc>
              <a:buNone/>
            </a:pPr>
            <a:r>
              <a:rPr lang="en-US" sz="984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deviation </a:t>
            </a:r>
            <a:pPr algn="ctr" indent="0" marL="0">
              <a:lnSpc>
                <a:spcPts val="1477"/>
              </a:lnSpc>
              <a:buNone/>
            </a:pPr>
            <a:r>
              <a:rPr lang="en-US" sz="98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−2.4%</a:t>
            </a:r>
            <a:pPr algn="ctr" indent="0" marL="0">
              <a:lnSpc>
                <a:spcPts val="1477"/>
              </a:lnSpc>
              <a:buNone/>
            </a:pPr>
            <a:r>
              <a:rPr lang="en-US" sz="984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95% CI [0.5588; 0.6108]</a:t>
            </a:r>
            <a:endParaRPr lang="en-US" sz="984" dirty="0"/>
          </a:p>
        </p:txBody>
      </p:sp>
      <p:sp>
        <p:nvSpPr>
          <p:cNvPr id="10" name="Text 6"/>
          <p:cNvSpPr/>
          <p:nvPr/>
        </p:nvSpPr>
        <p:spPr>
          <a:xfrm>
            <a:off x="460772" y="3150840"/>
            <a:ext cx="2640732" cy="788938"/>
          </a:xfrm>
          <a:prstGeom prst="roundRect">
            <a:avLst>
              <a:gd name="adj" fmla="val 1448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792956" y="3304431"/>
            <a:ext cx="1069543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21506" y="32990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621506" y="3472309"/>
            <a:ext cx="2319263" cy="32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torus 16×16 · N</a:t>
            </a:r>
            <a:pPr algn="l" indent="0" marL="0">
              <a:lnSpc>
                <a:spcPts val="1264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=2 · q=±1 · α=1/2 · W=4 · 3 realizations</a:t>
            </a:r>
            <a:endParaRPr lang="en-US" sz="816" dirty="0"/>
          </a:p>
        </p:txBody>
      </p:sp>
      <p:sp>
        <p:nvSpPr>
          <p:cNvPr id="14" name="Text 10"/>
          <p:cNvSpPr/>
          <p:nvPr/>
        </p:nvSpPr>
        <p:spPr>
          <a:xfrm>
            <a:off x="3251522" y="3150840"/>
            <a:ext cx="2640843" cy="788938"/>
          </a:xfrm>
          <a:prstGeom prst="roundRect">
            <a:avLst>
              <a:gd name="adj" fmla="val 1448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583707" y="3304431"/>
            <a:ext cx="987200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REALIZATIONS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412257" y="32990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4FC3F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3412257" y="3472309"/>
            <a:ext cx="2319375" cy="32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real 1: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0.5639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real 2: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0.5811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real 3: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0.6094</a:t>
            </a:r>
            <a:endParaRPr lang="en-US" sz="816" dirty="0"/>
          </a:p>
        </p:txBody>
      </p:sp>
      <p:sp>
        <p:nvSpPr>
          <p:cNvPr id="18" name="Text 14"/>
          <p:cNvSpPr/>
          <p:nvPr/>
        </p:nvSpPr>
        <p:spPr>
          <a:xfrm>
            <a:off x="6042385" y="3150840"/>
            <a:ext cx="2640732" cy="788938"/>
          </a:xfrm>
          <a:prstGeom prst="roundRect">
            <a:avLst>
              <a:gd name="adj" fmla="val 14488"/>
            </a:avLst>
          </a:prstGeom>
          <a:solidFill>
            <a:srgbClr val="122640"/>
          </a:solidFill>
          <a:ln w="7144">
            <a:solidFill>
              <a:srgbClr val="FFB7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6374569" y="3304431"/>
            <a:ext cx="206961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CONTROL (Q=0.3, OPEN BOUNDARIES)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203119" y="329907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B7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6203119" y="3472309"/>
            <a:ext cx="2319263" cy="32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0.4417 ± 0.0555 —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states admix the Poisson component</a:t>
            </a:r>
            <a:endParaRPr lang="en-US" sz="816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8" y="4357688"/>
            <a:ext cx="7286625" cy="142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09422" y="4114800"/>
            <a:ext cx="510367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0.3863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386668" y="4261247"/>
            <a:ext cx="5558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POISSON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657462" y="4329113"/>
            <a:ext cx="14288" cy="57150"/>
          </a:xfrm>
          <a:prstGeom prst="rect">
            <a:avLst/>
          </a:prstGeom>
          <a:solidFill>
            <a:srgbClr val="9DB4CC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5478056" y="4114800"/>
            <a:ext cx="461162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0.5307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5440211" y="4261247"/>
            <a:ext cx="536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GOE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701494" y="4329113"/>
            <a:ext cx="14288" cy="57150"/>
          </a:xfrm>
          <a:prstGeom prst="rect">
            <a:avLst/>
          </a:prstGeom>
          <a:solidFill>
            <a:srgbClr val="9DB4CC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7408990" y="4114800"/>
            <a:ext cx="461162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0.5996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371144" y="4261247"/>
            <a:ext cx="5368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7632427" y="4329113"/>
            <a:ext cx="14288" cy="57150"/>
          </a:xfrm>
          <a:prstGeom prst="rect">
            <a:avLst/>
          </a:prstGeom>
          <a:solidFill>
            <a:srgbClr val="9DB4CC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7217085" y="4371975"/>
            <a:ext cx="14288" cy="100013"/>
          </a:xfrm>
          <a:prstGeom prst="rect">
            <a:avLst/>
          </a:prstGeom>
          <a:solidFill>
            <a:srgbClr val="4FC3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7192082" y="4354116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4FC3F7"/>
          </a:solidFill>
          <a:ln w="21431">
            <a:solidFill>
              <a:srgbClr val="0B1626"/>
            </a:solidFill>
            <a:prstDash val="solid"/>
          </a:ln>
          <a:effectLst>
            <a:outerShdw sx="100000" sy="100000" kx="0" ky="0" algn="bl" rotWithShape="0" blurRad="114300" dist="50800" dir="16200000">
              <a:srgbClr val="4FC3F7">
                <a:alpha val="9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6896179" y="4514850"/>
            <a:ext cx="656100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0.5848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892342" y="4661297"/>
            <a:ext cx="663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WORK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SCALING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Test 34: convergence with lattice size</a:t>
            </a:r>
            <a:endParaRPr lang="en-US" sz="1913" dirty="0"/>
          </a:p>
        </p:txBody>
      </p:sp>
      <p:sp>
        <p:nvSpPr>
          <p:cNvPr id="6" name="Text 2"/>
          <p:cNvSpPr/>
          <p:nvPr/>
        </p:nvSpPr>
        <p:spPr>
          <a:xfrm>
            <a:off x="457200" y="1143335"/>
            <a:ext cx="4717219" cy="3357563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/tmp/h2p-fit-1787909736021-qyngc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214772"/>
            <a:ext cx="4574344" cy="32146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78016" y="1146907"/>
            <a:ext cx="3305212" cy="817848"/>
          </a:xfrm>
          <a:prstGeom prst="roundRect">
            <a:avLst>
              <a:gd name="adj" fmla="val 1397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542322" y="1296925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538750" y="1293354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5924513" y="1293354"/>
            <a:ext cx="2597981" cy="37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q=0.3 (open):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0.548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0.592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0.605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0.595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monotone</a:t>
            </a:r>
            <a:endParaRPr lang="en-US" sz="872" dirty="0"/>
          </a:p>
        </p:txBody>
      </p:sp>
      <p:sp>
        <p:nvSpPr>
          <p:cNvPr id="12" name="Text 7"/>
          <p:cNvSpPr/>
          <p:nvPr/>
        </p:nvSpPr>
        <p:spPr>
          <a:xfrm>
            <a:off x="5378016" y="2071911"/>
            <a:ext cx="3305212" cy="817959"/>
          </a:xfrm>
          <a:prstGeom prst="roundRect">
            <a:avLst>
              <a:gd name="adj" fmla="val 13974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5542322" y="2221929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538750" y="2218358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5924513" y="2218358"/>
            <a:ext cx="2707709" cy="185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q=1 (torus):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0.574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0.568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0.604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0.586</a:t>
            </a:r>
            <a:endParaRPr lang="en-US" sz="872" dirty="0"/>
          </a:p>
        </p:txBody>
      </p:sp>
      <p:sp>
        <p:nvSpPr>
          <p:cNvPr id="16" name="Text 11"/>
          <p:cNvSpPr/>
          <p:nvPr/>
        </p:nvSpPr>
        <p:spPr>
          <a:xfrm>
            <a:off x="5378016" y="2997026"/>
            <a:ext cx="3305212" cy="817848"/>
          </a:xfrm>
          <a:prstGeom prst="roundRect">
            <a:avLst>
              <a:gd name="adj" fmla="val 1397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542322" y="3147045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538750" y="3143473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924513" y="3143473"/>
            <a:ext cx="2597981" cy="37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L≥30: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plateau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≈0.60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within two standard errors of GUE</a:t>
            </a:r>
            <a:endParaRPr lang="en-US" sz="872" dirty="0"/>
          </a:p>
        </p:txBody>
      </p:sp>
      <p:sp>
        <p:nvSpPr>
          <p:cNvPr id="20" name="Text 15"/>
          <p:cNvSpPr/>
          <p:nvPr/>
        </p:nvSpPr>
        <p:spPr>
          <a:xfrm>
            <a:off x="5378016" y="3922030"/>
            <a:ext cx="3305212" cy="817848"/>
          </a:xfrm>
          <a:prstGeom prst="roundRect">
            <a:avLst>
              <a:gd name="adj" fmla="val 1397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542322" y="4072049"/>
            <a:ext cx="264319" cy="264319"/>
          </a:xfrm>
          <a:prstGeom prst="roundRect">
            <a:avLst>
              <a:gd name="adj" fmla="val 36036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5538750" y="4068477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5924513" y="4068477"/>
            <a:ext cx="2597981" cy="524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v13 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„decay paradox" is resolved: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the depression was an artifact of small lattices and the real gauge</a:t>
            </a:r>
            <a:endParaRPr lang="en-US" sz="87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Ζ STATISTICS · TESTS 4–6, 11, 12 · BERRY FINITE-SIZE CORRECTIONS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Finite-sample effects in ζ statistics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864729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1029035"/>
            <a:ext cx="4029075" cy="2386013"/>
          </a:xfrm>
          <a:prstGeom prst="roundRect">
            <a:avLst>
              <a:gd name="adj" fmla="val 3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2" descr="/tmp/h2p-fit-1787909740334-w2b4q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1100472"/>
            <a:ext cx="3886200" cy="22431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3479341"/>
            <a:ext cx="402907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b(N) ≈ 7.03·N</a:t>
            </a:r>
            <a:pPr algn="l" indent="0" marL="0">
              <a:lnSpc>
                <a:spcPts val="1060"/>
              </a:lnSpc>
              <a:buNone/>
            </a:pPr>
            <a:r>
              <a:rPr lang="en-US" sz="800" baseline="300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−0.169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R²=0.99; better —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1/ln N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R²=0.9999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657725" y="1029035"/>
            <a:ext cx="4029075" cy="2386013"/>
          </a:xfrm>
          <a:prstGeom prst="roundRect">
            <a:avLst>
              <a:gd name="adj" fmla="val 39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tmp/h2p-fit-1787909740339-hm0yl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163" y="1100472"/>
            <a:ext cx="3886200" cy="22431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57725" y="3479341"/>
            <a:ext cx="402907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R₂(0) with the Berry cutoff: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−2.3394, addition ~T</a:t>
            </a:r>
            <a:pPr algn="l" indent="0" marL="0">
              <a:lnSpc>
                <a:spcPts val="1060"/>
              </a:lnSpc>
              <a:buNone/>
            </a:pPr>
            <a:r>
              <a:rPr lang="en-US" sz="800" baseline="300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−1/2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460772" y="3774691"/>
            <a:ext cx="8222456" cy="710803"/>
          </a:xfrm>
          <a:prstGeom prst="roundRect">
            <a:avLst>
              <a:gd name="adj" fmla="val 16080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607219" y="3906850"/>
            <a:ext cx="3073383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TESTS 4–6, 11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07219" y="4060441"/>
            <a:ext cx="2316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KS D=0.088 against a critical 0.006, χ², A² —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A72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 rejected</a:t>
            </a:r>
            <a:endParaRPr lang="en-US" sz="800" dirty="0"/>
          </a:p>
        </p:txBody>
      </p:sp>
      <p:sp>
        <p:nvSpPr>
          <p:cNvPr id="16" name="Shape 10"/>
          <p:cNvSpPr/>
          <p:nvPr/>
        </p:nvSpPr>
        <p:spPr>
          <a:xfrm>
            <a:off x="3070250" y="3778262"/>
            <a:ext cx="0" cy="703659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3216697" y="3906850"/>
            <a:ext cx="2768650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12</a:t>
            </a:r>
            <a:endParaRPr lang="en-US" sz="800" dirty="0"/>
          </a:p>
        </p:txBody>
      </p:sp>
      <p:sp>
        <p:nvSpPr>
          <p:cNvPr id="18" name="Text 12"/>
          <p:cNvSpPr/>
          <p:nvPr/>
        </p:nvSpPr>
        <p:spPr>
          <a:xfrm>
            <a:off x="3216697" y="4060441"/>
            <a:ext cx="27686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two-sample KS against a 2000×2000 GUE matrix: D=0.041, p=0.139 —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66BB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rejected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6131793" y="3778262"/>
            <a:ext cx="0" cy="703659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278240" y="3962214"/>
            <a:ext cx="1485487" cy="36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zeros are indistinguishable from a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723287" y="3962214"/>
            <a:ext cx="813495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finite-size GUE matrix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14325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35 · MONTGOMERY · AB-CLOUD VS Ζ ZEROS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5089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Test 35: the direct comparison with the ζ zeros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2214563" y="707566"/>
            <a:ext cx="4714875" cy="2943225"/>
          </a:xfrm>
          <a:prstGeom prst="roundRect">
            <a:avLst>
              <a:gd name="adj" fmla="val 32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/tmp/h2p-fit-1787909745068-quj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779004"/>
            <a:ext cx="4572000" cy="28003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60772" y="3740088"/>
            <a:ext cx="2640732" cy="521494"/>
          </a:xfrm>
          <a:prstGeom prst="roundRect">
            <a:avLst>
              <a:gd name="adj" fmla="val 2191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78644" y="3849030"/>
            <a:ext cx="1992771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KS: D=0.117, p=6.7·10⁻⁴</a:t>
            </a:r>
            <a:endParaRPr lang="en-US" sz="816" dirty="0"/>
          </a:p>
        </p:txBody>
      </p:sp>
      <p:sp>
        <p:nvSpPr>
          <p:cNvPr id="10" name="Text 5"/>
          <p:cNvSpPr/>
          <p:nvPr/>
        </p:nvSpPr>
        <p:spPr>
          <a:xfrm>
            <a:off x="2584644" y="3825706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2599990" y="3836529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578644" y="4052627"/>
            <a:ext cx="240498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pointwise match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3251522" y="3740088"/>
            <a:ext cx="2640843" cy="521494"/>
          </a:xfrm>
          <a:prstGeom prst="roundRect">
            <a:avLst>
              <a:gd name="adj" fmla="val 2191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3369394" y="3836529"/>
            <a:ext cx="2514828" cy="1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correlation hole is reproduced:</a:t>
            </a:r>
            <a:endParaRPr lang="en-US" sz="816" dirty="0"/>
          </a:p>
        </p:txBody>
      </p:sp>
      <p:sp>
        <p:nvSpPr>
          <p:cNvPr id="15" name="Text 10"/>
          <p:cNvSpPr/>
          <p:nvPr/>
        </p:nvSpPr>
        <p:spPr>
          <a:xfrm>
            <a:off x="3369394" y="4027624"/>
            <a:ext cx="251482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R₂(0.05)≤0.005 for both curves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042385" y="3740088"/>
            <a:ext cx="2640732" cy="521494"/>
          </a:xfrm>
          <a:prstGeom prst="roundRect">
            <a:avLst>
              <a:gd name="adj" fmla="val 21918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6160257" y="3836529"/>
            <a:ext cx="2514716" cy="1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Closer to GUE than Poisson:</a:t>
            </a:r>
            <a:endParaRPr lang="en-US" sz="816" dirty="0"/>
          </a:p>
        </p:txBody>
      </p:sp>
      <p:sp>
        <p:nvSpPr>
          <p:cNvPr id="18" name="Text 13"/>
          <p:cNvSpPr/>
          <p:nvPr/>
        </p:nvSpPr>
        <p:spPr>
          <a:xfrm>
            <a:off x="6160257" y="4027624"/>
            <a:ext cx="24049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ts val="1101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=0.140 &lt; d</a:t>
            </a:r>
            <a:pPr algn="l" indent="0" marL="0">
              <a:lnSpc>
                <a:spcPts val="1101"/>
              </a:lnSpc>
              <a:buNone/>
            </a:pPr>
            <a:r>
              <a:rPr lang="en-US" sz="800" baseline="-40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Pois</a:t>
            </a:r>
            <a:pPr algn="l" indent="0" marL="0">
              <a:lnSpc>
                <a:spcPts val="110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=0.227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67916" y="4336591"/>
            <a:ext cx="0" cy="282178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07219" y="4386597"/>
            <a:ext cx="4560057" cy="192881"/>
          </a:xfrm>
          <a:prstGeom prst="rect">
            <a:avLst/>
          </a:prstGeom>
          <a:noFill/>
          <a:ln/>
        </p:spPr>
        <p:txBody>
          <a:bodyPr wrap="square" lIns="128588" tIns="50006" rIns="128588" bIns="50006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same universality — ; the same spectrum — . We record the distance</a:t>
            </a:r>
            <a:endParaRPr lang="en-US" sz="956" dirty="0"/>
          </a:p>
        </p:txBody>
      </p:sp>
      <p:sp>
        <p:nvSpPr>
          <p:cNvPr id="21" name="Text 16"/>
          <p:cNvSpPr/>
          <p:nvPr/>
        </p:nvSpPr>
        <p:spPr>
          <a:xfrm>
            <a:off x="2047801" y="4386597"/>
            <a:ext cx="152106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66BB6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yes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3583149" y="4386597"/>
            <a:ext cx="156983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EF5350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</a:t>
            </a:r>
            <a:endParaRPr lang="en-US" sz="956" dirty="0"/>
          </a:p>
        </p:txBody>
      </p:sp>
      <p:sp>
        <p:nvSpPr>
          <p:cNvPr id="23" name="Text 18"/>
          <p:cNvSpPr/>
          <p:nvPr/>
        </p:nvSpPr>
        <p:spPr>
          <a:xfrm>
            <a:off x="5167275" y="4386597"/>
            <a:ext cx="339093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as a number, not an adjective</a:t>
            </a:r>
            <a:endParaRPr lang="en-US" sz="95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36 · SPECTRAL FORM FACTOR K(T)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Test 36: the form factor — the limits of small ensembles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907591"/>
            <a:ext cx="457200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/tmp/h2p-fit-1787909744660-thrsh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8" y="979029"/>
            <a:ext cx="4429125" cy="2714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04222" y="911163"/>
            <a:ext cx="3479006" cy="864394"/>
          </a:xfrm>
          <a:prstGeom prst="roundRect">
            <a:avLst>
              <a:gd name="adj" fmla="val 1322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5336381" y="1014747"/>
            <a:ext cx="3214687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 TO THE GUE RAMP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5336381" y="1195127"/>
            <a:ext cx="2260550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FFA7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0.93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8152081" y="1178946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8167427" y="1189769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7449565" y="1405868"/>
            <a:ext cx="11015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PASS threshold 0.30</a:t>
            </a:r>
            <a:endParaRPr lang="en-US" sz="647" dirty="0"/>
          </a:p>
        </p:txBody>
      </p:sp>
      <p:sp>
        <p:nvSpPr>
          <p:cNvPr id="14" name="Text 9"/>
          <p:cNvSpPr/>
          <p:nvPr/>
        </p:nvSpPr>
        <p:spPr>
          <a:xfrm>
            <a:off x="5204222" y="1904144"/>
            <a:ext cx="3479006" cy="864394"/>
          </a:xfrm>
          <a:prstGeom prst="roundRect">
            <a:avLst>
              <a:gd name="adj" fmla="val 1322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5336381" y="2007729"/>
            <a:ext cx="3214688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CORRELATION WITH THEORY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5336381" y="2188108"/>
            <a:ext cx="2507903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dirty="0">
                <a:solidFill>
                  <a:srgbClr val="FFA7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0.018</a:t>
            </a:r>
            <a:endParaRPr lang="en-US" sz="2250" dirty="0"/>
          </a:p>
        </p:txBody>
      </p:sp>
      <p:sp>
        <p:nvSpPr>
          <p:cNvPr id="17" name="Text 12"/>
          <p:cNvSpPr/>
          <p:nvPr/>
        </p:nvSpPr>
        <p:spPr>
          <a:xfrm>
            <a:off x="8152081" y="2171928"/>
            <a:ext cx="414333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FFA7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167427" y="2182750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FFA7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739462" y="2398849"/>
            <a:ext cx="8116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threshold 0.50</a:t>
            </a:r>
            <a:endParaRPr lang="en-US" sz="647" dirty="0"/>
          </a:p>
        </p:txBody>
      </p:sp>
      <p:sp>
        <p:nvSpPr>
          <p:cNvPr id="20" name="Text 15"/>
          <p:cNvSpPr/>
          <p:nvPr/>
        </p:nvSpPr>
        <p:spPr>
          <a:xfrm>
            <a:off x="5204222" y="2897125"/>
            <a:ext cx="3479006" cy="864394"/>
          </a:xfrm>
          <a:prstGeom prst="roundRect">
            <a:avLst>
              <a:gd name="adj" fmla="val 1322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336381" y="3168811"/>
            <a:ext cx="3214688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ζ-5000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gives RMS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0.86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hard thresholds are calibrated for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≥3,000 gaps</a:t>
            </a:r>
            <a:endParaRPr lang="en-US" sz="816" dirty="0"/>
          </a:p>
        </p:txBody>
      </p:sp>
      <p:sp>
        <p:nvSpPr>
          <p:cNvPr id="22" name="Text 17"/>
          <p:cNvSpPr/>
          <p:nvPr/>
        </p:nvSpPr>
        <p:spPr>
          <a:xfrm>
            <a:off x="460772" y="3925825"/>
            <a:ext cx="8222456" cy="378619"/>
          </a:xfrm>
          <a:prstGeom prst="roundRect">
            <a:avLst>
              <a:gd name="adj" fmla="val 30189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07219" y="4029410"/>
            <a:ext cx="7578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Forecast: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251496" y="4029410"/>
            <a:ext cx="7285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 is reachable at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≥10⁴ gaps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(larger lattices × realizations × vortex shifts)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DIRAC SECTOR · CONE · DOS DIP · HATANO–NELSON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Dirac dynamics: cone, dip, skin effect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60772" y="896875"/>
            <a:ext cx="4736306" cy="921544"/>
          </a:xfrm>
          <a:prstGeom prst="roundRect">
            <a:avLst>
              <a:gd name="adj" fmla="val 1240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96503" y="1011175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92931" y="1007604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921544" y="1032607"/>
            <a:ext cx="41433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Cone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592931" y="1300497"/>
            <a:ext cx="4581716" cy="1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pPr algn="l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0.0202 + 11.83/L,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R²=0.9997</a:t>
            </a:r>
            <a:endParaRPr lang="en-US" sz="816" dirty="0"/>
          </a:p>
        </p:txBody>
      </p:sp>
      <p:sp>
        <p:nvSpPr>
          <p:cNvPr id="11" name="Text 7"/>
          <p:cNvSpPr/>
          <p:nvPr/>
        </p:nvSpPr>
        <p:spPr>
          <a:xfrm>
            <a:off x="592931" y="1491593"/>
            <a:ext cx="458171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(L=12…48, 4 zero modes);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algn="l" indent="0" marL="0">
              <a:lnSpc>
                <a:spcPts val="1060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b/2π ≈ 1.88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60772" y="1925575"/>
            <a:ext cx="4736306" cy="921544"/>
          </a:xfrm>
          <a:prstGeom prst="roundRect">
            <a:avLst>
              <a:gd name="adj" fmla="val 1240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96503" y="2039875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592931" y="2036304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921544" y="2061307"/>
            <a:ext cx="41433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DOS dip at α=1/2</a:t>
            </a:r>
            <a:endParaRPr lang="en-US" sz="1013" dirty="0"/>
          </a:p>
        </p:txBody>
      </p:sp>
      <p:sp>
        <p:nvSpPr>
          <p:cNvPr id="16" name="Text 12"/>
          <p:cNvSpPr/>
          <p:nvPr/>
        </p:nvSpPr>
        <p:spPr>
          <a:xfrm>
            <a:off x="592931" y="2329197"/>
            <a:ext cx="4581716" cy="211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ρ=0.010 </a:t>
            </a:r>
            <a:pPr algn="l" indent="0" marL="0">
              <a:lnSpc>
                <a:spcPts val="1603"/>
              </a:lnSpc>
              <a:buNone/>
            </a:pPr>
            <a:r>
              <a:rPr lang="en-US" sz="816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pPr algn="l" indent="0" marL="0">
              <a:lnSpc>
                <a:spcPts val="160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0.200 at α=0.4/0.6 — </a:t>
            </a:r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FFB7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20× contrast</a:t>
            </a:r>
            <a:endParaRPr lang="en-US" sz="816" dirty="0"/>
          </a:p>
        </p:txBody>
      </p:sp>
      <p:sp>
        <p:nvSpPr>
          <p:cNvPr id="17" name="Text 13"/>
          <p:cNvSpPr/>
          <p:nvPr/>
        </p:nvSpPr>
        <p:spPr>
          <a:xfrm>
            <a:off x="592931" y="2568513"/>
            <a:ext cx="4471988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(the critical point between Hall phases C₁=+1/−1)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60772" y="2954275"/>
            <a:ext cx="4736306" cy="921544"/>
          </a:xfrm>
          <a:prstGeom prst="roundRect">
            <a:avLst>
              <a:gd name="adj" fmla="val 1240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96503" y="3068575"/>
            <a:ext cx="235744" cy="235744"/>
          </a:xfrm>
          <a:prstGeom prst="roundRect">
            <a:avLst>
              <a:gd name="adj" fmla="val 36364"/>
            </a:avLst>
          </a:prstGeom>
          <a:solidFill>
            <a:srgbClr val="4FC3F7">
              <a:alpha val="8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92931" y="3065004"/>
            <a:ext cx="2857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921544" y="3090007"/>
            <a:ext cx="41433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Hatano–Nelson</a:t>
            </a:r>
            <a:endParaRPr lang="en-US" sz="1013" dirty="0"/>
          </a:p>
        </p:txBody>
      </p:sp>
      <p:sp>
        <p:nvSpPr>
          <p:cNvPr id="22" name="Text 18"/>
          <p:cNvSpPr/>
          <p:nvPr/>
        </p:nvSpPr>
        <p:spPr>
          <a:xfrm>
            <a:off x="592931" y="3357897"/>
            <a:ext cx="4471988" cy="1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σ=0.5 → real spectrum; 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σ=0.7 → the entire spectrum complex</a:t>
            </a:r>
            <a:endParaRPr lang="en-US" sz="816" dirty="0"/>
          </a:p>
        </p:txBody>
      </p:sp>
      <p:sp>
        <p:nvSpPr>
          <p:cNvPr id="23" name="Text 19"/>
          <p:cNvSpPr/>
          <p:nvPr/>
        </p:nvSpPr>
        <p:spPr>
          <a:xfrm>
            <a:off x="592931" y="3548993"/>
            <a:ext cx="458171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(max|Im E|=0.623), skin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g=0.322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72100" y="1343360"/>
            <a:ext cx="3314700" cy="2085975"/>
          </a:xfrm>
          <a:prstGeom prst="roundRect">
            <a:avLst>
              <a:gd name="adj" fmla="val 45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2" descr="/tmp/h2p-fit-1787909745573-b5ye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538" y="1414797"/>
            <a:ext cx="3171825" cy="19431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0772" y="3997263"/>
            <a:ext cx="8222456" cy="364331"/>
          </a:xfrm>
          <a:prstGeom prst="roundRect">
            <a:avLst>
              <a:gd name="adj" fmla="val 31373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607219" y="4093704"/>
            <a:ext cx="79295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critical line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σ=1/2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singled out threefold: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Connes self-duality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Hermiticity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+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Dirac dip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21 · 22 · 23 · EXACT IDENTITIES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Analytic structures: π/7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921879"/>
            <a:ext cx="5129213" cy="742950"/>
          </a:xfrm>
          <a:prstGeom prst="roundRect">
            <a:avLst>
              <a:gd name="adj" fmla="val 15385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457200" y="925450"/>
            <a:ext cx="5129213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582841" y="921879"/>
            <a:ext cx="0" cy="74295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57200" y="1661257"/>
            <a:ext cx="5129213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7916" y="921879"/>
            <a:ext cx="0" cy="742950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506" y="1043322"/>
            <a:ext cx="4240039" cy="266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069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Φ</a:t>
            </a:r>
            <a:pPr algn="l" indent="0" marL="0">
              <a:lnSpc>
                <a:spcPts val="1941"/>
              </a:lnSpc>
              <a:buNone/>
            </a:pPr>
            <a:r>
              <a:rPr lang="en-US" sz="802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pPr algn="l" indent="0" marL="0">
              <a:lnSpc>
                <a:spcPts val="1941"/>
              </a:lnSpc>
              <a:buNone/>
            </a:pPr>
            <a:r>
              <a:rPr lang="en-US" sz="1069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2π/14 = </a:t>
            </a:r>
            <a:pPr algn="l" indent="0" marL="0">
              <a:lnSpc>
                <a:spcPts val="1941"/>
              </a:lnSpc>
              <a:buNone/>
            </a:pPr>
            <a:r>
              <a:rPr lang="en-US" sz="129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π/7</a:t>
            </a:r>
            <a:endParaRPr lang="en-US" sz="1069" dirty="0"/>
          </a:p>
        </p:txBody>
      </p:sp>
      <p:sp>
        <p:nvSpPr>
          <p:cNvPr id="12" name="Text 8"/>
          <p:cNvSpPr/>
          <p:nvPr/>
        </p:nvSpPr>
        <p:spPr>
          <a:xfrm>
            <a:off x="4883128" y="1065539"/>
            <a:ext cx="574545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904408" y="1076362"/>
            <a:ext cx="53198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22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21506" y="1318357"/>
            <a:ext cx="4924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an exact identity for q/e = 1/14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57200" y="1779129"/>
            <a:ext cx="5129213" cy="1057275"/>
          </a:xfrm>
          <a:prstGeom prst="roundRect">
            <a:avLst>
              <a:gd name="adj" fmla="val 10811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457200" y="1782700"/>
            <a:ext cx="5129213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582841" y="1779129"/>
            <a:ext cx="0" cy="1057275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" y="2832832"/>
            <a:ext cx="5129213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7916" y="1779129"/>
            <a:ext cx="0" cy="1057275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506" y="1907716"/>
            <a:ext cx="4240039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γ* = a</a:t>
            </a:r>
            <a:pPr algn="l" indent="0" marL="0">
              <a:lnSpc>
                <a:spcPts val="1308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i·b</a:t>
            </a:r>
            <a:pPr algn="l" indent="0" marL="0">
              <a:lnSpc>
                <a:spcPts val="1308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844" dirty="0"/>
          </a:p>
        </p:txBody>
      </p:sp>
      <p:sp>
        <p:nvSpPr>
          <p:cNvPr id="21" name="Text 17"/>
          <p:cNvSpPr/>
          <p:nvPr/>
        </p:nvSpPr>
        <p:spPr>
          <a:xfrm>
            <a:off x="4883128" y="1889750"/>
            <a:ext cx="574545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904408" y="1900572"/>
            <a:ext cx="53198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21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21506" y="2123815"/>
            <a:ext cx="2530602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pPr algn="l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(π/7)⁵/22 = 8.276·10⁻⁴</a:t>
            </a:r>
            <a:endParaRPr lang="en-US" sz="816" dirty="0"/>
          </a:p>
        </p:txBody>
      </p:sp>
      <p:sp>
        <p:nvSpPr>
          <p:cNvPr id="24" name="Text 20"/>
          <p:cNvSpPr/>
          <p:nvPr/>
        </p:nvSpPr>
        <p:spPr>
          <a:xfrm>
            <a:off x="3093244" y="2123815"/>
            <a:ext cx="2343150" cy="16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pPr algn="l" indent="0" marL="0">
              <a:lnSpc>
                <a:spcPts val="1223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algn="l" indent="0" marL="0">
              <a:lnSpc>
                <a:spcPts val="1223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2sin²(π/7) = 0.3765</a:t>
            </a:r>
            <a:endParaRPr lang="en-US" sz="816" dirty="0"/>
          </a:p>
        </p:txBody>
      </p:sp>
      <p:sp>
        <p:nvSpPr>
          <p:cNvPr id="25" name="Text 21"/>
          <p:cNvSpPr/>
          <p:nvPr/>
        </p:nvSpPr>
        <p:spPr>
          <a:xfrm>
            <a:off x="621506" y="2322054"/>
            <a:ext cx="481488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arg γ* =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89.87° ≈ π/2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457200" y="2950704"/>
            <a:ext cx="5129213" cy="942975"/>
          </a:xfrm>
          <a:prstGeom prst="roundRect">
            <a:avLst>
              <a:gd name="adj" fmla="val 12121"/>
            </a:avLst>
          </a:prstGeom>
          <a:solidFill>
            <a:srgbClr val="1226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3"/>
          <p:cNvSpPr/>
          <p:nvPr/>
        </p:nvSpPr>
        <p:spPr>
          <a:xfrm>
            <a:off x="457200" y="2954275"/>
            <a:ext cx="5129213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582841" y="2950704"/>
            <a:ext cx="0" cy="942975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57200" y="3890107"/>
            <a:ext cx="5129213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67916" y="2950704"/>
            <a:ext cx="0" cy="942975"/>
          </a:xfrm>
          <a:prstGeom prst="line">
            <a:avLst/>
          </a:prstGeom>
          <a:noFill/>
          <a:ln w="21431">
            <a:solidFill>
              <a:srgbClr val="4FC3F7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21506" y="3079291"/>
            <a:ext cx="4240039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= exp(2πi/22)·exp(i·2.854·ln 22) = −0.950+0.312i, |CF|=1</a:t>
            </a:r>
            <a:endParaRPr lang="en-US" sz="844" dirty="0"/>
          </a:p>
        </p:txBody>
      </p:sp>
      <p:sp>
        <p:nvSpPr>
          <p:cNvPr id="32" name="Text 28"/>
          <p:cNvSpPr/>
          <p:nvPr/>
        </p:nvSpPr>
        <p:spPr>
          <a:xfrm>
            <a:off x="4883128" y="3061325"/>
            <a:ext cx="574545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4904408" y="3072147"/>
            <a:ext cx="531986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Test 23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621506" y="3281102"/>
            <a:ext cx="4924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empirical input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</a:t>
            </a:r>
            <a:pPr algn="l" indent="0" marL="0">
              <a:lnSpc>
                <a:spcPts val="1097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c</a:t>
            </a:r>
            <a:pPr algn="l" indent="0" marL="0">
              <a:lnSpc>
                <a:spcPts val="1097"/>
              </a:lnSpc>
              <a:buNone/>
            </a:pPr>
            <a:r>
              <a:rPr lang="en-US" sz="800" baseline="-400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= 0.0206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60772" y="4040125"/>
            <a:ext cx="1873448" cy="685800"/>
          </a:xfrm>
          <a:prstGeom prst="roundRect">
            <a:avLst>
              <a:gd name="adj" fmla="val 16667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07219" y="4211575"/>
            <a:ext cx="1161194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Formula precision — machine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804132" y="4282013"/>
            <a:ext cx="383642" cy="202025"/>
          </a:xfrm>
          <a:prstGeom prst="roundRect">
            <a:avLst>
              <a:gd name="adj" fmla="val 4710048"/>
            </a:avLst>
          </a:prstGeom>
          <a:noFill/>
          <a:ln w="7144">
            <a:solidFill>
              <a:srgbClr val="66BB6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4"/>
          <p:cNvSpPr/>
          <p:nvPr/>
        </p:nvSpPr>
        <p:spPr>
          <a:xfrm>
            <a:off x="1804132" y="4292836"/>
            <a:ext cx="383642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2455664" y="4040125"/>
            <a:ext cx="3127177" cy="685800"/>
          </a:xfrm>
          <a:prstGeom prst="roundRect">
            <a:avLst>
              <a:gd name="adj" fmla="val 16667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2602111" y="4172285"/>
            <a:ext cx="2787402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physical interpretation 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(Peccei–Quinn, PSL(2,7)⊂Monster)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hypothesis</a:t>
            </a:r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the suite does not contradict it, but does not prove it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757863" y="1361219"/>
            <a:ext cx="2928938" cy="292893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85750" dist="762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2" descr="/tmp/h2p-fit-1787909745228-jmjsd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432657"/>
            <a:ext cx="2786063" cy="27860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SUITE V19 · FIXES R1–R5 · REPRODUCIBILITY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52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v19: an infrastructure of trust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60772" y="896875"/>
            <a:ext cx="2640732" cy="1350169"/>
          </a:xfrm>
          <a:prstGeom prst="roundRect">
            <a:avLst>
              <a:gd name="adj" fmla="val 846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571375" y="1010747"/>
            <a:ext cx="582019" cy="208026"/>
          </a:xfrm>
          <a:prstGeom prst="roundRect">
            <a:avLst>
              <a:gd name="adj" fmla="val 32051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92931" y="1021891"/>
            <a:ext cx="53890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FIX-R1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92931" y="1279066"/>
            <a:ext cx="2376413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PDF-writer MethodError →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 false WARNs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a dead second pass; fixed by typing the line list</a:t>
            </a:r>
            <a:endParaRPr lang="en-US" sz="816" dirty="0"/>
          </a:p>
        </p:txBody>
      </p:sp>
      <p:sp>
        <p:nvSpPr>
          <p:cNvPr id="10" name="Text 6"/>
          <p:cNvSpPr/>
          <p:nvPr/>
        </p:nvSpPr>
        <p:spPr>
          <a:xfrm>
            <a:off x="3251522" y="896875"/>
            <a:ext cx="2640843" cy="1350169"/>
          </a:xfrm>
          <a:prstGeom prst="roundRect">
            <a:avLst>
              <a:gd name="adj" fmla="val 846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362126" y="1010747"/>
            <a:ext cx="582019" cy="208026"/>
          </a:xfrm>
          <a:prstGeom prst="roundRect">
            <a:avLst>
              <a:gd name="adj" fmla="val 32051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3383682" y="1021891"/>
            <a:ext cx="53890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383682" y="1279066"/>
            <a:ext cx="2376525" cy="52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failure of any report format can no longer affect a verdict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(try/catch around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_write_test_report!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16" dirty="0"/>
          </a:p>
        </p:txBody>
      </p:sp>
      <p:sp>
        <p:nvSpPr>
          <p:cNvPr id="14" name="Text 10"/>
          <p:cNvSpPr/>
          <p:nvPr/>
        </p:nvSpPr>
        <p:spPr>
          <a:xfrm>
            <a:off x="6042385" y="896875"/>
            <a:ext cx="2640732" cy="2850356"/>
          </a:xfrm>
          <a:prstGeom prst="roundRect">
            <a:avLst>
              <a:gd name="adj" fmla="val 4328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6188832" y="1029035"/>
            <a:ext cx="2347838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28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Two verdict systems</a:t>
            </a:r>
            <a:endParaRPr lang="en-US" sz="928" dirty="0"/>
          </a:p>
        </p:txBody>
      </p:sp>
      <p:sp>
        <p:nvSpPr>
          <p:cNvPr id="16" name="Text 12"/>
          <p:cNvSpPr/>
          <p:nvPr/>
        </p:nvSpPr>
        <p:spPr>
          <a:xfrm>
            <a:off x="6188832" y="1320143"/>
            <a:ext cx="2347838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Formulaic:</a:t>
            </a:r>
            <a:endParaRPr lang="en-US" sz="872" dirty="0"/>
          </a:p>
        </p:txBody>
      </p:sp>
      <p:sp>
        <p:nvSpPr>
          <p:cNvPr id="17" name="Text 13"/>
          <p:cNvSpPr/>
          <p:nvPr/>
        </p:nvSpPr>
        <p:spPr>
          <a:xfrm>
            <a:off x="6188832" y="1521954"/>
            <a:ext cx="2457566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machine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 10⁻¹²…10⁻¹⁶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binary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188832" y="1794756"/>
            <a:ext cx="2347838" cy="0"/>
          </a:xfrm>
          <a:prstGeom prst="line">
            <a:avLst/>
          </a:prstGeom>
          <a:noFill/>
          <a:ln w="7144">
            <a:solidFill>
              <a:srgbClr val="4FC3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88832" y="1912627"/>
            <a:ext cx="2347838" cy="1743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b="1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Statistical:</a:t>
            </a:r>
            <a:endParaRPr lang="en-US" sz="872" dirty="0"/>
          </a:p>
        </p:txBody>
      </p:sp>
      <p:sp>
        <p:nvSpPr>
          <p:cNvPr id="20" name="Text 16"/>
          <p:cNvSpPr/>
          <p:nvPr/>
        </p:nvSpPr>
        <p:spPr>
          <a:xfrm>
            <a:off x="6188832" y="2114438"/>
            <a:ext cx="2457566" cy="154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calibrated bands,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460772" y="2397063"/>
            <a:ext cx="2640732" cy="1350169"/>
          </a:xfrm>
          <a:prstGeom prst="roundRect">
            <a:avLst>
              <a:gd name="adj" fmla="val 846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570071" y="2510934"/>
            <a:ext cx="902635" cy="208026"/>
          </a:xfrm>
          <a:prstGeom prst="roundRect">
            <a:avLst>
              <a:gd name="adj" fmla="val 32051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592931" y="2522079"/>
            <a:ext cx="8569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FIX-R3 / R4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92931" y="2779254"/>
            <a:ext cx="2376413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 28 (variable scope) and Test 18 (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α·Ny∈ℤ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, multiples of 6)</a:t>
            </a:r>
            <a:endParaRPr lang="en-US" sz="816" dirty="0"/>
          </a:p>
        </p:txBody>
      </p:sp>
      <p:sp>
        <p:nvSpPr>
          <p:cNvPr id="25" name="Text 21"/>
          <p:cNvSpPr/>
          <p:nvPr/>
        </p:nvSpPr>
        <p:spPr>
          <a:xfrm>
            <a:off x="3251522" y="2397063"/>
            <a:ext cx="2640843" cy="1350169"/>
          </a:xfrm>
          <a:prstGeom prst="roundRect">
            <a:avLst>
              <a:gd name="adj" fmla="val 8466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3362126" y="2510934"/>
            <a:ext cx="582019" cy="208026"/>
          </a:xfrm>
          <a:prstGeom prst="roundRect">
            <a:avLst>
              <a:gd name="adj" fmla="val 32051"/>
            </a:avLst>
          </a:prstGeom>
          <a:solidFill>
            <a:srgbClr val="4FC3F7">
              <a:alpha val="7000"/>
            </a:srgbClr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3383682" y="2522079"/>
            <a:ext cx="53890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FIX-R5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383682" y="2779254"/>
            <a:ext cx="2376525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quick check —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ζ≤5000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 GIF, the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--quick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flag; genuinely both passes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16×16→32×32</a:t>
            </a:r>
            <a:endParaRPr lang="en-US" sz="816" dirty="0"/>
          </a:p>
        </p:txBody>
      </p:sp>
      <p:sp>
        <p:nvSpPr>
          <p:cNvPr id="29" name="Text 25"/>
          <p:cNvSpPr/>
          <p:nvPr/>
        </p:nvSpPr>
        <p:spPr>
          <a:xfrm>
            <a:off x="460772" y="3882963"/>
            <a:ext cx="8222456" cy="351830"/>
          </a:xfrm>
          <a:prstGeom prst="roundRect">
            <a:avLst>
              <a:gd name="adj" fmla="val 32487"/>
            </a:avLst>
          </a:prstGeom>
          <a:solidFill>
            <a:srgbClr val="16304F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607219" y="3986547"/>
            <a:ext cx="72581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run: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1230734" y="3986547"/>
            <a:ext cx="140513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directory with logs,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50988" y="3986547"/>
            <a:ext cx="10888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md/html/pdf/docx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522873" y="3986547"/>
            <a:ext cx="93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623890" y="3986547"/>
            <a:ext cx="748552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PNG 600 dpi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305449" y="3986547"/>
            <a:ext cx="93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4406466" y="3986547"/>
            <a:ext cx="27530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SVG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4623569" y="3986547"/>
            <a:ext cx="9304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4724586" y="3986547"/>
            <a:ext cx="381219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GIF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94" kern="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AB-CLOUD AS A PHASE RESONATOR · MONOGRAPH V22 · CLOSING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457200" y="623292"/>
            <a:ext cx="8636000" cy="145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8"/>
              </a:lnSpc>
              <a:buNone/>
            </a:pPr>
            <a:r>
              <a:rPr lang="en-US" sz="928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Conclusions</a:t>
            </a:r>
            <a:endParaRPr lang="en-US" sz="928" dirty="0"/>
          </a:p>
        </p:txBody>
      </p:sp>
      <p:sp>
        <p:nvSpPr>
          <p:cNvPr id="6" name="Text 2"/>
          <p:cNvSpPr/>
          <p:nvPr/>
        </p:nvSpPr>
        <p:spPr>
          <a:xfrm>
            <a:off x="457200" y="857585"/>
            <a:ext cx="514350" cy="21431"/>
          </a:xfrm>
          <a:prstGeom prst="roundRect">
            <a:avLst>
              <a:gd name="adj" fmla="val 88890"/>
            </a:avLst>
          </a:prstGeom>
          <a:solidFill>
            <a:srgbClr val="FFB7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60772" y="1168338"/>
            <a:ext cx="4050506" cy="821531"/>
          </a:xfrm>
          <a:prstGeom prst="roundRect">
            <a:avLst>
              <a:gd name="adj" fmla="val 1391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607219" y="1279066"/>
            <a:ext cx="3757613" cy="211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Exactness</a:t>
            </a:r>
            <a:endParaRPr lang="en-US" sz="1069" dirty="0"/>
          </a:p>
        </p:txBody>
      </p:sp>
      <p:sp>
        <p:nvSpPr>
          <p:cNvPr id="9" name="Text 5"/>
          <p:cNvSpPr/>
          <p:nvPr/>
        </p:nvSpPr>
        <p:spPr>
          <a:xfrm>
            <a:off x="607219" y="1518382"/>
            <a:ext cx="3757613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fluxes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10⁻¹⁴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Byers–Yang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3.5·10⁻¹⁵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Connes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zero modes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66BB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proven</a:t>
            </a:r>
            <a:endParaRPr lang="en-US" sz="816" dirty="0"/>
          </a:p>
        </p:txBody>
      </p:sp>
      <p:sp>
        <p:nvSpPr>
          <p:cNvPr id="10" name="Text 6"/>
          <p:cNvSpPr/>
          <p:nvPr/>
        </p:nvSpPr>
        <p:spPr>
          <a:xfrm>
            <a:off x="4632722" y="1168338"/>
            <a:ext cx="4050506" cy="821531"/>
          </a:xfrm>
          <a:prstGeom prst="roundRect">
            <a:avLst>
              <a:gd name="adj" fmla="val 1391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779169" y="1279066"/>
            <a:ext cx="3757613" cy="211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Universality</a:t>
            </a:r>
            <a:endParaRPr lang="en-US" sz="1069" dirty="0"/>
          </a:p>
        </p:txBody>
      </p:sp>
      <p:sp>
        <p:nvSpPr>
          <p:cNvPr id="12" name="Text 8"/>
          <p:cNvSpPr/>
          <p:nvPr/>
        </p:nvSpPr>
        <p:spPr>
          <a:xfrm>
            <a:off x="4779169" y="1518382"/>
            <a:ext cx="3757613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⟨r⟩ = 0.585±0.026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plateau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0.595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L≥30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4FC3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 reproduced</a:t>
            </a:r>
            <a:endParaRPr lang="en-US" sz="816" dirty="0"/>
          </a:p>
        </p:txBody>
      </p:sp>
      <p:sp>
        <p:nvSpPr>
          <p:cNvPr id="13" name="Text 9"/>
          <p:cNvSpPr/>
          <p:nvPr/>
        </p:nvSpPr>
        <p:spPr>
          <a:xfrm>
            <a:off x="460772" y="2111313"/>
            <a:ext cx="4050506" cy="821531"/>
          </a:xfrm>
          <a:prstGeom prst="roundRect">
            <a:avLst>
              <a:gd name="adj" fmla="val 1391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607219" y="2222041"/>
            <a:ext cx="3757613" cy="211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Honesty</a:t>
            </a:r>
            <a:endParaRPr lang="en-US" sz="1069" dirty="0"/>
          </a:p>
        </p:txBody>
      </p:sp>
      <p:sp>
        <p:nvSpPr>
          <p:cNvPr id="15" name="Text 11"/>
          <p:cNvSpPr/>
          <p:nvPr/>
        </p:nvSpPr>
        <p:spPr>
          <a:xfrm>
            <a:off x="607219" y="2461357"/>
            <a:ext cx="3757613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R₂ matches qualitatively, KS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p=6.7·10⁻⁴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FFB7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distance is measured</a:t>
            </a:r>
            <a:endParaRPr lang="en-US" sz="816" dirty="0"/>
          </a:p>
        </p:txBody>
      </p:sp>
      <p:sp>
        <p:nvSpPr>
          <p:cNvPr id="16" name="Text 12"/>
          <p:cNvSpPr/>
          <p:nvPr/>
        </p:nvSpPr>
        <p:spPr>
          <a:xfrm>
            <a:off x="4632722" y="2111313"/>
            <a:ext cx="4050506" cy="821531"/>
          </a:xfrm>
          <a:prstGeom prst="roundRect">
            <a:avLst>
              <a:gd name="adj" fmla="val 13913"/>
            </a:avLst>
          </a:prstGeom>
          <a:solidFill>
            <a:srgbClr val="122640"/>
          </a:solidFill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79169" y="2222041"/>
            <a:ext cx="3757613" cy="211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Dynamics</a:t>
            </a:r>
            <a:endParaRPr lang="en-US" sz="1069" dirty="0"/>
          </a:p>
        </p:txBody>
      </p:sp>
      <p:sp>
        <p:nvSpPr>
          <p:cNvPr id="18" name="Text 14"/>
          <p:cNvSpPr/>
          <p:nvPr/>
        </p:nvSpPr>
        <p:spPr>
          <a:xfrm>
            <a:off x="4779169" y="2461357"/>
            <a:ext cx="3757613" cy="1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cone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R²=0.9997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dip 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20×</a:t>
            </a:r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EAF2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skin effect —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the critical line </a:t>
            </a:r>
            <a:pPr algn="l" indent="0" marL="0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EAF2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σ=1/2</a:t>
            </a:r>
            <a:endParaRPr lang="en-US" sz="816" dirty="0"/>
          </a:p>
        </p:txBody>
      </p:sp>
      <p:sp>
        <p:nvSpPr>
          <p:cNvPr id="19" name="Text 15"/>
          <p:cNvSpPr/>
          <p:nvPr/>
        </p:nvSpPr>
        <p:spPr>
          <a:xfrm>
            <a:off x="6018609" y="1546622"/>
            <a:ext cx="2350294" cy="2350294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6375797" y="1903809"/>
            <a:ext cx="1635919" cy="1635919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732984" y="2260997"/>
            <a:ext cx="921544" cy="921544"/>
          </a:xfrm>
          <a:prstGeom prst="ellipse">
            <a:avLst/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57200" y="3675906"/>
            <a:ext cx="7429500" cy="62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AB-cloud is a </a:t>
            </a:r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phase resonator</a:t>
            </a:r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EAF2F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with reproducible GUE statistics: the Hilbert–Pólya program as a </a:t>
            </a:r>
            <a:pPr algn="l" indent="0" marL="0">
              <a:lnSpc>
                <a:spcPts val="2284"/>
              </a:lnSpc>
              <a:buNone/>
            </a:pPr>
            <a:r>
              <a:rPr lang="en-US" sz="1575" b="1" dirty="0">
                <a:solidFill>
                  <a:srgbClr val="4FC3F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quantitative, testable program</a:t>
            </a:r>
            <a:endParaRPr lang="en-US" sz="1575" dirty="0"/>
          </a:p>
        </p:txBody>
      </p:sp>
      <p:sp>
        <p:nvSpPr>
          <p:cNvPr id="23" name="Text 19"/>
          <p:cNvSpPr/>
          <p:nvPr/>
        </p:nvSpPr>
        <p:spPr>
          <a:xfrm>
            <a:off x="460772" y="4416623"/>
            <a:ext cx="8222456" cy="323255"/>
          </a:xfrm>
          <a:prstGeom prst="roundRect">
            <a:avLst>
              <a:gd name="adj" fmla="val 29466"/>
            </a:avLst>
          </a:prstGeom>
          <a:noFill/>
          <a:ln w="7144">
            <a:solidFill>
              <a:srgbClr val="4FC3F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607219" y="4505920"/>
            <a:ext cx="200668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julia ab_cloud_v19.jl --test all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536701" y="4505920"/>
            <a:ext cx="9387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666293" y="4505920"/>
            <a:ext cx="58132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--quick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144255" y="4505920"/>
            <a:ext cx="9387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73847" y="4505920"/>
            <a:ext cx="527007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EAF2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DOI 10.5281/zenodo.21825394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2026-08-28T09:35:45Z</dcterms:created>
  <dcterms:modified xsi:type="dcterms:W3CDTF">2026-08-28T09:35:45Z</dcterms:modified>
</cp:coreProperties>
</file>