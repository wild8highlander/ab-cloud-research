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32884" y="-1496616"/>
            <a:ext cx="4564856" cy="4564856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611541" y="-817959"/>
            <a:ext cx="3207544" cy="3207544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361634" y="-210741"/>
            <a:ext cx="1850231" cy="1850231"/>
          </a:xfrm>
          <a:prstGeom prst="ellipse">
            <a:avLst/>
          </a:prstGeom>
          <a:noFill/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-2282428" y="2932509"/>
            <a:ext cx="5564981" cy="5564981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0"/>
            <a:ext cx="7144" cy="5143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42805" y="3028950"/>
            <a:ext cx="4201195" cy="1774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38"/>
              </a:lnSpc>
              <a:buNone/>
            </a:pPr>
            <a:r>
              <a:rPr lang="en-US" sz="12938" b="1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ζ(s)</a:t>
            </a:r>
            <a:endParaRPr lang="en-US" sz="12938" dirty="0"/>
          </a:p>
        </p:txBody>
      </p:sp>
      <p:sp>
        <p:nvSpPr>
          <p:cNvPr id="9" name="Text 5"/>
          <p:cNvSpPr/>
          <p:nvPr/>
        </p:nvSpPr>
        <p:spPr>
          <a:xfrm>
            <a:off x="5924513" y="1128713"/>
            <a:ext cx="3219487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dirty="0">
                <a:solidFill>
                  <a:srgbClr val="4FC3F7">
                    <a:alpha val="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0.5996</a:t>
            </a:r>
            <a:endParaRPr lang="en-US" sz="2925" dirty="0"/>
          </a:p>
        </p:txBody>
      </p:sp>
      <p:sp>
        <p:nvSpPr>
          <p:cNvPr id="10" name="Text 6"/>
          <p:cNvSpPr/>
          <p:nvPr/>
        </p:nvSpPr>
        <p:spPr>
          <a:xfrm>
            <a:off x="5871828" y="1714500"/>
            <a:ext cx="2036387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dirty="0">
                <a:solidFill>
                  <a:srgbClr val="FFB74D">
                    <a:alpha val="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KS = 0.047</a:t>
            </a:r>
            <a:endParaRPr lang="en-US" sz="2138" dirty="0"/>
          </a:p>
        </p:txBody>
      </p:sp>
      <p:sp>
        <p:nvSpPr>
          <p:cNvPr id="11" name="Text 7"/>
          <p:cNvSpPr/>
          <p:nvPr/>
        </p:nvSpPr>
        <p:spPr>
          <a:xfrm>
            <a:off x="7352035" y="2286000"/>
            <a:ext cx="1791965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4FC3F7">
                    <a:alpha val="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Hψ = γψ</a:t>
            </a:r>
            <a:endParaRPr lang="en-US" sz="2475" dirty="0"/>
          </a:p>
        </p:txBody>
      </p:sp>
      <p:sp>
        <p:nvSpPr>
          <p:cNvPr id="12" name="Shape 8"/>
          <p:cNvSpPr/>
          <p:nvPr/>
        </p:nvSpPr>
        <p:spPr>
          <a:xfrm>
            <a:off x="428625" y="4204097"/>
            <a:ext cx="3764198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189251" y="4200525"/>
            <a:ext cx="0" cy="557213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8625" y="4754166"/>
            <a:ext cx="3764198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9341" y="4200525"/>
            <a:ext cx="0" cy="557213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8625" y="314325"/>
            <a:ext cx="863600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НАУЧНАЯ МОНОГРАФИЯ · 2026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28625" y="600075"/>
            <a:ext cx="7386638" cy="35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250" b="1" spc="11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AB-Облако как </a:t>
            </a:r>
            <a:pPr algn="l" indent="0" marL="0">
              <a:lnSpc>
                <a:spcPts val="2565"/>
              </a:lnSpc>
              <a:buNone/>
            </a:pPr>
            <a:r>
              <a:rPr lang="en-US" sz="2250" b="1" spc="11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фазовый резонатор</a:t>
            </a:r>
            <a:endParaRPr lang="en-US" sz="2250" dirty="0"/>
          </a:p>
        </p:txBody>
      </p:sp>
      <p:sp>
        <p:nvSpPr>
          <p:cNvPr id="19" name="Text 15"/>
          <p:cNvSpPr/>
          <p:nvPr/>
        </p:nvSpPr>
        <p:spPr>
          <a:xfrm>
            <a:off x="428625" y="1054373"/>
            <a:ext cx="8109814" cy="44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6"/>
              </a:lnSpc>
              <a:buNone/>
            </a:pPr>
            <a:r>
              <a:rPr lang="en-US" sz="956" spc="105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ГИПОТЕЗА ГИЛЬБЕРТА–ПОЛЯ, </a:t>
            </a:r>
            <a:pPr algn="l" indent="0" marL="0">
              <a:lnSpc>
                <a:spcPts val="1626"/>
              </a:lnSpc>
              <a:buNone/>
            </a:pPr>
            <a:r>
              <a:rPr lang="en-US" sz="956" spc="10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НУЛИ ДЗЕТА-ФУНКЦИИ РИМАНА</a:t>
            </a:r>
            <a:pPr algn="l" indent="0" marL="0">
              <a:lnSpc>
                <a:spcPts val="1626"/>
              </a:lnSpc>
              <a:buNone/>
            </a:pPr>
            <a:r>
              <a:rPr lang="en-US" sz="956" spc="105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ТОПОЛОГИЯ ЭЛЕМЕНТАРНЫХ ЧАСТИЦ</a:t>
            </a:r>
            <a:endParaRPr lang="en-US" sz="956" dirty="0"/>
          </a:p>
        </p:txBody>
      </p:sp>
      <p:sp>
        <p:nvSpPr>
          <p:cNvPr id="20" name="Text 16"/>
          <p:cNvSpPr/>
          <p:nvPr/>
        </p:nvSpPr>
        <p:spPr>
          <a:xfrm>
            <a:off x="428625" y="1581448"/>
            <a:ext cx="6286500" cy="390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Численное исследование связи эффекта Ааронова–Бома, случайных матриц (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GOE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Poisson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и модели электрона/позитрона как топологических вихрей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32197" y="2103611"/>
            <a:ext cx="2088542" cy="214313"/>
          </a:xfrm>
          <a:prstGeom prst="roundRect">
            <a:avLst>
              <a:gd name="adj" fmla="val 4439990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52983" y="2157189"/>
            <a:ext cx="1907046" cy="125403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(1/2 + iγₙ) = 0 ⟺ Ĥψₙ = γₙψₙ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35781" y="2153617"/>
            <a:ext cx="188137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595749" y="2087238"/>
            <a:ext cx="1232185" cy="247059"/>
          </a:xfrm>
          <a:prstGeom prst="roundRect">
            <a:avLst>
              <a:gd name="adj" fmla="val 3851499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2940546" y="2153617"/>
            <a:ext cx="92310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_GUE = 0.5996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2702905" y="2150046"/>
            <a:ext cx="101787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⟨r⟩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899371" y="2087238"/>
            <a:ext cx="751880" cy="247059"/>
          </a:xfrm>
          <a:prstGeom prst="roundRect">
            <a:avLst>
              <a:gd name="adj" fmla="val 3851499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183782" y="2157189"/>
            <a:ext cx="453159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qΦ/ℏ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006528" y="2153617"/>
            <a:ext cx="53756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Δφ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28625" y="4200525"/>
            <a:ext cx="3764198" cy="557213"/>
          </a:xfrm>
          <a:prstGeom prst="roundRect">
            <a:avLst>
              <a:gd name="adj" fmla="val 17094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07219" y="4321969"/>
            <a:ext cx="3531026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Автор: </a:t>
            </a:r>
            <a:pPr algn="l" indent="0" marL="0">
              <a:buNone/>
            </a:pPr>
            <a:r>
              <a:rPr lang="en-US" sz="956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Исаев Искхак Хамзатович</a:t>
            </a:r>
            <a:endParaRPr lang="en-US" sz="956" dirty="0"/>
          </a:p>
        </p:txBody>
      </p:sp>
      <p:sp>
        <p:nvSpPr>
          <p:cNvPr id="32" name="Text 28"/>
          <p:cNvSpPr/>
          <p:nvPr/>
        </p:nvSpPr>
        <p:spPr>
          <a:xfrm>
            <a:off x="607219" y="4521994"/>
            <a:ext cx="34212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ORCID </a:t>
            </a:r>
            <a:pPr algn="l" indent="0" marL="0">
              <a:buNone/>
            </a:pPr>
            <a:r>
              <a:rPr lang="en-US" sz="788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0009-0003-7299-0701</a:t>
            </a:r>
            <a:pPr algn="l" indent="0" marL="0">
              <a:buNone/>
            </a:pPr>
            <a:r>
              <a:rPr lang="en-US" sz="788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DOI </a:t>
            </a:r>
            <a:pPr algn="l" indent="0" marL="0">
              <a:buNone/>
            </a:pPr>
            <a:r>
              <a:rPr lang="en-US" sz="788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10.5281/zenodo.21825394</a:t>
            </a:r>
            <a:endParaRPr lang="en-US" sz="788" dirty="0"/>
          </a:p>
        </p:txBody>
      </p:sp>
      <p:sp>
        <p:nvSpPr>
          <p:cNvPr id="33" name="Text 29"/>
          <p:cNvSpPr/>
          <p:nvPr/>
        </p:nvSpPr>
        <p:spPr>
          <a:xfrm>
            <a:off x="4924276" y="4589859"/>
            <a:ext cx="3787527" cy="164306"/>
          </a:xfrm>
          <a:prstGeom prst="roundRect">
            <a:avLst>
              <a:gd name="adj" fmla="val 23188"/>
            </a:avLst>
          </a:prstGeom>
          <a:solidFill>
            <a:srgbClr val="FFB74D">
              <a:alpha val="8000"/>
            </a:srgbClr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4920704" y="4586288"/>
            <a:ext cx="3794671" cy="219456"/>
          </a:xfrm>
          <a:prstGeom prst="rect">
            <a:avLst/>
          </a:prstGeom>
          <a:noFill/>
          <a:ln/>
        </p:spPr>
        <p:txBody>
          <a:bodyPr wrap="none" lIns="64294" tIns="28575" rIns="64294" bIns="28575" rtlCol="0" anchor="t"/>
          <a:lstStyle/>
          <a:p>
            <a:pPr algn="l" indent="0" marL="0">
              <a:buNone/>
            </a:pPr>
            <a:r>
              <a:rPr lang="en-US" sz="800" spc="122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ОРИГИНАЛЬНАЯ АВТОРСКАЯ РЕДАКЦИЯ V21 · С ВЕРИФИКАЦИЕЙ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80F1B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428625" y="4961334"/>
            <a:ext cx="7864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· Монография v21 · Авторская редакция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8284291" y="4961334"/>
            <a:ext cx="4539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4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l" indent="0" marL="0">
              <a:buNone/>
            </a:pPr>
            <a:r>
              <a:rPr lang="en-US" sz="800" spc="5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75884" y="3218259"/>
            <a:ext cx="3278981" cy="3278981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600379" y="257175"/>
            <a:ext cx="2229296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50" b="1" dirty="0">
                <a:solidFill>
                  <a:srgbClr val="4FC3F7">
                    <a:alpha val="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ζ ↔ Ĥ</a:t>
            </a:r>
            <a:endParaRPr lang="en-US" sz="5850" dirty="0"/>
          </a:p>
        </p:txBody>
      </p:sp>
      <p:sp>
        <p:nvSpPr>
          <p:cNvPr id="5" name="Shape 2"/>
          <p:cNvSpPr/>
          <p:nvPr/>
        </p:nvSpPr>
        <p:spPr>
          <a:xfrm>
            <a:off x="428625" y="994209"/>
            <a:ext cx="2666963" cy="0"/>
          </a:xfrm>
          <a:prstGeom prst="line">
            <a:avLst/>
          </a:prstGeom>
          <a:noFill/>
          <a:ln w="14288">
            <a:solidFill>
              <a:srgbClr val="4FC3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092016" y="987065"/>
            <a:ext cx="0" cy="3044912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4028405"/>
            <a:ext cx="2666963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2197" y="987065"/>
            <a:ext cx="0" cy="3044912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8644" y="3381896"/>
            <a:ext cx="236692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41997" y="3378324"/>
            <a:ext cx="0" cy="517922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8644" y="3892674"/>
            <a:ext cx="236692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9359" y="3378324"/>
            <a:ext cx="0" cy="517922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38463" y="994209"/>
            <a:ext cx="2666963" cy="0"/>
          </a:xfrm>
          <a:prstGeom prst="line">
            <a:avLst/>
          </a:prstGeom>
          <a:noFill/>
          <a:ln w="14288">
            <a:solidFill>
              <a:srgbClr val="4FC3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01854" y="987065"/>
            <a:ext cx="0" cy="3044912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38463" y="4028405"/>
            <a:ext cx="2666963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42035" y="987065"/>
            <a:ext cx="0" cy="3044912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88482" y="2030723"/>
            <a:ext cx="236692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51835" y="2027151"/>
            <a:ext cx="0" cy="36288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88482" y="2386459"/>
            <a:ext cx="236692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99197" y="2027151"/>
            <a:ext cx="0" cy="362880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88482" y="3547988"/>
            <a:ext cx="236692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51835" y="3544416"/>
            <a:ext cx="0" cy="35183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88482" y="3892674"/>
            <a:ext cx="236692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99197" y="3544416"/>
            <a:ext cx="0" cy="351830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48301" y="994209"/>
            <a:ext cx="2667074" cy="0"/>
          </a:xfrm>
          <a:prstGeom prst="line">
            <a:avLst/>
          </a:prstGeom>
          <a:noFill/>
          <a:ln w="14288">
            <a:solidFill>
              <a:srgbClr val="FFB74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711803" y="987065"/>
            <a:ext cx="0" cy="3044912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48301" y="4028405"/>
            <a:ext cx="2667074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51872" y="987065"/>
            <a:ext cx="0" cy="3044912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98319" y="3536938"/>
            <a:ext cx="2367037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561784" y="3533366"/>
            <a:ext cx="0" cy="36288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98319" y="3892674"/>
            <a:ext cx="2367037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209035" y="3533366"/>
            <a:ext cx="0" cy="362880"/>
          </a:xfrm>
          <a:prstGeom prst="line">
            <a:avLst/>
          </a:prstGeom>
          <a:noFill/>
          <a:ln w="21431">
            <a:solidFill>
              <a:srgbClr val="FFB74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28625" y="4164137"/>
            <a:ext cx="82867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711803" y="4160565"/>
            <a:ext cx="0" cy="597173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8625" y="4754166"/>
            <a:ext cx="82867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9341" y="4160565"/>
            <a:ext cx="0" cy="597173"/>
          </a:xfrm>
          <a:prstGeom prst="line">
            <a:avLst/>
          </a:prstGeom>
          <a:noFill/>
          <a:ln w="21431">
            <a:solidFill>
              <a:srgbClr val="FFB74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28625" y="314325"/>
            <a:ext cx="863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ВВЕДЕНИЕ · АРХИТЕКТУРА ИССЛЕДОВАНИЯ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28625" y="500063"/>
            <a:ext cx="8636000" cy="32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фундаментальные области </a:t>
            </a:r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одном исследовании</a:t>
            </a:r>
            <a:endParaRPr lang="en-US" sz="2081" dirty="0"/>
          </a:p>
        </p:txBody>
      </p:sp>
      <p:sp>
        <p:nvSpPr>
          <p:cNvPr id="40" name="Text 37"/>
          <p:cNvSpPr/>
          <p:nvPr/>
        </p:nvSpPr>
        <p:spPr>
          <a:xfrm>
            <a:off x="428625" y="987065"/>
            <a:ext cx="2666963" cy="3044912"/>
          </a:xfrm>
          <a:prstGeom prst="roundRect">
            <a:avLst>
              <a:gd name="adj" fmla="val 3571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2278138" y="1072790"/>
            <a:ext cx="828995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FC3F7">
                    <a:alpha val="9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3600" dirty="0"/>
          </a:p>
        </p:txBody>
      </p:sp>
      <p:sp>
        <p:nvSpPr>
          <p:cNvPr id="42" name="Text 39"/>
          <p:cNvSpPr/>
          <p:nvPr/>
        </p:nvSpPr>
        <p:spPr>
          <a:xfrm>
            <a:off x="555784" y="1119653"/>
            <a:ext cx="881985" cy="192024"/>
          </a:xfrm>
          <a:prstGeom prst="roundRect">
            <a:avLst>
              <a:gd name="adj" fmla="val 19841"/>
            </a:avLst>
          </a:prstGeom>
          <a:solidFill>
            <a:srgbClr val="4FC3F7">
              <a:alpha val="8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78644" y="1129940"/>
            <a:ext cx="8362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22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ОБЛАСТЬ 01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78644" y="1401403"/>
            <a:ext cx="2366925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Теория случайных матриц</a:t>
            </a:r>
            <a:endParaRPr lang="en-US" sz="956" dirty="0"/>
          </a:p>
        </p:txBody>
      </p:sp>
      <p:sp>
        <p:nvSpPr>
          <p:cNvPr id="45" name="Text 42"/>
          <p:cNvSpPr/>
          <p:nvPr/>
        </p:nvSpPr>
        <p:spPr>
          <a:xfrm>
            <a:off x="578644" y="1616385"/>
            <a:ext cx="2366925" cy="33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Ансамбли случайных матриц и универсальная статистика уровней квантовых систем.</a:t>
            </a:r>
            <a:endParaRPr lang="en-US" sz="816" dirty="0"/>
          </a:p>
        </p:txBody>
      </p:sp>
      <p:sp>
        <p:nvSpPr>
          <p:cNvPr id="46" name="Text 43"/>
          <p:cNvSpPr/>
          <p:nvPr/>
        </p:nvSpPr>
        <p:spPr>
          <a:xfrm>
            <a:off x="578644" y="2014349"/>
            <a:ext cx="394469" cy="239916"/>
          </a:xfrm>
          <a:prstGeom prst="roundRect">
            <a:avLst>
              <a:gd name="adj" fmla="val 3966169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578644" y="2027151"/>
            <a:ext cx="3944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044550" y="2014349"/>
            <a:ext cx="394469" cy="239916"/>
          </a:xfrm>
          <a:prstGeom prst="roundRect">
            <a:avLst>
              <a:gd name="adj" fmla="val 3966169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1044550" y="2027151"/>
            <a:ext cx="3944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GOE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1510457" y="2014349"/>
            <a:ext cx="634454" cy="239916"/>
          </a:xfrm>
          <a:prstGeom prst="roundRect">
            <a:avLst>
              <a:gd name="adj" fmla="val 3966169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1510457" y="2027151"/>
            <a:ext cx="6344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Poisson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2216348" y="2014349"/>
            <a:ext cx="394469" cy="239916"/>
          </a:xfrm>
          <a:prstGeom prst="roundRect">
            <a:avLst>
              <a:gd name="adj" fmla="val 3966169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2216348" y="2027151"/>
            <a:ext cx="3944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GSE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578644" y="3378324"/>
            <a:ext cx="2366925" cy="517922"/>
          </a:xfrm>
          <a:prstGeom prst="roundRect">
            <a:avLst>
              <a:gd name="adj" fmla="val 14713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578644" y="3378324"/>
            <a:ext cx="2366925" cy="517922"/>
          </a:xfrm>
          <a:prstGeom prst="rect">
            <a:avLst/>
          </a:prstGeom>
          <a:noFill/>
          <a:ln/>
        </p:spPr>
        <p:txBody>
          <a:bodyPr wrap="square" lIns="114300" tIns="85725" rIns="114300" bIns="85725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⟨r⟩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универсальная метрика соседних спейсингов</a:t>
            </a:r>
            <a:endParaRPr lang="en-US" sz="844" dirty="0"/>
          </a:p>
        </p:txBody>
      </p:sp>
      <p:sp>
        <p:nvSpPr>
          <p:cNvPr id="56" name="Text 53"/>
          <p:cNvSpPr/>
          <p:nvPr/>
        </p:nvSpPr>
        <p:spPr>
          <a:xfrm>
            <a:off x="3238463" y="987065"/>
            <a:ext cx="2666963" cy="3044912"/>
          </a:xfrm>
          <a:prstGeom prst="roundRect">
            <a:avLst>
              <a:gd name="adj" fmla="val 3571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5087976" y="1072790"/>
            <a:ext cx="828995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FC3F7">
                    <a:alpha val="9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3600" dirty="0"/>
          </a:p>
        </p:txBody>
      </p:sp>
      <p:sp>
        <p:nvSpPr>
          <p:cNvPr id="58" name="Text 55"/>
          <p:cNvSpPr/>
          <p:nvPr/>
        </p:nvSpPr>
        <p:spPr>
          <a:xfrm>
            <a:off x="3365622" y="1119653"/>
            <a:ext cx="881985" cy="192024"/>
          </a:xfrm>
          <a:prstGeom prst="roundRect">
            <a:avLst>
              <a:gd name="adj" fmla="val 19841"/>
            </a:avLst>
          </a:prstGeom>
          <a:solidFill>
            <a:srgbClr val="4FC3F7">
              <a:alpha val="8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3388482" y="1129940"/>
            <a:ext cx="8362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22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ОБЛАСТЬ 02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3388482" y="1401403"/>
            <a:ext cx="2366925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Гипотеза Гильберта–Поля</a:t>
            </a:r>
            <a:endParaRPr lang="en-US" sz="956" dirty="0"/>
          </a:p>
        </p:txBody>
      </p:sp>
      <p:sp>
        <p:nvSpPr>
          <p:cNvPr id="61" name="Text 58"/>
          <p:cNvSpPr/>
          <p:nvPr/>
        </p:nvSpPr>
        <p:spPr>
          <a:xfrm>
            <a:off x="3388482" y="1616385"/>
            <a:ext cx="2366925" cy="33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Нули дзета-функции Римана — спектр эрмитова оператора.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3388482" y="2027151"/>
            <a:ext cx="2366925" cy="362880"/>
          </a:xfrm>
          <a:prstGeom prst="roundRect">
            <a:avLst>
              <a:gd name="adj" fmla="val 20999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3388482" y="2027151"/>
            <a:ext cx="2366925" cy="391911"/>
          </a:xfrm>
          <a:prstGeom prst="rect">
            <a:avLst/>
          </a:prstGeom>
          <a:noFill/>
          <a:ln/>
        </p:spPr>
        <p:txBody>
          <a:bodyPr wrap="none" lIns="114300" tIns="85725" rIns="114300" bIns="85725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ζ(1/2 + iγₙ) = 0 ⟺ Ĥψₙ = γₙψₙ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388482" y="3544416"/>
            <a:ext cx="2366925" cy="351830"/>
          </a:xfrm>
          <a:prstGeom prst="roundRect">
            <a:avLst>
              <a:gd name="adj" fmla="val 21658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3388482" y="3544416"/>
            <a:ext cx="2366925" cy="351830"/>
          </a:xfrm>
          <a:prstGeom prst="rect">
            <a:avLst/>
          </a:prstGeom>
          <a:noFill/>
          <a:ln/>
        </p:spPr>
        <p:txBody>
          <a:bodyPr wrap="square" lIns="114300" tIns="85725" rIns="114300" bIns="85725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γₙ ∈ ℝ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вещественный спектр</a:t>
            </a:r>
            <a:endParaRPr lang="en-US" sz="844" dirty="0"/>
          </a:p>
        </p:txBody>
      </p:sp>
      <p:sp>
        <p:nvSpPr>
          <p:cNvPr id="66" name="Text 63"/>
          <p:cNvSpPr/>
          <p:nvPr/>
        </p:nvSpPr>
        <p:spPr>
          <a:xfrm>
            <a:off x="6048301" y="987065"/>
            <a:ext cx="2667074" cy="3044912"/>
          </a:xfrm>
          <a:prstGeom prst="roundRect">
            <a:avLst>
              <a:gd name="adj" fmla="val 3571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7897925" y="1072790"/>
            <a:ext cx="828995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B74D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3600" dirty="0"/>
          </a:p>
        </p:txBody>
      </p:sp>
      <p:sp>
        <p:nvSpPr>
          <p:cNvPr id="68" name="Text 65"/>
          <p:cNvSpPr/>
          <p:nvPr/>
        </p:nvSpPr>
        <p:spPr>
          <a:xfrm>
            <a:off x="6175459" y="1119653"/>
            <a:ext cx="881985" cy="192024"/>
          </a:xfrm>
          <a:prstGeom prst="roundRect">
            <a:avLst>
              <a:gd name="adj" fmla="val 19841"/>
            </a:avLst>
          </a:prstGeom>
          <a:solidFill>
            <a:srgbClr val="FFB74D">
              <a:alpha val="8000"/>
            </a:srgbClr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6"/>
          <p:cNvSpPr/>
          <p:nvPr/>
        </p:nvSpPr>
        <p:spPr>
          <a:xfrm>
            <a:off x="6198319" y="1129940"/>
            <a:ext cx="8362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22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ОБЛАСТЬ 03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6198319" y="1401403"/>
            <a:ext cx="2476765" cy="17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Топологическая модель частиц</a:t>
            </a:r>
            <a:endParaRPr lang="en-US" sz="956" dirty="0"/>
          </a:p>
        </p:txBody>
      </p:sp>
      <p:sp>
        <p:nvSpPr>
          <p:cNvPr id="71" name="Text 68"/>
          <p:cNvSpPr/>
          <p:nvPr/>
        </p:nvSpPr>
        <p:spPr>
          <a:xfrm>
            <a:off x="6198319" y="1616385"/>
            <a:ext cx="2367037" cy="33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Электрон и позитрон — топологические вихри в квантовом пространстве.</a:t>
            </a:r>
            <a:endParaRPr lang="en-US" sz="816" dirty="0"/>
          </a:p>
        </p:txBody>
      </p:sp>
      <p:sp>
        <p:nvSpPr>
          <p:cNvPr id="72" name="Text 69"/>
          <p:cNvSpPr/>
          <p:nvPr/>
        </p:nvSpPr>
        <p:spPr>
          <a:xfrm>
            <a:off x="6198319" y="1998576"/>
            <a:ext cx="2367037" cy="33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Эффект Ааронова–Бома: фаза, набираемая вокруг флюкса.</a:t>
            </a:r>
            <a:endParaRPr lang="en-US" sz="816" dirty="0"/>
          </a:p>
        </p:txBody>
      </p:sp>
      <p:sp>
        <p:nvSpPr>
          <p:cNvPr id="73" name="Text 70"/>
          <p:cNvSpPr/>
          <p:nvPr/>
        </p:nvSpPr>
        <p:spPr>
          <a:xfrm>
            <a:off x="6198319" y="3533366"/>
            <a:ext cx="2367037" cy="362880"/>
          </a:xfrm>
          <a:prstGeom prst="roundRect">
            <a:avLst>
              <a:gd name="adj" fmla="val 20999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1"/>
          <p:cNvSpPr/>
          <p:nvPr/>
        </p:nvSpPr>
        <p:spPr>
          <a:xfrm>
            <a:off x="6198319" y="3533366"/>
            <a:ext cx="2367037" cy="362880"/>
          </a:xfrm>
          <a:prstGeom prst="rect">
            <a:avLst/>
          </a:prstGeom>
          <a:noFill/>
          <a:ln/>
        </p:spPr>
        <p:txBody>
          <a:bodyPr wrap="none" lIns="114300" tIns="85725" rIns="114300" bIns="85725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Δφ = (q/ℏ)∮A·dl = 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qΦ/ℏ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428625" y="4160565"/>
            <a:ext cx="8286750" cy="597173"/>
          </a:xfrm>
          <a:prstGeom prst="roundRect">
            <a:avLst>
              <a:gd name="adj" fmla="val 15950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584359" y="4363139"/>
            <a:ext cx="629945" cy="192024"/>
          </a:xfrm>
          <a:prstGeom prst="roundRect">
            <a:avLst>
              <a:gd name="adj" fmla="val 19841"/>
            </a:avLst>
          </a:prstGeom>
          <a:solidFill>
            <a:srgbClr val="FFB74D">
              <a:alpha val="8000"/>
            </a:srgbClr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4"/>
          <p:cNvSpPr/>
          <p:nvPr/>
        </p:nvSpPr>
        <p:spPr>
          <a:xfrm>
            <a:off x="607219" y="4373426"/>
            <a:ext cx="584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22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СИНТЕЗ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1320031" y="4282008"/>
            <a:ext cx="7231038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AB-облако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квантовое пространство, где </a:t>
            </a:r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вихри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играют роль элементарных частиц, </a:t>
            </a:r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нули ζ(s)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допустимые энергетические состояния, </a:t>
            </a:r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гипотеза Римана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условие GUE-универсальности.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80F1B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7"/>
          <p:cNvSpPr/>
          <p:nvPr/>
        </p:nvSpPr>
        <p:spPr>
          <a:xfrm>
            <a:off x="428625" y="4961334"/>
            <a:ext cx="7864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· Монография v21 · Авторская редакция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8284291" y="4961334"/>
            <a:ext cx="4539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4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l" indent="0" marL="0">
              <a:buNone/>
            </a:pPr>
            <a:r>
              <a:rPr lang="en-US" sz="800" spc="5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61634" y="-1067991"/>
            <a:ext cx="2707481" cy="2707481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977421" y="4086225"/>
            <a:ext cx="3166579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exp(iφ)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>
            <a:off x="428625" y="976350"/>
            <a:ext cx="467011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95168" y="972778"/>
            <a:ext cx="0" cy="554534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523740"/>
            <a:ext cx="467011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9341" y="972778"/>
            <a:ext cx="0" cy="554534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8625" y="1630896"/>
            <a:ext cx="467011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95168" y="1627324"/>
            <a:ext cx="0" cy="554534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8625" y="2178286"/>
            <a:ext cx="467011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9341" y="1627324"/>
            <a:ext cx="0" cy="554534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8625" y="2285442"/>
            <a:ext cx="467011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95168" y="2281870"/>
            <a:ext cx="0" cy="554534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8625" y="2832832"/>
            <a:ext cx="467011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9341" y="2281870"/>
            <a:ext cx="0" cy="554534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8625" y="314325"/>
            <a:ext cx="863600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МОДЕЛЬ · ГАМИЛЬТОНИАН С ВИХРЯМИ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28625" y="500063"/>
            <a:ext cx="8636000" cy="32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 исследования: </a:t>
            </a:r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AB-облако</a:t>
            </a:r>
            <a:endParaRPr lang="en-US" sz="2081" dirty="0"/>
          </a:p>
        </p:txBody>
      </p:sp>
      <p:sp>
        <p:nvSpPr>
          <p:cNvPr id="20" name="Text 17"/>
          <p:cNvSpPr/>
          <p:nvPr/>
        </p:nvSpPr>
        <p:spPr>
          <a:xfrm>
            <a:off x="428625" y="972778"/>
            <a:ext cx="4670115" cy="554534"/>
          </a:xfrm>
          <a:prstGeom prst="roundRect">
            <a:avLst>
              <a:gd name="adj" fmla="val 13741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64356" y="1269913"/>
            <a:ext cx="229403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 = · H = V + 4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64356" y="1065647"/>
            <a:ext cx="452266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10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ГАМИЛЬТОНИАН ХОФШТАДТЕРА С ВИХРЯМИ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78805" y="1269913"/>
            <a:ext cx="75260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−exp(iφ</a:t>
            </a:r>
            <a:pPr algn="l" indent="0" marL="0">
              <a:lnSpc>
                <a:spcPts val="1395"/>
              </a:lnSpc>
              <a:buNone/>
            </a:pPr>
            <a:r>
              <a:rPr lang="en-US" sz="800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28625" y="1627324"/>
            <a:ext cx="4670115" cy="554534"/>
          </a:xfrm>
          <a:prstGeom prst="roundRect">
            <a:avLst>
              <a:gd name="adj" fmla="val 13741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64356" y="1924459"/>
            <a:ext cx="1421495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 = 2πα(ix −1)·δ +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64356" y="1720193"/>
            <a:ext cx="452266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10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ФАЗА СВЯЗИ: КАЛИБРОВКА + ВИХРИ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985851" y="1924459"/>
            <a:ext cx="159043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</a:t>
            </a:r>
            <a:pPr algn="l" indent="0" marL="0">
              <a:lnSpc>
                <a:spcPts val="1395"/>
              </a:lnSpc>
              <a:buNone/>
            </a:pPr>
            <a:r>
              <a:rPr lang="en-US" sz="800" baseline="-400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pPr algn="l" indent="0" marL="0">
              <a:lnSpc>
                <a:spcPts val="1395"/>
              </a:lnSpc>
              <a:buNone/>
            </a:pPr>
            <a:r>
              <a:rPr lang="en-US" sz="800" baseline="-400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·[r</a:t>
            </a:r>
            <a:pPr algn="l" indent="0" marL="0">
              <a:lnSpc>
                <a:spcPts val="1395"/>
              </a:lnSpc>
              <a:buNone/>
            </a:pPr>
            <a:r>
              <a:rPr lang="en-US" sz="800" baseline="-400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×r</a:t>
            </a:r>
            <a:pPr algn="l" indent="0" marL="0">
              <a:lnSpc>
                <a:spcPts val="1395"/>
              </a:lnSpc>
              <a:buNone/>
            </a:pPr>
            <a:r>
              <a:rPr lang="en-US" sz="800" baseline="-400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− r</a:t>
            </a:r>
            <a:pPr algn="l" indent="0" marL="0">
              <a:lnSpc>
                <a:spcPts val="1395"/>
              </a:lnSpc>
              <a:buNone/>
            </a:pPr>
            <a:r>
              <a:rPr lang="en-US" sz="800" baseline="-400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×r</a:t>
            </a:r>
            <a:pPr algn="l" indent="0" marL="0">
              <a:lnSpc>
                <a:spcPts val="1395"/>
              </a:lnSpc>
              <a:buNone/>
            </a:pPr>
            <a:r>
              <a:rPr lang="en-US" sz="800" baseline="-400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]·2π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28625" y="2281870"/>
            <a:ext cx="4670115" cy="554534"/>
          </a:xfrm>
          <a:prstGeom prst="roundRect">
            <a:avLst>
              <a:gd name="adj" fmla="val 13741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64356" y="2579005"/>
            <a:ext cx="2291246" cy="138875"/>
          </a:xfrm>
          <a:prstGeom prst="rect">
            <a:avLst/>
          </a:prstGeom>
          <a:noFill/>
          <a:ln/>
        </p:spPr>
        <p:txBody>
          <a:bodyPr wrap="none" lIns="114300" tIns="85725" rIns="114300" bIns="85725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 = Σ q · / (|r −r |²·N + 1) + ε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64356" y="2374739"/>
            <a:ext cx="452266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10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ПОТЕНЦИАЛ УЗЛА: ВИХРИ + БЕСПОРЯДОК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253170" y="2579005"/>
            <a:ext cx="108462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28625" y="2936416"/>
            <a:ext cx="4670115" cy="17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Фазовые коды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строятся из нулей дзета-функции — облако «знает» ζ(s).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5259474" y="976350"/>
            <a:ext cx="3452329" cy="3074045"/>
          </a:xfrm>
          <a:prstGeom prst="roundRect">
            <a:avLst>
              <a:gd name="adj" fmla="val 3099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405921" y="1108509"/>
            <a:ext cx="3159435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задано в модели</a:t>
            </a:r>
            <a:endParaRPr lang="en-US" sz="956" dirty="0"/>
          </a:p>
        </p:txBody>
      </p:sp>
      <p:sp>
        <p:nvSpPr>
          <p:cNvPr id="35" name="Text 32"/>
          <p:cNvSpPr/>
          <p:nvPr/>
        </p:nvSpPr>
        <p:spPr>
          <a:xfrm>
            <a:off x="5405921" y="1352066"/>
            <a:ext cx="3159435" cy="77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Решётка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 флюксом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π/2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ячейку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(α = 1/2)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Топологические вихри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 зарядом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Фазы из нулей дзета-функции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ζ(s)</a:t>
            </a:r>
            <a:endParaRPr lang="en-US" sz="844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921" y="2105732"/>
            <a:ext cx="3159435" cy="1641053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409493" y="2109304"/>
            <a:ext cx="3152291" cy="1633910"/>
          </a:xfrm>
          <a:prstGeom prst="roundRect">
            <a:avLst>
              <a:gd name="adj" fmla="val 4664"/>
            </a:avLst>
          </a:prstGeom>
          <a:solidFill>
            <a:srgbClr val="FFFFFF">
              <a:alpha val="0"/>
            </a:srgbClr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5791684" y="2362907"/>
            <a:ext cx="185738" cy="185738"/>
          </a:xfrm>
          <a:prstGeom prst="ellipse">
            <a:avLst/>
          </a:prstGeom>
          <a:noFill/>
          <a:ln w="14288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5848834" y="2412913"/>
            <a:ext cx="9488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5513077" y="2170026"/>
            <a:ext cx="46105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 = +1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7908131" y="3361023"/>
            <a:ext cx="185738" cy="185738"/>
          </a:xfrm>
          <a:prstGeom prst="ellipse">
            <a:avLst/>
          </a:prstGeom>
          <a:noFill/>
          <a:ln w="14288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7976667" y="3382454"/>
            <a:ext cx="9488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8112286" y="3582479"/>
            <a:ext cx="44592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 = −1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5405921" y="3803935"/>
            <a:ext cx="3269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Решётка и топологические вихри (схема)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432197" y="4171838"/>
            <a:ext cx="1989534" cy="582327"/>
          </a:xfrm>
          <a:prstGeom prst="roundRect">
            <a:avLst>
              <a:gd name="adj" fmla="val 1635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550069" y="4275423"/>
            <a:ext cx="1753791" cy="17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25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125" dirty="0"/>
          </a:p>
        </p:txBody>
      </p:sp>
      <p:sp>
        <p:nvSpPr>
          <p:cNvPr id="47" name="Text 43"/>
          <p:cNvSpPr/>
          <p:nvPr/>
        </p:nvSpPr>
        <p:spPr>
          <a:xfrm>
            <a:off x="550069" y="4489735"/>
            <a:ext cx="1753791" cy="148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размер решётки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2528888" y="4171838"/>
            <a:ext cx="1989534" cy="582327"/>
          </a:xfrm>
          <a:prstGeom prst="roundRect">
            <a:avLst>
              <a:gd name="adj" fmla="val 1635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2646759" y="4275423"/>
            <a:ext cx="1753791" cy="20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25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ts val="1294"/>
              </a:lnSpc>
              <a:buNone/>
            </a:pPr>
            <a:r>
              <a:rPr lang="en-US" sz="800" b="1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125" dirty="0"/>
          </a:p>
        </p:txBody>
      </p:sp>
      <p:sp>
        <p:nvSpPr>
          <p:cNvPr id="50" name="Text 46"/>
          <p:cNvSpPr/>
          <p:nvPr/>
        </p:nvSpPr>
        <p:spPr>
          <a:xfrm>
            <a:off x="2646759" y="4515631"/>
            <a:ext cx="1753791" cy="1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число вихрей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4625578" y="4171838"/>
            <a:ext cx="1989534" cy="582327"/>
          </a:xfrm>
          <a:prstGeom prst="roundRect">
            <a:avLst>
              <a:gd name="adj" fmla="val 1635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4743450" y="4275423"/>
            <a:ext cx="1753791" cy="17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25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125" dirty="0"/>
          </a:p>
        </p:txBody>
      </p:sp>
      <p:sp>
        <p:nvSpPr>
          <p:cNvPr id="53" name="Text 49"/>
          <p:cNvSpPr/>
          <p:nvPr/>
        </p:nvSpPr>
        <p:spPr>
          <a:xfrm>
            <a:off x="4743450" y="4489735"/>
            <a:ext cx="1753791" cy="148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сила беспорядка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6722269" y="4171838"/>
            <a:ext cx="1989534" cy="582327"/>
          </a:xfrm>
          <a:prstGeom prst="roundRect">
            <a:avLst>
              <a:gd name="adj" fmla="val 1635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6840141" y="4275423"/>
            <a:ext cx="1753791" cy="17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25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1/2</a:t>
            </a:r>
            <a:endParaRPr lang="en-US" sz="1125" dirty="0"/>
          </a:p>
        </p:txBody>
      </p:sp>
      <p:sp>
        <p:nvSpPr>
          <p:cNvPr id="56" name="Text 52"/>
          <p:cNvSpPr/>
          <p:nvPr/>
        </p:nvSpPr>
        <p:spPr>
          <a:xfrm>
            <a:off x="6840141" y="4489735"/>
            <a:ext cx="1753791" cy="148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флюкс π/2 на ячейку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80F1B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428625" y="4961334"/>
            <a:ext cx="7864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· Монография v21 · Авторская редакция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8284291" y="4961334"/>
            <a:ext cx="4539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4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l" indent="0" marL="0">
              <a:buNone/>
            </a:pPr>
            <a:r>
              <a:rPr lang="en-US" sz="800" spc="5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8759" y="3432572"/>
            <a:ext cx="2993231" cy="2993231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592355" y="257175"/>
            <a:ext cx="1551645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⟨r⟩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>
            <a:off x="428625" y="2562262"/>
            <a:ext cx="26860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111103" y="2558690"/>
            <a:ext cx="0" cy="723081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3278200"/>
            <a:ext cx="26860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9341" y="2558690"/>
            <a:ext cx="0" cy="723081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28975" y="2562262"/>
            <a:ext cx="26860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11453" y="2558690"/>
            <a:ext cx="0" cy="723081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28975" y="3278200"/>
            <a:ext cx="26860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39691" y="2558690"/>
            <a:ext cx="0" cy="723081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29325" y="2562262"/>
            <a:ext cx="26860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11803" y="2558690"/>
            <a:ext cx="0" cy="723081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29325" y="3278200"/>
            <a:ext cx="26860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40041" y="2558690"/>
            <a:ext cx="0" cy="723081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8625" y="314325"/>
            <a:ext cx="863600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МЕТОДЫ · ТЕОРИЯ СЛУЧАЙНЫХ МАТРИЦ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28625" y="500063"/>
            <a:ext cx="8636000" cy="32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Математический аппарат: </a:t>
            </a:r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ансамбли RMT</a:t>
            </a:r>
            <a:endParaRPr lang="en-US" sz="2081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8625" y="972778"/>
          <a:ext cx="8286750" cy="914400"/>
        </p:xfrm>
        <a:graphic>
          <a:graphicData uri="http://schemas.openxmlformats.org/drawingml/2006/table">
            <a:tbl>
              <a:tblPr/>
              <a:tblGrid>
                <a:gridCol w="1324719"/>
                <a:gridCol w="993539"/>
                <a:gridCol w="2152613"/>
                <a:gridCol w="380873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FC3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Ансамбль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FC3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β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FC3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T-симметрия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FC3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Тип матриц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GOE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β = 1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T-инвариантен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вещественные симметричные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GUE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β = 2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T-нарушен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комплексные эрмитовы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>
                        <a:alpha val="1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GSE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β = 4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T² = −1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кватернионные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Poisson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β = 0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локализация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некоррелированные уровни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428625" y="2558690"/>
            <a:ext cx="2686050" cy="723081"/>
          </a:xfrm>
          <a:prstGeom prst="roundRect">
            <a:avLst>
              <a:gd name="adj" fmla="val 10538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64356" y="2855826"/>
            <a:ext cx="1996008" cy="131159"/>
          </a:xfrm>
          <a:prstGeom prst="rect">
            <a:avLst/>
          </a:prstGeom>
          <a:noFill/>
          <a:ln/>
        </p:spPr>
        <p:txBody>
          <a:bodyPr wrap="square" lIns="114300" tIns="85725" rIns="114300" bIns="85725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 (s) = (32/π²)·s²·exp(−4s²/π)</a:t>
            </a:r>
            <a:endParaRPr lang="en-US" sz="844" dirty="0"/>
          </a:p>
        </p:txBody>
      </p:sp>
      <p:sp>
        <p:nvSpPr>
          <p:cNvPr id="23" name="Text 19"/>
          <p:cNvSpPr/>
          <p:nvPr/>
        </p:nvSpPr>
        <p:spPr>
          <a:xfrm>
            <a:off x="564356" y="2651559"/>
            <a:ext cx="2538603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10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ПЛОТНОСТЬ СПЕЙСИНГОВ · GUE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228975" y="2558690"/>
            <a:ext cx="2686050" cy="723081"/>
          </a:xfrm>
          <a:prstGeom prst="roundRect">
            <a:avLst>
              <a:gd name="adj" fmla="val 10538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3364706" y="2855826"/>
            <a:ext cx="2001366" cy="322594"/>
          </a:xfrm>
          <a:prstGeom prst="rect">
            <a:avLst/>
          </a:prstGeom>
          <a:noFill/>
          <a:ln/>
        </p:spPr>
        <p:txBody>
          <a:bodyPr wrap="square" lIns="114300" tIns="85725" rIns="114300" bIns="85725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min(s , s ) / max(s , s ) ⟨r⟩ =</a:t>
            </a:r>
            <a:endParaRPr lang="en-US" sz="844" dirty="0"/>
          </a:p>
        </p:txBody>
      </p:sp>
      <p:sp>
        <p:nvSpPr>
          <p:cNvPr id="26" name="Text 22"/>
          <p:cNvSpPr/>
          <p:nvPr/>
        </p:nvSpPr>
        <p:spPr>
          <a:xfrm>
            <a:off x="3364706" y="2651559"/>
            <a:ext cx="2538603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10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МЕТРИКА СОСЕДНИХ ОТНОШЕНИЙ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882182" y="3033080"/>
            <a:ext cx="524789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0.5996</a:t>
            </a:r>
            <a:endParaRPr lang="en-US" sz="844" dirty="0"/>
          </a:p>
        </p:txBody>
      </p:sp>
      <p:sp>
        <p:nvSpPr>
          <p:cNvPr id="28" name="Text 24"/>
          <p:cNvSpPr/>
          <p:nvPr/>
        </p:nvSpPr>
        <p:spPr>
          <a:xfrm>
            <a:off x="6029325" y="2558690"/>
            <a:ext cx="2686050" cy="723081"/>
          </a:xfrm>
          <a:prstGeom prst="roundRect">
            <a:avLst>
              <a:gd name="adj" fmla="val 10538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165056" y="2862969"/>
            <a:ext cx="1996008" cy="131159"/>
          </a:xfrm>
          <a:prstGeom prst="rect">
            <a:avLst/>
          </a:prstGeom>
          <a:noFill/>
          <a:ln/>
        </p:spPr>
        <p:txBody>
          <a:bodyPr wrap="square" lIns="114300" tIns="85725" rIns="114300" bIns="85725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R₂ (s) = 1 − [sin(πs) / (πs)]²</a:t>
            </a:r>
            <a:endParaRPr lang="en-US" sz="844" dirty="0"/>
          </a:p>
        </p:txBody>
      </p:sp>
      <p:sp>
        <p:nvSpPr>
          <p:cNvPr id="30" name="Text 26"/>
          <p:cNvSpPr/>
          <p:nvPr/>
        </p:nvSpPr>
        <p:spPr>
          <a:xfrm>
            <a:off x="6165056" y="2651559"/>
            <a:ext cx="2428875" cy="16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10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ДВУХТОЧЕЧНАЯ КОРРЕЛЯЦИЯ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28625" y="4554569"/>
            <a:ext cx="962174" cy="192024"/>
          </a:xfrm>
          <a:prstGeom prst="roundRect">
            <a:avLst>
              <a:gd name="adj" fmla="val 19841"/>
            </a:avLst>
          </a:prstGeom>
          <a:solidFill>
            <a:srgbClr val="4FC3F7">
              <a:alpha val="8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428625" y="4564856"/>
            <a:ext cx="9621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22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ДИАГНОСТИКИ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1494383" y="4546997"/>
            <a:ext cx="1944886" cy="207169"/>
          </a:xfrm>
          <a:prstGeom prst="roundRect">
            <a:avLst>
              <a:gd name="adj" fmla="val 4593098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1955267" y="4593431"/>
            <a:ext cx="153758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дисперсия числа уровней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1597968" y="4593431"/>
            <a:ext cx="173771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Σ²(L)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3546425" y="4546997"/>
            <a:ext cx="2004938" cy="207169"/>
          </a:xfrm>
          <a:prstGeom prst="roundRect">
            <a:avLst>
              <a:gd name="adj" fmla="val 4593098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007309" y="4593431"/>
            <a:ext cx="159763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статистика Дайсона–Мебты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650010" y="4593431"/>
            <a:ext cx="17977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Δ₃(L)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654948" y="4530623"/>
            <a:ext cx="1471947" cy="239916"/>
          </a:xfrm>
          <a:prstGeom prst="roundRect">
            <a:avLst>
              <a:gd name="adj" fmla="val 3966169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5939358" y="4593431"/>
            <a:ext cx="2776017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тест распределений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762104" y="4593431"/>
            <a:ext cx="125763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80F1B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28625" y="4961334"/>
            <a:ext cx="7864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· Монография v21 · Авторская редакция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8284291" y="4961334"/>
            <a:ext cx="4539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4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pPr algn="l" indent="0" marL="0">
              <a:buNone/>
            </a:pPr>
            <a:r>
              <a:rPr lang="en-US" sz="800" spc="5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0197" y="-1139428"/>
            <a:ext cx="2850356" cy="2850356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868466" y="3328988"/>
            <a:ext cx="4275534" cy="648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4725" b="1" dirty="0">
                <a:solidFill>
                  <a:srgbClr val="FFB74D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x³y+y³z+z³x</a:t>
            </a:r>
            <a:endParaRPr lang="en-US" sz="4725" dirty="0"/>
          </a:p>
        </p:txBody>
      </p:sp>
      <p:sp>
        <p:nvSpPr>
          <p:cNvPr id="5" name="Shape 2"/>
          <p:cNvSpPr/>
          <p:nvPr/>
        </p:nvSpPr>
        <p:spPr>
          <a:xfrm>
            <a:off x="428625" y="976350"/>
            <a:ext cx="3908413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33466" y="972778"/>
            <a:ext cx="0" cy="545716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514921"/>
            <a:ext cx="3908413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9341" y="972778"/>
            <a:ext cx="0" cy="545716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94200" y="979922"/>
            <a:ext cx="4221175" cy="0"/>
          </a:xfrm>
          <a:prstGeom prst="line">
            <a:avLst/>
          </a:prstGeom>
          <a:noFill/>
          <a:ln w="14288">
            <a:solidFill>
              <a:srgbClr val="FFB7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11803" y="972778"/>
            <a:ext cx="0" cy="2082515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94200" y="3051721"/>
            <a:ext cx="422117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97772" y="972778"/>
            <a:ext cx="0" cy="2082515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44219" y="2730252"/>
            <a:ext cx="3921137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8625" y="314325"/>
            <a:ext cx="863600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БЛОК 1 · КВАРТИКА КЛЕЙНА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28625" y="500063"/>
            <a:ext cx="8636000" cy="32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Блок 1: Квартика Клейна и </a:t>
            </a:r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64 спинорные структуры</a:t>
            </a:r>
            <a:endParaRPr lang="en-US" sz="2081" dirty="0"/>
          </a:p>
        </p:txBody>
      </p:sp>
      <p:sp>
        <p:nvSpPr>
          <p:cNvPr id="17" name="Text 14"/>
          <p:cNvSpPr/>
          <p:nvPr/>
        </p:nvSpPr>
        <p:spPr>
          <a:xfrm>
            <a:off x="428625" y="972778"/>
            <a:ext cx="3908413" cy="545716"/>
          </a:xfrm>
          <a:prstGeom prst="roundRect">
            <a:avLst>
              <a:gd name="adj" fmla="val 13963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64356" y="1269913"/>
            <a:ext cx="1234641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x³y + y³z + z³x =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64356" y="1065647"/>
            <a:ext cx="365123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10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КВАРТИКА КЛЕЙНА · CP²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798997" y="1269913"/>
            <a:ext cx="109835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2197" y="1622078"/>
            <a:ext cx="3901269" cy="1429643"/>
          </a:xfrm>
          <a:prstGeom prst="roundRect">
            <a:avLst>
              <a:gd name="adj" fmla="val 6663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78644" y="1754237"/>
            <a:ext cx="3718103" cy="17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Группа автоморфизмов PSL(2,7)</a:t>
            </a:r>
            <a:endParaRPr lang="en-US" sz="956" dirty="0"/>
          </a:p>
        </p:txBody>
      </p:sp>
      <p:sp>
        <p:nvSpPr>
          <p:cNvPr id="23" name="Text 20"/>
          <p:cNvSpPr/>
          <p:nvPr/>
        </p:nvSpPr>
        <p:spPr>
          <a:xfrm>
            <a:off x="578644" y="1969219"/>
            <a:ext cx="3608375" cy="50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Граф Клейна: 56 вершин, степень d = 3. На квартике определены 64 спинорные структуры (θ-характеристики) — полный перебор даёт GUE-статистику ровно на одной из них.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578644" y="2522560"/>
            <a:ext cx="1471947" cy="239916"/>
          </a:xfrm>
          <a:prstGeom prst="roundRect">
            <a:avLst>
              <a:gd name="adj" fmla="val 3966169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223144" y="2585368"/>
            <a:ext cx="86316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автоморфизмы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85800" y="2585368"/>
            <a:ext cx="125763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PSL(2,7)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122029" y="2522560"/>
            <a:ext cx="751768" cy="239916"/>
          </a:xfrm>
          <a:prstGeom prst="roundRect">
            <a:avLst>
              <a:gd name="adj" fmla="val 3966169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406439" y="2585368"/>
            <a:ext cx="50307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вершин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229185" y="2585368"/>
            <a:ext cx="53745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56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945234" y="2522560"/>
            <a:ext cx="511671" cy="239916"/>
          </a:xfrm>
          <a:prstGeom prst="roundRect">
            <a:avLst>
              <a:gd name="adj" fmla="val 3966169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169593" y="2585368"/>
            <a:ext cx="101742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3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052390" y="2585368"/>
            <a:ext cx="29735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494200" y="972778"/>
            <a:ext cx="4221175" cy="2082515"/>
          </a:xfrm>
          <a:prstGeom prst="roundRect">
            <a:avLst>
              <a:gd name="adj" fmla="val 4574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621359" y="1105366"/>
            <a:ext cx="1331707" cy="192024"/>
          </a:xfrm>
          <a:prstGeom prst="roundRect">
            <a:avLst>
              <a:gd name="adj" fmla="val 19841"/>
            </a:avLst>
          </a:prstGeom>
          <a:solidFill>
            <a:srgbClr val="FFB74D">
              <a:alpha val="8000"/>
            </a:srgbClr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644219" y="1115653"/>
            <a:ext cx="12859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22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 БЛОКА 1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644219" y="1372828"/>
            <a:ext cx="3921137" cy="29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13" b="1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idx = 38 </a:t>
            </a:r>
            <a:pPr algn="l" indent="0" marL="0">
              <a:buNone/>
            </a:pPr>
            <a:r>
              <a:rPr lang="en-US" sz="900" b="1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единственная из 64</a:t>
            </a:r>
            <a:endParaRPr lang="en-US" sz="1913" dirty="0"/>
          </a:p>
        </p:txBody>
      </p:sp>
      <p:sp>
        <p:nvSpPr>
          <p:cNvPr id="37" name="Text 34"/>
          <p:cNvSpPr/>
          <p:nvPr/>
        </p:nvSpPr>
        <p:spPr>
          <a:xfrm>
            <a:off x="4644219" y="1730015"/>
            <a:ext cx="3921137" cy="50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нечётная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θ-характеристика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голономия =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44" dirty="0"/>
          </a:p>
        </p:txBody>
      </p:sp>
      <p:sp>
        <p:nvSpPr>
          <p:cNvPr id="38" name="Text 35"/>
          <p:cNvSpPr/>
          <p:nvPr/>
        </p:nvSpPr>
        <p:spPr>
          <a:xfrm>
            <a:off x="4644219" y="2348061"/>
            <a:ext cx="2096585" cy="331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38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 = 0.598</a:t>
            </a:r>
            <a:endParaRPr lang="en-US" sz="2138" dirty="0"/>
          </a:p>
        </p:txBody>
      </p:sp>
      <p:sp>
        <p:nvSpPr>
          <p:cNvPr id="39" name="Text 36"/>
          <p:cNvSpPr/>
          <p:nvPr/>
        </p:nvSpPr>
        <p:spPr>
          <a:xfrm>
            <a:off x="6210374" y="2483793"/>
            <a:ext cx="235498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GUE-согласие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644219" y="2726680"/>
            <a:ext cx="4030865" cy="192881"/>
          </a:xfrm>
          <a:prstGeom prst="rect">
            <a:avLst/>
          </a:prstGeom>
          <a:noFill/>
          <a:ln/>
        </p:spPr>
        <p:txBody>
          <a:bodyPr wrap="square" lIns="0" tIns="71438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остальные 63 структуры: p ≈ 0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32197" y="3173164"/>
            <a:ext cx="8279606" cy="1581001"/>
          </a:xfrm>
          <a:prstGeom prst="roundRect">
            <a:avLst>
              <a:gd name="adj" fmla="val 6025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555784" y="3388352"/>
            <a:ext cx="1343762" cy="192024"/>
          </a:xfrm>
          <a:prstGeom prst="roundRect">
            <a:avLst>
              <a:gd name="adj" fmla="val 19841"/>
            </a:avLst>
          </a:prstGeom>
          <a:solidFill>
            <a:srgbClr val="4FC3F7">
              <a:alpha val="8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78644" y="3398639"/>
            <a:ext cx="129804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22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ЗОЛОТОЙ СТАНДАРТ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78644" y="3627239"/>
            <a:ext cx="2851059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Пермутационный тест</a:t>
            </a:r>
            <a:endParaRPr lang="en-US" sz="956" dirty="0"/>
          </a:p>
        </p:txBody>
      </p:sp>
      <p:sp>
        <p:nvSpPr>
          <p:cNvPr id="45" name="Text 42"/>
          <p:cNvSpPr/>
          <p:nvPr/>
        </p:nvSpPr>
        <p:spPr>
          <a:xfrm>
            <a:off x="3411810" y="3308896"/>
            <a:ext cx="2708151" cy="566031"/>
          </a:xfrm>
          <a:prstGeom prst="roundRect">
            <a:avLst>
              <a:gd name="adj" fmla="val 16828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3529682" y="3412480"/>
            <a:ext cx="2472407" cy="187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6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l" indent="0" marL="0">
              <a:lnSpc>
                <a:spcPts val="1100"/>
              </a:lnSpc>
              <a:buNone/>
            </a:pPr>
            <a:r>
              <a:rPr lang="en-US" sz="800" b="1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</a:t>
            </a:r>
            <a:pPr algn="l" indent="0" marL="0">
              <a:lnSpc>
                <a:spcPts val="1100"/>
              </a:lnSpc>
              <a:buNone/>
            </a:pPr>
            <a:r>
              <a:rPr lang="en-US" sz="800" b="1" baseline="3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</a:t>
            </a:r>
            <a:pPr algn="l" indent="0" marL="0">
              <a:lnSpc>
                <a:spcPts val="1100"/>
              </a:lnSpc>
              <a:buNone/>
            </a:pPr>
            <a:r>
              <a:rPr lang="en-US" sz="956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0.9963</a:t>
            </a:r>
            <a:endParaRPr lang="en-US" sz="956" dirty="0"/>
          </a:p>
        </p:txBody>
      </p:sp>
      <p:sp>
        <p:nvSpPr>
          <p:cNvPr id="47" name="Text 44"/>
          <p:cNvSpPr/>
          <p:nvPr/>
        </p:nvSpPr>
        <p:spPr>
          <a:xfrm>
            <a:off x="3529682" y="3636392"/>
            <a:ext cx="2472407" cy="1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наблюдаемое значение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241405" y="3318383"/>
            <a:ext cx="2320268" cy="547055"/>
          </a:xfrm>
          <a:prstGeom prst="roundRect">
            <a:avLst>
              <a:gd name="adj" fmla="val 17411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359277" y="3421968"/>
            <a:ext cx="2084524" cy="167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6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⟨r</a:t>
            </a:r>
            <a:pPr algn="l" indent="0" marL="0">
              <a:lnSpc>
                <a:spcPts val="1100"/>
              </a:lnSpc>
              <a:buNone/>
            </a:pPr>
            <a:r>
              <a:rPr lang="en-US" sz="800" b="1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ts val="1100"/>
              </a:lnSpc>
              <a:buNone/>
            </a:pPr>
            <a:r>
              <a:rPr lang="en-US" sz="956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⟩ = 0.001 ± 0.071</a:t>
            </a:r>
            <a:endParaRPr lang="en-US" sz="956" dirty="0"/>
          </a:p>
        </p:txBody>
      </p:sp>
      <p:sp>
        <p:nvSpPr>
          <p:cNvPr id="50" name="Text 47"/>
          <p:cNvSpPr/>
          <p:nvPr/>
        </p:nvSpPr>
        <p:spPr>
          <a:xfrm>
            <a:off x="6359277" y="3626904"/>
            <a:ext cx="2084524" cy="1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нулевое распределение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82216" y="3996370"/>
            <a:ext cx="2708151" cy="622064"/>
          </a:xfrm>
          <a:prstGeom prst="roundRect">
            <a:avLst>
              <a:gd name="adj" fmla="val 15312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700088" y="4099954"/>
            <a:ext cx="2472407" cy="248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 = 14.10</a:t>
            </a:r>
            <a:endParaRPr lang="en-US" sz="1575" dirty="0"/>
          </a:p>
        </p:txBody>
      </p:sp>
      <p:sp>
        <p:nvSpPr>
          <p:cNvPr id="53" name="Text 50"/>
          <p:cNvSpPr/>
          <p:nvPr/>
        </p:nvSpPr>
        <p:spPr>
          <a:xfrm>
            <a:off x="700088" y="4379900"/>
            <a:ext cx="2472407" cy="1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Z-score значимость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80F1B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428625" y="4961334"/>
            <a:ext cx="7864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· Монография v21 · Авторская редакция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8284291" y="4961334"/>
            <a:ext cx="4539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4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pPr algn="l" indent="0" marL="0">
              <a:buNone/>
            </a:pPr>
            <a:r>
              <a:rPr lang="en-US" sz="800" spc="5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139428" y="3504009"/>
            <a:ext cx="2993231" cy="2993231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992057" y="257175"/>
            <a:ext cx="2151943" cy="67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950" b="1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∮A·dl</a:t>
            </a:r>
            <a:endParaRPr lang="en-US" sz="4950" dirty="0"/>
          </a:p>
        </p:txBody>
      </p:sp>
      <p:sp>
        <p:nvSpPr>
          <p:cNvPr id="5" name="Shape 2"/>
          <p:cNvSpPr/>
          <p:nvPr/>
        </p:nvSpPr>
        <p:spPr>
          <a:xfrm>
            <a:off x="428625" y="2382775"/>
            <a:ext cx="2676451" cy="0"/>
          </a:xfrm>
          <a:prstGeom prst="line">
            <a:avLst/>
          </a:prstGeom>
          <a:noFill/>
          <a:ln w="14288">
            <a:solidFill>
              <a:srgbClr val="4FC3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101504" y="2375632"/>
            <a:ext cx="0" cy="2382106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4754166"/>
            <a:ext cx="2676451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2197" y="2375632"/>
            <a:ext cx="0" cy="2382106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33663" y="2382775"/>
            <a:ext cx="2676562" cy="0"/>
          </a:xfrm>
          <a:prstGeom prst="line">
            <a:avLst/>
          </a:prstGeom>
          <a:noFill/>
          <a:ln w="14288">
            <a:solidFill>
              <a:srgbClr val="4FC3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06653" y="2375632"/>
            <a:ext cx="0" cy="2382106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33663" y="4754166"/>
            <a:ext cx="2676562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37235" y="2375632"/>
            <a:ext cx="0" cy="2382106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3682" y="2751348"/>
            <a:ext cx="237652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56635" y="2747776"/>
            <a:ext cx="0" cy="362992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83682" y="3107196"/>
            <a:ext cx="237652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94397" y="2747776"/>
            <a:ext cx="0" cy="362992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8813" y="2382775"/>
            <a:ext cx="2676451" cy="0"/>
          </a:xfrm>
          <a:prstGeom prst="line">
            <a:avLst/>
          </a:prstGeom>
          <a:noFill/>
          <a:ln w="14288">
            <a:solidFill>
              <a:srgbClr val="FFB74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711692" y="2375632"/>
            <a:ext cx="0" cy="2382106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38813" y="4754166"/>
            <a:ext cx="2676451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42385" y="2375632"/>
            <a:ext cx="0" cy="2382106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8625" y="314325"/>
            <a:ext cx="863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БЛОК 2 · ГЕОМЕТРИЯ ПРОТИВ ДИНАМИКИ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28625" y="500063"/>
            <a:ext cx="8636000" cy="32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Блок 2: AB-облако как </a:t>
            </a:r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фазовый резонатор</a:t>
            </a:r>
            <a:endParaRPr lang="en-US" sz="2081" dirty="0"/>
          </a:p>
        </p:txBody>
      </p:sp>
      <p:sp>
        <p:nvSpPr>
          <p:cNvPr id="24" name="Text 21"/>
          <p:cNvSpPr/>
          <p:nvPr/>
        </p:nvSpPr>
        <p:spPr>
          <a:xfrm>
            <a:off x="432197" y="976350"/>
            <a:ext cx="8279606" cy="1267123"/>
          </a:xfrm>
          <a:prstGeom prst="roundRect">
            <a:avLst>
              <a:gd name="adj" fmla="val 751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10791" y="1126368"/>
            <a:ext cx="1778794" cy="444252"/>
          </a:xfrm>
          <a:prstGeom prst="roundRect">
            <a:avLst>
              <a:gd name="adj" fmla="val 17152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28663" y="1201378"/>
            <a:ext cx="154305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тор</a:t>
            </a:r>
            <a:endParaRPr lang="en-US" sz="956" dirty="0"/>
          </a:p>
        </p:txBody>
      </p:sp>
      <p:sp>
        <p:nvSpPr>
          <p:cNvPr id="27" name="Text 24"/>
          <p:cNvSpPr/>
          <p:nvPr/>
        </p:nvSpPr>
        <p:spPr>
          <a:xfrm>
            <a:off x="728663" y="1365684"/>
            <a:ext cx="1543050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≈ 0.937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10791" y="1649202"/>
            <a:ext cx="1778794" cy="444252"/>
          </a:xfrm>
          <a:prstGeom prst="roundRect">
            <a:avLst>
              <a:gd name="adj" fmla="val 17152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28663" y="1724211"/>
            <a:ext cx="154305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поверхность Клейна</a:t>
            </a:r>
            <a:endParaRPr lang="en-US" sz="956" dirty="0"/>
          </a:p>
        </p:txBody>
      </p:sp>
      <p:sp>
        <p:nvSpPr>
          <p:cNvPr id="30" name="Text 27"/>
          <p:cNvSpPr/>
          <p:nvPr/>
        </p:nvSpPr>
        <p:spPr>
          <a:xfrm>
            <a:off x="728663" y="1888517"/>
            <a:ext cx="1543050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≈ 0.937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550319" y="1488467"/>
            <a:ext cx="27157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32" name="Text 29"/>
          <p:cNvSpPr/>
          <p:nvPr/>
        </p:nvSpPr>
        <p:spPr>
          <a:xfrm>
            <a:off x="2979055" y="1268462"/>
            <a:ext cx="5557726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≈ 0.937</a:t>
            </a:r>
            <a:endParaRPr lang="en-US" sz="2025" dirty="0"/>
          </a:p>
        </p:txBody>
      </p:sp>
      <p:sp>
        <p:nvSpPr>
          <p:cNvPr id="33" name="Text 30"/>
          <p:cNvSpPr/>
          <p:nvPr/>
        </p:nvSpPr>
        <p:spPr>
          <a:xfrm>
            <a:off x="2979055" y="1608460"/>
            <a:ext cx="555772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GUE-статистика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зависит от геометрии подложки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источник GUE —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динамика облака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а не геометрия.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28625" y="2375632"/>
            <a:ext cx="2676451" cy="2382106"/>
          </a:xfrm>
          <a:prstGeom prst="roundRect">
            <a:avLst>
              <a:gd name="adj" fmla="val 3999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78644" y="2518507"/>
            <a:ext cx="2376413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Порог числа вихрей</a:t>
            </a:r>
            <a:endParaRPr lang="en-US" sz="956" dirty="0"/>
          </a:p>
        </p:txBody>
      </p:sp>
      <p:sp>
        <p:nvSpPr>
          <p:cNvPr id="36" name="Text 33"/>
          <p:cNvSpPr/>
          <p:nvPr/>
        </p:nvSpPr>
        <p:spPr>
          <a:xfrm>
            <a:off x="578644" y="2733489"/>
            <a:ext cx="2376413" cy="525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GUE-статистика формируется только при числе вихрей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ts val="1223"/>
              </a:lnSpc>
              <a:buNone/>
            </a:pPr>
            <a:r>
              <a:rPr lang="en-US" sz="800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выше порога; ниже порога спектр остаётся нерегулярным.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3233663" y="2375632"/>
            <a:ext cx="2676562" cy="2382106"/>
          </a:xfrm>
          <a:prstGeom prst="roundRect">
            <a:avLst>
              <a:gd name="adj" fmla="val 3999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383682" y="2518507"/>
            <a:ext cx="2376525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Фазовая диаграмма</a:t>
            </a:r>
            <a:endParaRPr lang="en-US" sz="956" dirty="0"/>
          </a:p>
        </p:txBody>
      </p:sp>
      <p:sp>
        <p:nvSpPr>
          <p:cNvPr id="39" name="Text 36"/>
          <p:cNvSpPr/>
          <p:nvPr/>
        </p:nvSpPr>
        <p:spPr>
          <a:xfrm>
            <a:off x="3383682" y="2747776"/>
            <a:ext cx="2376525" cy="362992"/>
          </a:xfrm>
          <a:prstGeom prst="roundRect">
            <a:avLst>
              <a:gd name="adj" fmla="val 20992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383682" y="2747776"/>
            <a:ext cx="2376525" cy="392031"/>
          </a:xfrm>
          <a:prstGeom prst="rect">
            <a:avLst/>
          </a:prstGeom>
          <a:noFill/>
          <a:ln/>
        </p:spPr>
        <p:txBody>
          <a:bodyPr wrap="none" lIns="114300" tIns="85725" rIns="114300" bIns="85725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p(GUE)(N</a:t>
            </a:r>
            <a:pPr algn="l" indent="0" marL="0">
              <a:lnSpc>
                <a:spcPts val="1308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W)</a:t>
            </a:r>
            <a:endParaRPr lang="en-US" sz="844" dirty="0"/>
          </a:p>
        </p:txBody>
      </p:sp>
      <p:sp>
        <p:nvSpPr>
          <p:cNvPr id="41" name="Text 38"/>
          <p:cNvSpPr/>
          <p:nvPr/>
        </p:nvSpPr>
        <p:spPr>
          <a:xfrm>
            <a:off x="3383682" y="3167918"/>
            <a:ext cx="2376525" cy="50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Карта фаз в плоскости «число вихрей × беспорядок»: GUE-фаза занимает устойчивую область.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6038813" y="2375632"/>
            <a:ext cx="2676451" cy="2382106"/>
          </a:xfrm>
          <a:prstGeom prst="roundRect">
            <a:avLst>
              <a:gd name="adj" fmla="val 3999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6188832" y="2518507"/>
            <a:ext cx="2376413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Парадокс затухания</a:t>
            </a:r>
            <a:endParaRPr lang="en-US" sz="956" dirty="0"/>
          </a:p>
        </p:txBody>
      </p:sp>
      <p:sp>
        <p:nvSpPr>
          <p:cNvPr id="44" name="Text 41"/>
          <p:cNvSpPr/>
          <p:nvPr/>
        </p:nvSpPr>
        <p:spPr>
          <a:xfrm>
            <a:off x="6188832" y="2733489"/>
            <a:ext cx="2376413" cy="511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Затухание фазовой когерентности с ростом беспорядка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не разрушает GUE-подпись — указание на резонаторную природу облака.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80F1B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28625" y="4961334"/>
            <a:ext cx="7864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· Монография v21 · Авторская редакция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8284291" y="4961334"/>
            <a:ext cx="4539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4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pPr algn="l" indent="0" marL="0">
              <a:buNone/>
            </a:pPr>
            <a:r>
              <a:rPr lang="en-US" sz="800" spc="5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61634" y="3504009"/>
            <a:ext cx="2850356" cy="2850356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952320" y="257175"/>
            <a:ext cx="1191680" cy="70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5175" b="1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</a:t>
            </a:r>
            <a:endParaRPr lang="en-US" sz="5175" dirty="0"/>
          </a:p>
        </p:txBody>
      </p:sp>
      <p:sp>
        <p:nvSpPr>
          <p:cNvPr id="5" name="Shape 2"/>
          <p:cNvSpPr/>
          <p:nvPr/>
        </p:nvSpPr>
        <p:spPr>
          <a:xfrm>
            <a:off x="5572125" y="1841971"/>
            <a:ext cx="3143250" cy="0"/>
          </a:xfrm>
          <a:prstGeom prst="line">
            <a:avLst/>
          </a:prstGeom>
          <a:noFill/>
          <a:ln w="14288">
            <a:solidFill>
              <a:srgbClr val="FFB74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11803" y="1834828"/>
            <a:ext cx="0" cy="292291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2125" y="4754166"/>
            <a:ext cx="31432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75697" y="1834828"/>
            <a:ext cx="0" cy="292291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8625" y="314325"/>
            <a:ext cx="863600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БЛОК 3 · СОПОСТАВЛЕНИЕ СПЕКТРОВ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28625" y="500063"/>
            <a:ext cx="8636000" cy="32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Блок 3: Тест Монтгомери — </a:t>
            </a:r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AB-облако vs нули ζ</a:t>
            </a:r>
            <a:endParaRPr lang="en-US" sz="2081" dirty="0"/>
          </a:p>
        </p:txBody>
      </p:sp>
      <p:sp>
        <p:nvSpPr>
          <p:cNvPr id="12" name="Text 9"/>
          <p:cNvSpPr/>
          <p:nvPr/>
        </p:nvSpPr>
        <p:spPr>
          <a:xfrm>
            <a:off x="432197" y="976350"/>
            <a:ext cx="1989534" cy="740606"/>
          </a:xfrm>
          <a:prstGeom prst="roundRect">
            <a:avLst>
              <a:gd name="adj" fmla="val 12861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50069" y="1079934"/>
            <a:ext cx="1753791" cy="23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463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 = 500</a:t>
            </a:r>
            <a:endParaRPr lang="en-US" sz="1463" dirty="0"/>
          </a:p>
        </p:txBody>
      </p:sp>
      <p:sp>
        <p:nvSpPr>
          <p:cNvPr id="14" name="Text 11"/>
          <p:cNvSpPr/>
          <p:nvPr/>
        </p:nvSpPr>
        <p:spPr>
          <a:xfrm>
            <a:off x="550069" y="1343471"/>
            <a:ext cx="1753791" cy="2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сертифицированных нулей ζ · mpmath, 50 знаков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528888" y="976350"/>
            <a:ext cx="1989534" cy="740606"/>
          </a:xfrm>
          <a:prstGeom prst="roundRect">
            <a:avLst>
              <a:gd name="adj" fmla="val 12861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646759" y="1079934"/>
            <a:ext cx="1753791" cy="24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ts val="1553"/>
              </a:lnSpc>
              <a:buNone/>
            </a:pPr>
            <a:r>
              <a:rPr lang="en-US" sz="918" b="1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lnSpc>
                <a:spcPts val="1553"/>
              </a:lnSpc>
              <a:buNone/>
            </a:pPr>
            <a:r>
              <a:rPr lang="en-US" sz="1350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25 · W = 4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2646759" y="1355303"/>
            <a:ext cx="1753791" cy="148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параметры AB-облака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625578" y="976350"/>
            <a:ext cx="1989534" cy="740606"/>
          </a:xfrm>
          <a:prstGeom prst="roundRect">
            <a:avLst>
              <a:gd name="adj" fmla="val 12861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743450" y="1079934"/>
            <a:ext cx="1753791" cy="23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463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KS = 0.047</a:t>
            </a:r>
            <a:endParaRPr lang="en-US" sz="1463" dirty="0"/>
          </a:p>
        </p:txBody>
      </p:sp>
      <p:sp>
        <p:nvSpPr>
          <p:cNvPr id="20" name="Text 17"/>
          <p:cNvSpPr/>
          <p:nvPr/>
        </p:nvSpPr>
        <p:spPr>
          <a:xfrm>
            <a:off x="4743450" y="1343471"/>
            <a:ext cx="1859018" cy="14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KS-расстояние распределений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722269" y="976350"/>
            <a:ext cx="1989534" cy="740606"/>
          </a:xfrm>
          <a:prstGeom prst="roundRect">
            <a:avLst>
              <a:gd name="adj" fmla="val 12861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840141" y="1079934"/>
            <a:ext cx="1753791" cy="23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463" b="1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 = 0.27</a:t>
            </a:r>
            <a:endParaRPr lang="en-US" sz="1463" dirty="0"/>
          </a:p>
        </p:txBody>
      </p:sp>
      <p:sp>
        <p:nvSpPr>
          <p:cNvPr id="23" name="Text 20"/>
          <p:cNvSpPr/>
          <p:nvPr/>
        </p:nvSpPr>
        <p:spPr>
          <a:xfrm>
            <a:off x="6840141" y="1343471"/>
            <a:ext cx="1753791" cy="148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H₀ не отвергается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32197" y="1838399"/>
            <a:ext cx="5022056" cy="2915766"/>
          </a:xfrm>
          <a:prstGeom prst="roundRect">
            <a:avLst>
              <a:gd name="adj" fmla="val 326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78644" y="1970559"/>
            <a:ext cx="4838891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10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L²-МЕТРИКИ МЕЖДУ РАСПРЕДЕЛЕНИЯМИ СПЕЙСИНГОВ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78644" y="2188443"/>
            <a:ext cx="1554480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L²(AB, ζ)</a:t>
            </a:r>
            <a:endParaRPr lang="en-US" sz="844" dirty="0"/>
          </a:p>
        </p:txBody>
      </p:sp>
      <p:sp>
        <p:nvSpPr>
          <p:cNvPr id="27" name="Text 24"/>
          <p:cNvSpPr/>
          <p:nvPr/>
        </p:nvSpPr>
        <p:spPr>
          <a:xfrm>
            <a:off x="1882378" y="2188443"/>
            <a:ext cx="2693194" cy="121444"/>
          </a:xfrm>
          <a:prstGeom prst="roundRect">
            <a:avLst>
              <a:gd name="adj" fmla="val 31372"/>
            </a:avLst>
          </a:prstGeom>
          <a:solidFill>
            <a:srgbClr val="1D3350">
              <a:alpha val="50000"/>
            </a:srgbClr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0" y="2192015"/>
            <a:ext cx="75121" cy="1143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664869" y="2188443"/>
            <a:ext cx="642938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0.0127</a:t>
            </a:r>
            <a:endParaRPr lang="en-US" sz="844" dirty="0"/>
          </a:p>
        </p:txBody>
      </p:sp>
      <p:sp>
        <p:nvSpPr>
          <p:cNvPr id="30" name="Text 26"/>
          <p:cNvSpPr/>
          <p:nvPr/>
        </p:nvSpPr>
        <p:spPr>
          <a:xfrm>
            <a:off x="578644" y="2417043"/>
            <a:ext cx="1423321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L²(AB, GUE)</a:t>
            </a:r>
            <a:endParaRPr lang="en-US" sz="844" dirty="0"/>
          </a:p>
        </p:txBody>
      </p:sp>
      <p:sp>
        <p:nvSpPr>
          <p:cNvPr id="31" name="Text 27"/>
          <p:cNvSpPr/>
          <p:nvPr/>
        </p:nvSpPr>
        <p:spPr>
          <a:xfrm>
            <a:off x="1882378" y="2417043"/>
            <a:ext cx="2693194" cy="121444"/>
          </a:xfrm>
          <a:prstGeom prst="roundRect">
            <a:avLst>
              <a:gd name="adj" fmla="val 31372"/>
            </a:avLst>
          </a:prstGeom>
          <a:solidFill>
            <a:srgbClr val="1D3350">
              <a:alpha val="50000"/>
            </a:srgbClr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50" y="2420615"/>
            <a:ext cx="2567843" cy="1143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664869" y="2417043"/>
            <a:ext cx="642938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0.4338</a:t>
            </a:r>
            <a:endParaRPr lang="en-US" sz="844" dirty="0"/>
          </a:p>
        </p:txBody>
      </p:sp>
      <p:sp>
        <p:nvSpPr>
          <p:cNvPr id="34" name="Text 29"/>
          <p:cNvSpPr/>
          <p:nvPr/>
        </p:nvSpPr>
        <p:spPr>
          <a:xfrm>
            <a:off x="578644" y="2645643"/>
            <a:ext cx="1423321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L²(ζ, GUE)</a:t>
            </a:r>
            <a:endParaRPr lang="en-US" sz="844" dirty="0"/>
          </a:p>
        </p:txBody>
      </p:sp>
      <p:sp>
        <p:nvSpPr>
          <p:cNvPr id="35" name="Text 30"/>
          <p:cNvSpPr/>
          <p:nvPr/>
        </p:nvSpPr>
        <p:spPr>
          <a:xfrm>
            <a:off x="1882378" y="2645643"/>
            <a:ext cx="2693194" cy="121444"/>
          </a:xfrm>
          <a:prstGeom prst="roundRect">
            <a:avLst>
              <a:gd name="adj" fmla="val 31372"/>
            </a:avLst>
          </a:prstGeom>
          <a:solidFill>
            <a:srgbClr val="1D3350">
              <a:alpha val="50000"/>
            </a:srgbClr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950" y="2649215"/>
            <a:ext cx="2686050" cy="11430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664869" y="2645643"/>
            <a:ext cx="642938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0.4536</a:t>
            </a:r>
            <a:endParaRPr lang="en-US" sz="844" dirty="0"/>
          </a:p>
        </p:txBody>
      </p:sp>
      <p:sp>
        <p:nvSpPr>
          <p:cNvPr id="38" name="Text 32"/>
          <p:cNvSpPr/>
          <p:nvPr/>
        </p:nvSpPr>
        <p:spPr>
          <a:xfrm>
            <a:off x="578644" y="4380905"/>
            <a:ext cx="4838891" cy="241102"/>
          </a:xfrm>
          <a:prstGeom prst="rect">
            <a:avLst/>
          </a:prstGeom>
          <a:noFill/>
          <a:ln/>
        </p:spPr>
        <p:txBody>
          <a:bodyPr wrap="square" lIns="0" tIns="85725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облако ближе к нулям ζ, чем обе теории друг к другу</a:t>
            </a:r>
            <a:endParaRPr lang="en-US" sz="844" dirty="0"/>
          </a:p>
        </p:txBody>
      </p:sp>
      <p:sp>
        <p:nvSpPr>
          <p:cNvPr id="39" name="Text 33"/>
          <p:cNvSpPr/>
          <p:nvPr/>
        </p:nvSpPr>
        <p:spPr>
          <a:xfrm>
            <a:off x="5572125" y="1834828"/>
            <a:ext cx="3143250" cy="2922910"/>
          </a:xfrm>
          <a:prstGeom prst="roundRect">
            <a:avLst>
              <a:gd name="adj" fmla="val 3259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5699284" y="2851343"/>
            <a:ext cx="1025195" cy="192024"/>
          </a:xfrm>
          <a:prstGeom prst="roundRect">
            <a:avLst>
              <a:gd name="adj" fmla="val 19841"/>
            </a:avLst>
          </a:prstGeom>
          <a:solidFill>
            <a:srgbClr val="FFB74D">
              <a:alpha val="8000"/>
            </a:srgbClr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5722144" y="2861630"/>
            <a:ext cx="9794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22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ДОБРОТНОСТЬ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5722144" y="3133092"/>
            <a:ext cx="2843212" cy="256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63" b="1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ω</a:t>
            </a:r>
            <a:pPr algn="l" indent="0" marL="0">
              <a:buNone/>
            </a:pPr>
            <a:r>
              <a:rPr lang="en-US" sz="995" b="1" baseline="-400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</a:t>
            </a:r>
            <a:pPr algn="l" indent="0" marL="0">
              <a:buNone/>
            </a:pPr>
            <a:r>
              <a:rPr lang="en-US" sz="1463" b="1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/Δω ≈ 1.056</a:t>
            </a:r>
            <a:endParaRPr lang="en-US" sz="1463" dirty="0"/>
          </a:p>
        </p:txBody>
      </p:sp>
      <p:sp>
        <p:nvSpPr>
          <p:cNvPr id="43" name="Text 37"/>
          <p:cNvSpPr/>
          <p:nvPr/>
        </p:nvSpPr>
        <p:spPr>
          <a:xfrm>
            <a:off x="5722144" y="3427326"/>
            <a:ext cx="2843213" cy="33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Добротность резонансного пика — спектр облака имеет выделенный резонанс, согласуемый с нулями ζ(s).</a:t>
            </a:r>
            <a:endParaRPr lang="en-US" sz="816" dirty="0"/>
          </a:p>
        </p:txBody>
      </p:sp>
      <p:sp>
        <p:nvSpPr>
          <p:cNvPr id="44" name="Text 38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80F1B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428625" y="4961334"/>
            <a:ext cx="7864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· Монография v21 · Авторская редакция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8284291" y="4961334"/>
            <a:ext cx="4539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4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pPr algn="l" indent="0" marL="0">
              <a:buNone/>
            </a:pPr>
            <a:r>
              <a:rPr lang="en-US" sz="800" spc="5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0197" y="3504009"/>
            <a:ext cx="2993231" cy="2993231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68839" y="257175"/>
            <a:ext cx="3075161" cy="70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5175" b="1" dirty="0">
                <a:solidFill>
                  <a:srgbClr val="FFB74D">
                    <a:alpha val="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= 1/2</a:t>
            </a:r>
            <a:endParaRPr lang="en-US" sz="5175" dirty="0"/>
          </a:p>
        </p:txBody>
      </p:sp>
      <p:pic>
        <p:nvPicPr>
          <p:cNvPr id="5" name="Image 1" descr="/tmp/h2p-svg-1787925764360-4fkjz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44" y="1653332"/>
            <a:ext cx="3534594" cy="210707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28625" y="4387379"/>
            <a:ext cx="82867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711803" y="4383807"/>
            <a:ext cx="0" cy="373931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28625" y="4754166"/>
            <a:ext cx="82867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39341" y="4383807"/>
            <a:ext cx="0" cy="373931"/>
          </a:xfrm>
          <a:prstGeom prst="line">
            <a:avLst/>
          </a:prstGeom>
          <a:noFill/>
          <a:ln w="21431">
            <a:solidFill>
              <a:srgbClr val="FFB74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8625" y="314325"/>
            <a:ext cx="863600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БЛОК 4 · КРИТИЧЕСКАЯ ПРЯМАЯ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28625" y="500063"/>
            <a:ext cx="8636000" cy="32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Блок 4: Оптимальность критической прямой </a:t>
            </a:r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σ = 1/2</a:t>
            </a:r>
            <a:endParaRPr lang="en-US" sz="2081" dirty="0"/>
          </a:p>
        </p:txBody>
      </p:sp>
      <p:sp>
        <p:nvSpPr>
          <p:cNvPr id="13" name="Text 9"/>
          <p:cNvSpPr/>
          <p:nvPr/>
        </p:nvSpPr>
        <p:spPr>
          <a:xfrm>
            <a:off x="432197" y="976350"/>
            <a:ext cx="3827487" cy="3275298"/>
          </a:xfrm>
          <a:prstGeom prst="roundRect">
            <a:avLst>
              <a:gd name="adj" fmla="val 2908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78644" y="1108509"/>
            <a:ext cx="3644322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10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KS-РАССТОЯНИЕ AB-ОБЛАКА ДО НУЛЕЙ Ζ · СХЕМА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420419" y="2003152"/>
            <a:ext cx="4294956" cy="136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σ = 1/2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KS-расстояние AB-облака до реальных нулей ζ минимально: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KS = 0.152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σ ≠ 1/2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согласие монотонно ухудшается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Конформная конструкция вихрей через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ζ(σ + iγ)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Физическая интерпретация: критическая прямая —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граница GUE-универсальности</a:t>
            </a:r>
            <a:endParaRPr lang="en-US" sz="844" dirty="0"/>
          </a:p>
        </p:txBody>
      </p:sp>
      <p:sp>
        <p:nvSpPr>
          <p:cNvPr id="16" name="Text 12"/>
          <p:cNvSpPr/>
          <p:nvPr/>
        </p:nvSpPr>
        <p:spPr>
          <a:xfrm>
            <a:off x="428625" y="4383807"/>
            <a:ext cx="8286750" cy="373931"/>
          </a:xfrm>
          <a:prstGeom prst="roundRect">
            <a:avLst>
              <a:gd name="adj" fmla="val 20378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28625" y="4383807"/>
            <a:ext cx="8286750" cy="403845"/>
          </a:xfrm>
          <a:prstGeom prst="rect">
            <a:avLst/>
          </a:prstGeom>
          <a:noFill/>
          <a:ln/>
        </p:spPr>
        <p:txBody>
          <a:bodyPr wrap="square" lIns="114300" tIns="85725" rIns="114300" bIns="85725" rtlCol="0" anchor="t"/>
          <a:lstStyle/>
          <a:p>
            <a:pPr algn="ctr" indent="0" marL="0">
              <a:lnSpc>
                <a:spcPts val="1482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Вывод: RH получает численную </a:t>
            </a:r>
            <a:pPr algn="ctr" indent="0" marL="0">
              <a:lnSpc>
                <a:spcPts val="1482"/>
              </a:lnSpc>
              <a:buNone/>
            </a:pPr>
            <a:r>
              <a:rPr lang="en-US" sz="956" b="1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«физическую»</a:t>
            </a:r>
            <a:pPr algn="ctr" indent="0" marL="0">
              <a:lnSpc>
                <a:spcPts val="1482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проверку</a:t>
            </a:r>
            <a:endParaRPr lang="en-US" sz="956" dirty="0"/>
          </a:p>
        </p:txBody>
      </p:sp>
      <p:sp>
        <p:nvSpPr>
          <p:cNvPr id="18" name="Text 14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80F1B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28625" y="4961334"/>
            <a:ext cx="7864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· Монография v21 · Авторская редакция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8284291" y="4961334"/>
            <a:ext cx="4539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4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pPr algn="l" indent="0" marL="0">
              <a:buNone/>
            </a:pPr>
            <a:r>
              <a:rPr lang="en-US" sz="800" spc="5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0197" y="-1139428"/>
            <a:ext cx="2850356" cy="2850356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771940" y="4171950"/>
            <a:ext cx="2372060" cy="61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4FC3F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 = ±1</a:t>
            </a:r>
            <a:endParaRPr lang="en-US" sz="4500" dirty="0"/>
          </a:p>
        </p:txBody>
      </p:sp>
      <p:pic>
        <p:nvPicPr>
          <p:cNvPr id="5" name="Image 1" descr="/tmp/h2p-svg-1787925768172-yd7ih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44" y="1799220"/>
            <a:ext cx="3863876" cy="230341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49701" y="979922"/>
            <a:ext cx="3965563" cy="0"/>
          </a:xfrm>
          <a:prstGeom prst="line">
            <a:avLst/>
          </a:prstGeom>
          <a:noFill/>
          <a:ln w="14288">
            <a:solidFill>
              <a:srgbClr val="4FC3F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711692" y="972778"/>
            <a:ext cx="0" cy="779338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749701" y="1748544"/>
            <a:ext cx="3965563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3273" y="972778"/>
            <a:ext cx="0" cy="779338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8625" y="314325"/>
            <a:ext cx="863600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БЛОК 5 · ТОПОЛОГИЯ ЧАСТИЦ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28625" y="500063"/>
            <a:ext cx="8636000" cy="32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Блок 5: Модель </a:t>
            </a:r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электрона/позитрона</a:t>
            </a:r>
            <a:endParaRPr lang="en-US" sz="2081" dirty="0"/>
          </a:p>
        </p:txBody>
      </p:sp>
      <p:sp>
        <p:nvSpPr>
          <p:cNvPr id="13" name="Text 9"/>
          <p:cNvSpPr/>
          <p:nvPr/>
        </p:nvSpPr>
        <p:spPr>
          <a:xfrm>
            <a:off x="432197" y="976350"/>
            <a:ext cx="4156770" cy="3777816"/>
          </a:xfrm>
          <a:prstGeom prst="roundRect">
            <a:avLst>
              <a:gd name="adj" fmla="val 2521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78644" y="1108509"/>
            <a:ext cx="3973604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10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ЛИНЕЙНАЯ ДИСПЕРСИЯ ВИХРЯ Q = +1 · СХЕМА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749701" y="972778"/>
            <a:ext cx="3965563" cy="779338"/>
          </a:xfrm>
          <a:prstGeom prst="roundRect">
            <a:avLst>
              <a:gd name="adj" fmla="val 12222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899720" y="1115653"/>
            <a:ext cx="3775253" cy="17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Вихрь q = +1 при α = 1/2 → линейная дисперсия E(k)</a:t>
            </a:r>
            <a:endParaRPr lang="en-US" sz="956" dirty="0"/>
          </a:p>
        </p:txBody>
      </p:sp>
      <p:sp>
        <p:nvSpPr>
          <p:cNvPr id="17" name="Text 13"/>
          <p:cNvSpPr/>
          <p:nvPr/>
        </p:nvSpPr>
        <p:spPr>
          <a:xfrm>
            <a:off x="4899720" y="1344923"/>
            <a:ext cx="155641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88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buNone/>
            </a:pPr>
            <a:r>
              <a:rPr lang="en-US" sz="1148" b="1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buNone/>
            </a:pPr>
            <a:r>
              <a:rPr lang="en-US" sz="1688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≈ 0.125</a:t>
            </a:r>
            <a:endParaRPr lang="en-US" sz="1688" dirty="0"/>
          </a:p>
        </p:txBody>
      </p:sp>
      <p:sp>
        <p:nvSpPr>
          <p:cNvPr id="18" name="Text 14"/>
          <p:cNvSpPr/>
          <p:nvPr/>
        </p:nvSpPr>
        <p:spPr>
          <a:xfrm>
            <a:off x="6244865" y="1430648"/>
            <a:ext cx="2320379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аналог релятивистского фермиона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753273" y="1855701"/>
            <a:ext cx="3958419" cy="894643"/>
          </a:xfrm>
          <a:prstGeom prst="roundRect">
            <a:avLst>
              <a:gd name="adj" fmla="val 1064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903291" y="2163663"/>
            <a:ext cx="278606" cy="278606"/>
          </a:xfrm>
          <a:prstGeom prst="ellipse">
            <a:avLst/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899720" y="2160091"/>
            <a:ext cx="3357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+−</a:t>
            </a:r>
            <a:endParaRPr lang="en-US" sz="844" dirty="0"/>
          </a:p>
        </p:txBody>
      </p:sp>
      <p:sp>
        <p:nvSpPr>
          <p:cNvPr id="22" name="Text 18"/>
          <p:cNvSpPr/>
          <p:nvPr/>
        </p:nvSpPr>
        <p:spPr>
          <a:xfrm>
            <a:off x="5285482" y="2055502"/>
            <a:ext cx="3279763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Аннигиляция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285482" y="2232645"/>
            <a:ext cx="3279763" cy="34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Встречные вихри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 = +1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 = −1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аннигилируют как заряд-сопряжённая пара.</a:t>
            </a:r>
            <a:endParaRPr lang="en-US" sz="816" dirty="0"/>
          </a:p>
        </p:txBody>
      </p:sp>
      <p:sp>
        <p:nvSpPr>
          <p:cNvPr id="24" name="Text 20"/>
          <p:cNvSpPr/>
          <p:nvPr/>
        </p:nvSpPr>
        <p:spPr>
          <a:xfrm>
            <a:off x="4753273" y="2857500"/>
            <a:ext cx="3958419" cy="894755"/>
          </a:xfrm>
          <a:prstGeom prst="roundRect">
            <a:avLst>
              <a:gd name="adj" fmla="val 10645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903291" y="3165574"/>
            <a:ext cx="278606" cy="278606"/>
          </a:xfrm>
          <a:prstGeom prst="ellipse">
            <a:avLst/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899720" y="3162002"/>
            <a:ext cx="3357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e⁻e⁺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5285482" y="3134990"/>
            <a:ext cx="3279763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Рождение пары из вакуума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285482" y="3312133"/>
            <a:ext cx="3172048" cy="17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Пара вихрей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 = ±1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рождается из вакуумного состояния облака.</a:t>
            </a:r>
            <a:endParaRPr lang="en-US" sz="816" dirty="0"/>
          </a:p>
        </p:txBody>
      </p:sp>
      <p:sp>
        <p:nvSpPr>
          <p:cNvPr id="29" name="Text 25"/>
          <p:cNvSpPr/>
          <p:nvPr/>
        </p:nvSpPr>
        <p:spPr>
          <a:xfrm>
            <a:off x="4753273" y="3859411"/>
            <a:ext cx="3958419" cy="894755"/>
          </a:xfrm>
          <a:prstGeom prst="roundRect">
            <a:avLst>
              <a:gd name="adj" fmla="val 10645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903291" y="4167485"/>
            <a:ext cx="278606" cy="278606"/>
          </a:xfrm>
          <a:prstGeom prst="ellipse">
            <a:avLst/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899720" y="4163913"/>
            <a:ext cx="3357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ℏ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285482" y="4059213"/>
            <a:ext cx="3389491" cy="149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Спиральность и зарядовая симметрия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285482" y="4236355"/>
            <a:ext cx="3279763" cy="34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Зарядовые секторы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↔ −q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зеркальны; спиральность — внутренняя характеристика вихря.</a:t>
            </a:r>
            <a:endParaRPr lang="en-US" sz="816" dirty="0"/>
          </a:p>
        </p:txBody>
      </p:sp>
      <p:sp>
        <p:nvSpPr>
          <p:cNvPr id="34" name="Text 30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80F1B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428625" y="4961334"/>
            <a:ext cx="7864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· Монография v21 · Авторская редакция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8284291" y="4961334"/>
            <a:ext cx="4539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4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pPr algn="l" indent="0" marL="0">
              <a:buNone/>
            </a:pPr>
            <a:r>
              <a:rPr lang="en-US" sz="800" spc="5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7322" y="3432572"/>
            <a:ext cx="3136106" cy="3136106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893582" y="257175"/>
            <a:ext cx="3250418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B74D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196883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>
            <a:off x="428625" y="1584908"/>
            <a:ext cx="82867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11803" y="1581336"/>
            <a:ext cx="0" cy="766614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2344378"/>
            <a:ext cx="82867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9341" y="1581336"/>
            <a:ext cx="0" cy="766614"/>
          </a:xfrm>
          <a:prstGeom prst="line">
            <a:avLst/>
          </a:prstGeom>
          <a:noFill/>
          <a:ln w="21431">
            <a:solidFill>
              <a:srgbClr val="FFB74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8625" y="2494397"/>
            <a:ext cx="4363603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88657" y="2490825"/>
            <a:ext cx="0" cy="2266913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8625" y="4754166"/>
            <a:ext cx="4363603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9341" y="2490825"/>
            <a:ext cx="0" cy="2266913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20816" y="2494397"/>
            <a:ext cx="3794447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11692" y="2490825"/>
            <a:ext cx="0" cy="2266913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20816" y="4754166"/>
            <a:ext cx="3794447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31532" y="2490825"/>
            <a:ext cx="0" cy="2266913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8625" y="314325"/>
            <a:ext cx="863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СИНТЕЗ · КОД ДОПУСТИМЫХ СОСТОЯНИЙ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28625" y="500063"/>
            <a:ext cx="8636000" cy="32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Синтез: нули ζ как </a:t>
            </a:r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коды допустимых состояний</a:t>
            </a:r>
            <a:endParaRPr lang="en-US" sz="2081" dirty="0"/>
          </a:p>
        </p:txBody>
      </p:sp>
      <p:sp>
        <p:nvSpPr>
          <p:cNvPr id="20" name="Text 17"/>
          <p:cNvSpPr/>
          <p:nvPr/>
        </p:nvSpPr>
        <p:spPr>
          <a:xfrm>
            <a:off x="432197" y="990637"/>
            <a:ext cx="1892982" cy="444252"/>
          </a:xfrm>
          <a:prstGeom prst="roundRect">
            <a:avLst>
              <a:gd name="adj" fmla="val 17152"/>
            </a:avLst>
          </a:prstGeom>
          <a:solidFill>
            <a:srgbClr val="101F33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50069" y="1065647"/>
            <a:ext cx="165723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PSL(2,7)</a:t>
            </a:r>
            <a:endParaRPr lang="en-US" sz="956" dirty="0"/>
          </a:p>
        </p:txBody>
      </p:sp>
      <p:sp>
        <p:nvSpPr>
          <p:cNvPr id="22" name="Text 19"/>
          <p:cNvSpPr/>
          <p:nvPr/>
        </p:nvSpPr>
        <p:spPr>
          <a:xfrm>
            <a:off x="550069" y="1229953"/>
            <a:ext cx="1657238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автоморфизмы квартики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328751" y="987065"/>
            <a:ext cx="228712" cy="451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2561034" y="990637"/>
            <a:ext cx="1893094" cy="444252"/>
          </a:xfrm>
          <a:prstGeom prst="roundRect">
            <a:avLst>
              <a:gd name="adj" fmla="val 17152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678906" y="1065647"/>
            <a:ext cx="165735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{e, π, i}</a:t>
            </a:r>
            <a:endParaRPr lang="en-US" sz="956" dirty="0"/>
          </a:p>
        </p:txBody>
      </p:sp>
      <p:sp>
        <p:nvSpPr>
          <p:cNvPr id="26" name="Text 23"/>
          <p:cNvSpPr/>
          <p:nvPr/>
        </p:nvSpPr>
        <p:spPr>
          <a:xfrm>
            <a:off x="2678906" y="1229953"/>
            <a:ext cx="1657350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спинорные структуры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457700" y="987065"/>
            <a:ext cx="228712" cy="451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4689983" y="990637"/>
            <a:ext cx="1892982" cy="444252"/>
          </a:xfrm>
          <a:prstGeom prst="roundRect">
            <a:avLst>
              <a:gd name="adj" fmla="val 17152"/>
            </a:avLst>
          </a:prstGeom>
          <a:solidFill>
            <a:srgbClr val="101F33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807855" y="1065647"/>
            <a:ext cx="165723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ζ(s)</a:t>
            </a:r>
            <a:endParaRPr lang="en-US" sz="956" dirty="0"/>
          </a:p>
        </p:txBody>
      </p:sp>
      <p:sp>
        <p:nvSpPr>
          <p:cNvPr id="30" name="Text 27"/>
          <p:cNvSpPr/>
          <p:nvPr/>
        </p:nvSpPr>
        <p:spPr>
          <a:xfrm>
            <a:off x="4807855" y="1229953"/>
            <a:ext cx="1657238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нули-коды состояний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586538" y="987065"/>
            <a:ext cx="228712" cy="451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6818821" y="990637"/>
            <a:ext cx="1892982" cy="444252"/>
          </a:xfrm>
          <a:prstGeom prst="roundRect">
            <a:avLst>
              <a:gd name="adj" fmla="val 17152"/>
            </a:avLst>
          </a:prstGeom>
          <a:solidFill>
            <a:srgbClr val="101F33"/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936693" y="1065647"/>
            <a:ext cx="165723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RH</a:t>
            </a:r>
            <a:endParaRPr lang="en-US" sz="956" dirty="0"/>
          </a:p>
        </p:txBody>
      </p:sp>
      <p:sp>
        <p:nvSpPr>
          <p:cNvPr id="34" name="Text 31"/>
          <p:cNvSpPr/>
          <p:nvPr/>
        </p:nvSpPr>
        <p:spPr>
          <a:xfrm>
            <a:off x="6936693" y="1229953"/>
            <a:ext cx="1657238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гипотеза Римана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28625" y="1581336"/>
            <a:ext cx="8286750" cy="766614"/>
          </a:xfrm>
          <a:prstGeom prst="roundRect">
            <a:avLst>
              <a:gd name="adj" fmla="val 9940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64356" y="1674205"/>
            <a:ext cx="8029575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10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ОГРАНИЧЕНИЕ ХАРАКТЕРА Χ₂ (DIM 196883) НА PSL(2,7)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349053" y="1878471"/>
            <a:ext cx="3852080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1456·1 + 3334·3 + 3334·3′ + 6784·6 + 8081·7 + 9770·8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64356" y="2100151"/>
            <a:ext cx="8139303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подгруппа №10 ATLAS · монстр M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28625" y="2490825"/>
            <a:ext cx="4363603" cy="2266913"/>
          </a:xfrm>
          <a:prstGeom prst="roundRect">
            <a:avLst>
              <a:gd name="adj" fmla="val 3361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701539" y="2787960"/>
            <a:ext cx="1741959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⟺ AB-облако с ζ-кодами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64356" y="2583693"/>
            <a:ext cx="410642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10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ЭКВИВАЛЕНТНОСТЬ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64356" y="2787960"/>
            <a:ext cx="21674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RH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2443497" y="2787960"/>
            <a:ext cx="2000420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∈ GUE-универсального класса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920816" y="2490825"/>
            <a:ext cx="3794447" cy="2266913"/>
          </a:xfrm>
          <a:prstGeom prst="roundRect">
            <a:avLst>
              <a:gd name="adj" fmla="val 3361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5056547" y="2787960"/>
            <a:ext cx="2112094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 ⟹ · ¬RH ⟹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056547" y="2583693"/>
            <a:ext cx="3537272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10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ЛОГИКА ПАРНЫХ КОРРЕЛЯЦИЙ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563865" y="2787960"/>
            <a:ext cx="8038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R₂(0) = −1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7168642" y="2787960"/>
            <a:ext cx="8038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R₂(0) &gt; −1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80F1B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428625" y="4961334"/>
            <a:ext cx="7864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· Монография v21 · Авторская редакция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8284291" y="4961334"/>
            <a:ext cx="4539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4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pPr algn="l" indent="0" marL="0">
              <a:buNone/>
            </a:pPr>
            <a:r>
              <a:rPr lang="en-US" sz="800" spc="5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067991" y="-1210866"/>
            <a:ext cx="2850356" cy="2850356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67499" y="4114800"/>
            <a:ext cx="3076501" cy="70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5175" b="1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→ T⁻¹</a:t>
            </a:r>
            <a:endParaRPr lang="en-US" sz="5175" dirty="0"/>
          </a:p>
        </p:txBody>
      </p:sp>
      <p:sp>
        <p:nvSpPr>
          <p:cNvPr id="5" name="Shape 2"/>
          <p:cNvSpPr/>
          <p:nvPr/>
        </p:nvSpPr>
        <p:spPr>
          <a:xfrm>
            <a:off x="428625" y="979922"/>
            <a:ext cx="8286750" cy="0"/>
          </a:xfrm>
          <a:prstGeom prst="line">
            <a:avLst/>
          </a:prstGeom>
          <a:noFill/>
          <a:ln w="14288">
            <a:solidFill>
              <a:srgbClr val="FFB74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11803" y="972778"/>
            <a:ext cx="0" cy="935831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905037"/>
            <a:ext cx="82867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2197" y="972778"/>
            <a:ext cx="0" cy="935831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28975" y="2215790"/>
            <a:ext cx="2686050" cy="0"/>
          </a:xfrm>
          <a:prstGeom prst="line">
            <a:avLst/>
          </a:prstGeom>
          <a:noFill/>
          <a:ln w="14288">
            <a:solidFill>
              <a:srgbClr val="4FC3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11453" y="2208647"/>
            <a:ext cx="0" cy="991195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28975" y="3196270"/>
            <a:ext cx="2686050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32547" y="2208647"/>
            <a:ext cx="0" cy="991195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8625" y="314325"/>
            <a:ext cx="863600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ГИПОТЕЗА 11 · T-СИММЕТРИЯ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28625" y="500063"/>
            <a:ext cx="8636000" cy="32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Ключевая гипотеза: </a:t>
            </a:r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T-симметрия как природа GUE</a:t>
            </a:r>
            <a:endParaRPr lang="en-US" sz="2081" dirty="0"/>
          </a:p>
        </p:txBody>
      </p:sp>
      <p:sp>
        <p:nvSpPr>
          <p:cNvPr id="16" name="Text 13"/>
          <p:cNvSpPr/>
          <p:nvPr/>
        </p:nvSpPr>
        <p:spPr>
          <a:xfrm>
            <a:off x="428625" y="972778"/>
            <a:ext cx="8286750" cy="935831"/>
          </a:xfrm>
          <a:prstGeom prst="roundRect">
            <a:avLst>
              <a:gd name="adj" fmla="val 10178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96503" y="1229953"/>
            <a:ext cx="2556123" cy="164306"/>
          </a:xfrm>
          <a:prstGeom prst="roundRect">
            <a:avLst>
              <a:gd name="adj" fmla="val 23188"/>
            </a:avLst>
          </a:prstGeom>
          <a:solidFill>
            <a:srgbClr val="FFB74D">
              <a:alpha val="8000"/>
            </a:srgbClr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92931" y="1226381"/>
            <a:ext cx="2563267" cy="215456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>
            <a:normAutofit/>
          </a:bodyPr>
          <a:lstStyle/>
          <a:p>
            <a:pPr algn="l" indent="0" marL="0">
              <a:buNone/>
            </a:pPr>
            <a:r>
              <a:rPr lang="en-US" sz="800" spc="122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ГИПОТЕЗА ПРЕДЛОЖЕНА ПОЛЬЗОВАТЕЛЕМ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92931" y="1469268"/>
            <a:ext cx="7129463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Аналог чёрных дыр: </a:t>
            </a:r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нарушение T-симметрии</a:t>
            </a:r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причина GUE-статистики в AB-облаке</a:t>
            </a:r>
            <a:endParaRPr lang="en-US" sz="1013" dirty="0"/>
          </a:p>
        </p:txBody>
      </p:sp>
      <p:sp>
        <p:nvSpPr>
          <p:cNvPr id="20" name="Text 17"/>
          <p:cNvSpPr/>
          <p:nvPr/>
        </p:nvSpPr>
        <p:spPr>
          <a:xfrm>
            <a:off x="7929563" y="1165659"/>
            <a:ext cx="557213" cy="557213"/>
          </a:xfrm>
          <a:prstGeom prst="ellipse">
            <a:avLst/>
          </a:prstGeom>
          <a:noFill/>
          <a:ln w="14288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868841" y="1104937"/>
            <a:ext cx="678656" cy="678656"/>
          </a:xfrm>
          <a:prstGeom prst="ellipse">
            <a:avLst/>
          </a:prstGeom>
          <a:noFill/>
          <a:ln w="7144">
            <a:solidFill>
              <a:srgbClr val="9DB2C9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28625" y="2022909"/>
            <a:ext cx="8636000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10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ТРОЙНОЙ ПУТЬ ДАЙСОНА (1962)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32197" y="2212218"/>
            <a:ext cx="2678906" cy="984052"/>
          </a:xfrm>
          <a:prstGeom prst="roundRect">
            <a:avLst>
              <a:gd name="adj" fmla="val 9679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78644" y="2344378"/>
            <a:ext cx="2386013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GOE</a:t>
            </a:r>
            <a:endParaRPr lang="en-US" sz="1238" dirty="0"/>
          </a:p>
        </p:txBody>
      </p:sp>
      <p:sp>
        <p:nvSpPr>
          <p:cNvPr id="25" name="Text 22"/>
          <p:cNvSpPr/>
          <p:nvPr/>
        </p:nvSpPr>
        <p:spPr>
          <a:xfrm>
            <a:off x="578644" y="2551547"/>
            <a:ext cx="238601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 = 1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78644" y="2722997"/>
            <a:ext cx="2386013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T-инвариантен</a:t>
            </a:r>
            <a:endParaRPr lang="en-US" sz="844" dirty="0"/>
          </a:p>
        </p:txBody>
      </p:sp>
      <p:sp>
        <p:nvSpPr>
          <p:cNvPr id="27" name="Text 24"/>
          <p:cNvSpPr/>
          <p:nvPr/>
        </p:nvSpPr>
        <p:spPr>
          <a:xfrm>
            <a:off x="578644" y="2901590"/>
            <a:ext cx="249574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вещественные симметричные матрицы</a:t>
            </a:r>
            <a:endParaRPr lang="en-US" sz="816" dirty="0"/>
          </a:p>
        </p:txBody>
      </p:sp>
      <p:sp>
        <p:nvSpPr>
          <p:cNvPr id="28" name="Text 25"/>
          <p:cNvSpPr/>
          <p:nvPr/>
        </p:nvSpPr>
        <p:spPr>
          <a:xfrm>
            <a:off x="3228975" y="2208647"/>
            <a:ext cx="2686050" cy="991195"/>
          </a:xfrm>
          <a:prstGeom prst="roundRect">
            <a:avLst>
              <a:gd name="adj" fmla="val 9610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378994" y="2351522"/>
            <a:ext cx="2386013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</a:t>
            </a:r>
            <a:endParaRPr lang="en-US" sz="1238" dirty="0"/>
          </a:p>
        </p:txBody>
      </p:sp>
      <p:sp>
        <p:nvSpPr>
          <p:cNvPr id="30" name="Text 27"/>
          <p:cNvSpPr/>
          <p:nvPr/>
        </p:nvSpPr>
        <p:spPr>
          <a:xfrm>
            <a:off x="3378994" y="2558690"/>
            <a:ext cx="238601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 = 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378994" y="2730140"/>
            <a:ext cx="712803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T-нарушен</a:t>
            </a:r>
            <a:endParaRPr lang="en-US" sz="844" dirty="0"/>
          </a:p>
        </p:txBody>
      </p:sp>
      <p:sp>
        <p:nvSpPr>
          <p:cNvPr id="32" name="Text 29"/>
          <p:cNvSpPr/>
          <p:nvPr/>
        </p:nvSpPr>
        <p:spPr>
          <a:xfrm>
            <a:off x="3378994" y="2908734"/>
            <a:ext cx="249574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комплексные эрмитовы матрицы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6032897" y="2212218"/>
            <a:ext cx="2678906" cy="984052"/>
          </a:xfrm>
          <a:prstGeom prst="roundRect">
            <a:avLst>
              <a:gd name="adj" fmla="val 9679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179344" y="2344378"/>
            <a:ext cx="2386013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GSE</a:t>
            </a:r>
            <a:endParaRPr lang="en-US" sz="1238" dirty="0"/>
          </a:p>
        </p:txBody>
      </p:sp>
      <p:sp>
        <p:nvSpPr>
          <p:cNvPr id="35" name="Text 32"/>
          <p:cNvSpPr/>
          <p:nvPr/>
        </p:nvSpPr>
        <p:spPr>
          <a:xfrm>
            <a:off x="6179344" y="2551547"/>
            <a:ext cx="238601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 = 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179344" y="2722997"/>
            <a:ext cx="2386013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T² = −1</a:t>
            </a:r>
            <a:endParaRPr lang="en-US" sz="844" dirty="0"/>
          </a:p>
        </p:txBody>
      </p:sp>
      <p:sp>
        <p:nvSpPr>
          <p:cNvPr id="37" name="Text 34"/>
          <p:cNvSpPr/>
          <p:nvPr/>
        </p:nvSpPr>
        <p:spPr>
          <a:xfrm>
            <a:off x="6179344" y="2901590"/>
            <a:ext cx="238601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кватернионные матрицы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432197" y="4468416"/>
            <a:ext cx="2602557" cy="285750"/>
          </a:xfrm>
          <a:prstGeom prst="roundRect">
            <a:avLst>
              <a:gd name="adj" fmla="val 2666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50069" y="4543425"/>
            <a:ext cx="246148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фазы комплексные — из-за вихрей</a:t>
            </a:r>
            <a:endParaRPr lang="en-US" sz="956" dirty="0"/>
          </a:p>
        </p:txBody>
      </p:sp>
      <p:sp>
        <p:nvSpPr>
          <p:cNvPr id="40" name="Text 37"/>
          <p:cNvSpPr/>
          <p:nvPr/>
        </p:nvSpPr>
        <p:spPr>
          <a:xfrm>
            <a:off x="3038326" y="4464844"/>
            <a:ext cx="228712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41" name="Text 38"/>
          <p:cNvSpPr/>
          <p:nvPr/>
        </p:nvSpPr>
        <p:spPr>
          <a:xfrm>
            <a:off x="3270610" y="4468416"/>
            <a:ext cx="2602669" cy="285750"/>
          </a:xfrm>
          <a:prstGeom prst="roundRect">
            <a:avLst>
              <a:gd name="adj" fmla="val 26667"/>
            </a:avLst>
          </a:prstGeom>
          <a:solidFill>
            <a:srgbClr val="101F33"/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388482" y="4543425"/>
            <a:ext cx="23669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T-нарушение</a:t>
            </a:r>
            <a:endParaRPr lang="en-US" sz="956" dirty="0"/>
          </a:p>
        </p:txBody>
      </p:sp>
      <p:sp>
        <p:nvSpPr>
          <p:cNvPr id="43" name="Text 40"/>
          <p:cNvSpPr/>
          <p:nvPr/>
        </p:nvSpPr>
        <p:spPr>
          <a:xfrm>
            <a:off x="5876851" y="4464844"/>
            <a:ext cx="228712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44" name="Text 41"/>
          <p:cNvSpPr/>
          <p:nvPr/>
        </p:nvSpPr>
        <p:spPr>
          <a:xfrm>
            <a:off x="6109134" y="4468416"/>
            <a:ext cx="2602669" cy="285750"/>
          </a:xfrm>
          <a:prstGeom prst="roundRect">
            <a:avLst>
              <a:gd name="adj" fmla="val 26667"/>
            </a:avLst>
          </a:prstGeom>
          <a:solidFill>
            <a:srgbClr val="101F33"/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6227006" y="4543425"/>
            <a:ext cx="23669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56" b="1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GUE-статистика</a:t>
            </a:r>
            <a:endParaRPr lang="en-US" sz="956" dirty="0"/>
          </a:p>
        </p:txBody>
      </p:sp>
      <p:sp>
        <p:nvSpPr>
          <p:cNvPr id="46" name="Text 43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80F1B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428625" y="4961334"/>
            <a:ext cx="7864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· Монография v21 · Авторская редакция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8284291" y="4961334"/>
            <a:ext cx="4539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4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pPr algn="l" indent="0" marL="0">
              <a:buNone/>
            </a:pPr>
            <a:r>
              <a:rPr lang="en-US" sz="800" spc="5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8759" y="3504009"/>
            <a:ext cx="2993231" cy="2993231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990668" y="257175"/>
            <a:ext cx="2153332" cy="70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5175" b="1" dirty="0">
                <a:solidFill>
                  <a:srgbClr val="4FC3F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V115</a:t>
            </a:r>
            <a:endParaRPr lang="en-US" sz="5175" dirty="0"/>
          </a:p>
        </p:txBody>
      </p:sp>
      <p:sp>
        <p:nvSpPr>
          <p:cNvPr id="5" name="Shape 2"/>
          <p:cNvSpPr/>
          <p:nvPr/>
        </p:nvSpPr>
        <p:spPr>
          <a:xfrm>
            <a:off x="5243736" y="1721309"/>
            <a:ext cx="3471639" cy="0"/>
          </a:xfrm>
          <a:prstGeom prst="line">
            <a:avLst/>
          </a:prstGeom>
          <a:noFill/>
          <a:ln w="14288">
            <a:solidFill>
              <a:srgbClr val="4FC3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11803" y="1714165"/>
            <a:ext cx="0" cy="1471724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43736" y="3182317"/>
            <a:ext cx="3471639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47308" y="1714165"/>
            <a:ext cx="0" cy="1471724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43736" y="3293046"/>
            <a:ext cx="3471639" cy="0"/>
          </a:xfrm>
          <a:prstGeom prst="line">
            <a:avLst/>
          </a:prstGeom>
          <a:noFill/>
          <a:ln w="14288">
            <a:solidFill>
              <a:srgbClr val="FFB7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11803" y="3285902"/>
            <a:ext cx="0" cy="1471836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43736" y="4754166"/>
            <a:ext cx="3471639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47308" y="3285902"/>
            <a:ext cx="0" cy="1471836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8625" y="314325"/>
            <a:ext cx="863600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ВЕРИФИКАЦИЯ · JULIA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28625" y="500063"/>
            <a:ext cx="8636000" cy="32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Верификационная </a:t>
            </a:r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инфраструктура</a:t>
            </a:r>
            <a:endParaRPr lang="en-US" sz="2081" dirty="0"/>
          </a:p>
        </p:txBody>
      </p:sp>
      <p:sp>
        <p:nvSpPr>
          <p:cNvPr id="16" name="Text 13"/>
          <p:cNvSpPr/>
          <p:nvPr/>
        </p:nvSpPr>
        <p:spPr>
          <a:xfrm>
            <a:off x="432197" y="976350"/>
            <a:ext cx="1989534" cy="605656"/>
          </a:xfrm>
          <a:prstGeom prst="roundRect">
            <a:avLst>
              <a:gd name="adj" fmla="val 1572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50069" y="1079934"/>
            <a:ext cx="1753791" cy="23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463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V01–V115</a:t>
            </a:r>
            <a:endParaRPr lang="en-US" sz="1463" dirty="0"/>
          </a:p>
        </p:txBody>
      </p:sp>
      <p:sp>
        <p:nvSpPr>
          <p:cNvPr id="18" name="Text 15"/>
          <p:cNvSpPr/>
          <p:nvPr/>
        </p:nvSpPr>
        <p:spPr>
          <a:xfrm>
            <a:off x="550069" y="1343471"/>
            <a:ext cx="1859018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полный прогон · 23.06.2026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528888" y="976350"/>
            <a:ext cx="1989534" cy="605656"/>
          </a:xfrm>
          <a:prstGeom prst="roundRect">
            <a:avLst>
              <a:gd name="adj" fmla="val 1572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646759" y="1079934"/>
            <a:ext cx="1753791" cy="23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463" b="1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220.55 с</a:t>
            </a:r>
            <a:endParaRPr lang="en-US" sz="1463" dirty="0"/>
          </a:p>
        </p:txBody>
      </p:sp>
      <p:sp>
        <p:nvSpPr>
          <p:cNvPr id="21" name="Text 18"/>
          <p:cNvSpPr/>
          <p:nvPr/>
        </p:nvSpPr>
        <p:spPr>
          <a:xfrm>
            <a:off x="2646759" y="1343471"/>
            <a:ext cx="1753791" cy="1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суммарное время прогона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25578" y="976350"/>
            <a:ext cx="1989534" cy="605656"/>
          </a:xfrm>
          <a:prstGeom prst="roundRect">
            <a:avLst>
              <a:gd name="adj" fmla="val 1572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43450" y="1079934"/>
            <a:ext cx="1753791" cy="23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463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1463" dirty="0"/>
          </a:p>
        </p:txBody>
      </p:sp>
      <p:sp>
        <p:nvSpPr>
          <p:cNvPr id="24" name="Text 21"/>
          <p:cNvSpPr/>
          <p:nvPr/>
        </p:nvSpPr>
        <p:spPr>
          <a:xfrm>
            <a:off x="4743450" y="1343471"/>
            <a:ext cx="1753791" cy="1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задач — без сбоев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722269" y="976350"/>
            <a:ext cx="1989534" cy="605656"/>
          </a:xfrm>
          <a:prstGeom prst="roundRect">
            <a:avLst>
              <a:gd name="adj" fmla="val 1572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840141" y="1079934"/>
            <a:ext cx="1753791" cy="23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463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mpmath</a:t>
            </a:r>
            <a:endParaRPr lang="en-US" sz="1463" dirty="0"/>
          </a:p>
        </p:txBody>
      </p:sp>
      <p:sp>
        <p:nvSpPr>
          <p:cNvPr id="27" name="Text 24"/>
          <p:cNvSpPr/>
          <p:nvPr/>
        </p:nvSpPr>
        <p:spPr>
          <a:xfrm>
            <a:off x="6840141" y="1343471"/>
            <a:ext cx="1859018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сертификация нулей ζ (50 знаков)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32197" y="1717737"/>
            <a:ext cx="4679379" cy="3036429"/>
          </a:xfrm>
          <a:prstGeom prst="roundRect">
            <a:avLst>
              <a:gd name="adj" fmla="val 313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78644" y="1849896"/>
            <a:ext cx="4496214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10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ВОСПРОИЗВОДИМОСТЬ ПО SEED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8644" y="2049921"/>
          <a:ext cx="4386486" cy="914400"/>
        </p:xfrm>
        <a:graphic>
          <a:graphicData uri="http://schemas.openxmlformats.org/drawingml/2006/table">
            <a:tbl>
              <a:tblPr/>
              <a:tblGrid>
                <a:gridCol w="711696"/>
                <a:gridCol w="1470161"/>
                <a:gridCol w="1174924"/>
                <a:gridCol w="102256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FC3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Прогон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FC3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Конфигурация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FC3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Результат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FC3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Отклонение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V13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seed = 2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⟨r⟩ = 0.5875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2.02%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V32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⟨r⟩ нулей ζ, N = 1000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0.6170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2.91%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</a:tr>
            </a:tbl>
          </a:graphicData>
        </a:graphic>
      </p:graphicFrame>
      <p:sp>
        <p:nvSpPr>
          <p:cNvPr id="31" name="Text 27"/>
          <p:cNvSpPr/>
          <p:nvPr/>
        </p:nvSpPr>
        <p:spPr>
          <a:xfrm>
            <a:off x="578644" y="3007184"/>
            <a:ext cx="4386486" cy="33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Повторный запуск с тем же seed воспроизводит результат в пределах ~3% — численный конвейер устойчив.</a:t>
            </a:r>
            <a:endParaRPr lang="en-US" sz="816" dirty="0"/>
          </a:p>
        </p:txBody>
      </p:sp>
      <p:sp>
        <p:nvSpPr>
          <p:cNvPr id="32" name="Text 28"/>
          <p:cNvSpPr/>
          <p:nvPr/>
        </p:nvSpPr>
        <p:spPr>
          <a:xfrm>
            <a:off x="5243736" y="1714165"/>
            <a:ext cx="3471639" cy="1471724"/>
          </a:xfrm>
          <a:prstGeom prst="roundRect">
            <a:avLst>
              <a:gd name="adj" fmla="val 6472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5393754" y="1857040"/>
            <a:ext cx="3171602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Julia v12 / v13</a:t>
            </a:r>
            <a:endParaRPr lang="en-US" sz="956" dirty="0"/>
          </a:p>
        </p:txBody>
      </p:sp>
      <p:sp>
        <p:nvSpPr>
          <p:cNvPr id="34" name="Text 30"/>
          <p:cNvSpPr/>
          <p:nvPr/>
        </p:nvSpPr>
        <p:spPr>
          <a:xfrm>
            <a:off x="5393754" y="2072022"/>
            <a:ext cx="3171602" cy="33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Полный прогон V01–V115 выполняется в обоих окружениях Julia — два независимых тулчейна.</a:t>
            </a:r>
            <a:endParaRPr lang="en-US" sz="816" dirty="0"/>
          </a:p>
        </p:txBody>
      </p:sp>
      <p:sp>
        <p:nvSpPr>
          <p:cNvPr id="35" name="Text 31"/>
          <p:cNvSpPr/>
          <p:nvPr/>
        </p:nvSpPr>
        <p:spPr>
          <a:xfrm>
            <a:off x="5243736" y="3285902"/>
            <a:ext cx="3471639" cy="1471836"/>
          </a:xfrm>
          <a:prstGeom prst="roundRect">
            <a:avLst>
              <a:gd name="adj" fmla="val 6472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5393754" y="3428777"/>
            <a:ext cx="3281330" cy="17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Контроль: чистый Хофстадтер (V30)</a:t>
            </a:r>
            <a:endParaRPr lang="en-US" sz="956" dirty="0"/>
          </a:p>
        </p:txBody>
      </p:sp>
      <p:sp>
        <p:nvSpPr>
          <p:cNvPr id="37" name="Text 33"/>
          <p:cNvSpPr/>
          <p:nvPr/>
        </p:nvSpPr>
        <p:spPr>
          <a:xfrm>
            <a:off x="5393754" y="3643759"/>
            <a:ext cx="3171602" cy="33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Прогон без вихрей и ζ-фаз — базовая линия для выделения эффектов вихрей и кодов ζ(s).</a:t>
            </a:r>
            <a:endParaRPr lang="en-US" sz="816" dirty="0"/>
          </a:p>
        </p:txBody>
      </p:sp>
      <p:sp>
        <p:nvSpPr>
          <p:cNvPr id="38" name="Text 34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80F1B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428625" y="4961334"/>
            <a:ext cx="7864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· Монография v21 · Авторская редакция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8284291" y="4961334"/>
            <a:ext cx="4539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4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pPr algn="l" indent="0" marL="0">
              <a:buNone/>
            </a:pPr>
            <a:r>
              <a:rPr lang="en-US" sz="800" spc="5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0197" y="-1139428"/>
            <a:ext cx="2850356" cy="2850356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122507" y="4114800"/>
            <a:ext cx="2021493" cy="70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5175" b="1" dirty="0">
                <a:solidFill>
                  <a:srgbClr val="4FC3F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D.12</a:t>
            </a:r>
            <a:endParaRPr lang="en-US" sz="5175" dirty="0"/>
          </a:p>
        </p:txBody>
      </p:sp>
      <p:sp>
        <p:nvSpPr>
          <p:cNvPr id="5" name="Shape 2"/>
          <p:cNvSpPr/>
          <p:nvPr/>
        </p:nvSpPr>
        <p:spPr>
          <a:xfrm>
            <a:off x="428625" y="979922"/>
            <a:ext cx="2676451" cy="0"/>
          </a:xfrm>
          <a:prstGeom prst="line">
            <a:avLst/>
          </a:prstGeom>
          <a:noFill/>
          <a:ln w="14288">
            <a:solidFill>
              <a:srgbClr val="4FC3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101504" y="972778"/>
            <a:ext cx="0" cy="2554449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3523655"/>
            <a:ext cx="2676451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2197" y="972778"/>
            <a:ext cx="0" cy="2554449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33663" y="979922"/>
            <a:ext cx="2676562" cy="0"/>
          </a:xfrm>
          <a:prstGeom prst="line">
            <a:avLst/>
          </a:prstGeom>
          <a:noFill/>
          <a:ln w="14288">
            <a:solidFill>
              <a:srgbClr val="4FC3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06653" y="972778"/>
            <a:ext cx="0" cy="2554449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33663" y="3523655"/>
            <a:ext cx="2676562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37235" y="972778"/>
            <a:ext cx="0" cy="2554449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8813" y="979922"/>
            <a:ext cx="2676451" cy="0"/>
          </a:xfrm>
          <a:prstGeom prst="line">
            <a:avLst/>
          </a:prstGeom>
          <a:noFill/>
          <a:ln w="14288">
            <a:solidFill>
              <a:srgbClr val="FFB74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11692" y="972778"/>
            <a:ext cx="0" cy="2554449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8813" y="3523655"/>
            <a:ext cx="2676451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42385" y="972778"/>
            <a:ext cx="0" cy="2554449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8625" y="314325"/>
            <a:ext cx="863600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ОТКРЫТЫЕ ЗАДАЧИ · ПРИОРИТЕТЫ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28625" y="500063"/>
            <a:ext cx="8636000" cy="32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 открытых задач </a:t>
            </a:r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D.1–D.12</a:t>
            </a:r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2373"/>
              </a:lnSpc>
              <a:buNone/>
            </a:pPr>
            <a:r>
              <a:rPr lang="en-US" sz="1575" b="1" spc="10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(Julia-верификация)</a:t>
            </a:r>
            <a:endParaRPr lang="en-US" sz="2081" dirty="0"/>
          </a:p>
        </p:txBody>
      </p:sp>
      <p:sp>
        <p:nvSpPr>
          <p:cNvPr id="20" name="Text 17"/>
          <p:cNvSpPr/>
          <p:nvPr/>
        </p:nvSpPr>
        <p:spPr>
          <a:xfrm>
            <a:off x="428625" y="972778"/>
            <a:ext cx="2676451" cy="2554449"/>
          </a:xfrm>
          <a:prstGeom prst="roundRect">
            <a:avLst>
              <a:gd name="adj" fmla="val 3729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55784" y="1105366"/>
            <a:ext cx="957664" cy="192024"/>
          </a:xfrm>
          <a:prstGeom prst="roundRect">
            <a:avLst>
              <a:gd name="adj" fmla="val 19841"/>
            </a:avLst>
          </a:prstGeom>
          <a:solidFill>
            <a:srgbClr val="4FC3F7">
              <a:alpha val="8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78644" y="1115653"/>
            <a:ext cx="9119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22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ПРИОРИТЕТ 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8644" y="1372828"/>
            <a:ext cx="2486141" cy="17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Критические математические</a:t>
            </a:r>
            <a:endParaRPr lang="en-US" sz="956" dirty="0"/>
          </a:p>
        </p:txBody>
      </p:sp>
      <p:sp>
        <p:nvSpPr>
          <p:cNvPr id="24" name="Text 21"/>
          <p:cNvSpPr/>
          <p:nvPr/>
        </p:nvSpPr>
        <p:spPr>
          <a:xfrm>
            <a:off x="578644" y="1616385"/>
            <a:ext cx="2376413" cy="658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Регуляторы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замыкание фазовых выражений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Масштабный коэффициент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теории</a:t>
            </a:r>
            <a:endParaRPr lang="en-US" sz="844" dirty="0"/>
          </a:p>
        </p:txBody>
      </p:sp>
      <p:sp>
        <p:nvSpPr>
          <p:cNvPr id="25" name="Text 22"/>
          <p:cNvSpPr/>
          <p:nvPr/>
        </p:nvSpPr>
        <p:spPr>
          <a:xfrm>
            <a:off x="3233663" y="972778"/>
            <a:ext cx="2676562" cy="2554449"/>
          </a:xfrm>
          <a:prstGeom prst="roundRect">
            <a:avLst>
              <a:gd name="adj" fmla="val 3729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360822" y="1105366"/>
            <a:ext cx="957664" cy="192024"/>
          </a:xfrm>
          <a:prstGeom prst="roundRect">
            <a:avLst>
              <a:gd name="adj" fmla="val 19841"/>
            </a:avLst>
          </a:prstGeom>
          <a:solidFill>
            <a:srgbClr val="4FC3F7">
              <a:alpha val="8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383682" y="1115653"/>
            <a:ext cx="9119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22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ПРИОРИТЕТ 2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383682" y="1372828"/>
            <a:ext cx="2376525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Численные</a:t>
            </a:r>
            <a:endParaRPr lang="en-US" sz="956" dirty="0"/>
          </a:p>
        </p:txBody>
      </p:sp>
      <p:sp>
        <p:nvSpPr>
          <p:cNvPr id="29" name="Text 26"/>
          <p:cNvSpPr/>
          <p:nvPr/>
        </p:nvSpPr>
        <p:spPr>
          <a:xfrm>
            <a:off x="3383682" y="1616385"/>
            <a:ext cx="2376525" cy="934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Σ²(L)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Δ₃(L)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спектральные диагностики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ансамбль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пермутационный тест</a:t>
            </a:r>
            <a:endParaRPr lang="en-US" sz="844" dirty="0"/>
          </a:p>
        </p:txBody>
      </p:sp>
      <p:sp>
        <p:nvSpPr>
          <p:cNvPr id="30" name="Text 27"/>
          <p:cNvSpPr/>
          <p:nvPr/>
        </p:nvSpPr>
        <p:spPr>
          <a:xfrm>
            <a:off x="6038813" y="972778"/>
            <a:ext cx="2676451" cy="2554449"/>
          </a:xfrm>
          <a:prstGeom prst="roundRect">
            <a:avLst>
              <a:gd name="adj" fmla="val 3729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165972" y="1105366"/>
            <a:ext cx="957664" cy="192024"/>
          </a:xfrm>
          <a:prstGeom prst="roundRect">
            <a:avLst>
              <a:gd name="adj" fmla="val 19841"/>
            </a:avLst>
          </a:prstGeom>
          <a:solidFill>
            <a:srgbClr val="FFB74D">
              <a:alpha val="8000"/>
            </a:srgbClr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188832" y="1115653"/>
            <a:ext cx="9119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22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ПРИОРИТЕТ 3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188832" y="1372828"/>
            <a:ext cx="2376413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Физические</a:t>
            </a:r>
            <a:endParaRPr lang="en-US" sz="956" dirty="0"/>
          </a:p>
        </p:txBody>
      </p:sp>
      <p:sp>
        <p:nvSpPr>
          <p:cNvPr id="34" name="Text 31"/>
          <p:cNvSpPr/>
          <p:nvPr/>
        </p:nvSpPr>
        <p:spPr>
          <a:xfrm>
            <a:off x="6188832" y="1616385"/>
            <a:ext cx="2376413" cy="518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IPR ~ W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00" baseline="300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1.8727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bootstrap 95% CI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[1.8568, 1.8690]</a:t>
            </a:r>
            <a:endParaRPr lang="en-US" sz="844" dirty="0"/>
          </a:p>
        </p:txBody>
      </p:sp>
      <p:sp>
        <p:nvSpPr>
          <p:cNvPr id="35" name="Text 32"/>
          <p:cNvSpPr/>
          <p:nvPr/>
        </p:nvSpPr>
        <p:spPr>
          <a:xfrm>
            <a:off x="428625" y="3641527"/>
            <a:ext cx="8636000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10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ОПОРНЫЕ ЧИСЛА ОТКРЫТЫХ ЗАДАЧ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32197" y="3873698"/>
            <a:ext cx="1989534" cy="880467"/>
          </a:xfrm>
          <a:prstGeom prst="roundRect">
            <a:avLst>
              <a:gd name="adj" fmla="val 10818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50069" y="3977283"/>
            <a:ext cx="1753791" cy="220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</a:t>
            </a:r>
            <a:pPr algn="l" indent="0" marL="0">
              <a:lnSpc>
                <a:spcPts val="1423"/>
              </a:lnSpc>
              <a:buNone/>
            </a:pPr>
            <a:r>
              <a:rPr lang="en-US" sz="842" b="1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pPr algn="l" indent="0" marL="0">
              <a:lnSpc>
                <a:spcPts val="1423"/>
              </a:lnSpc>
              <a:buNone/>
            </a:pPr>
            <a:r>
              <a:rPr lang="en-US" sz="1238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−1.030</a:t>
            </a:r>
            <a:endParaRPr lang="en-US" sz="1238" dirty="0"/>
          </a:p>
        </p:txBody>
      </p:sp>
      <p:sp>
        <p:nvSpPr>
          <p:cNvPr id="38" name="Text 35"/>
          <p:cNvSpPr/>
          <p:nvPr/>
        </p:nvSpPr>
        <p:spPr>
          <a:xfrm>
            <a:off x="550069" y="4231444"/>
            <a:ext cx="1753791" cy="41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топологическая энтропия запутанности · против 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−ln2 ≈ −0.693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2528888" y="3873698"/>
            <a:ext cx="1989534" cy="880467"/>
          </a:xfrm>
          <a:prstGeom prst="roundRect">
            <a:avLst>
              <a:gd name="adj" fmla="val 10818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2646759" y="3977283"/>
            <a:ext cx="1753791" cy="220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ts val="1423"/>
              </a:lnSpc>
              <a:buNone/>
            </a:pPr>
            <a:r>
              <a:rPr lang="en-US" sz="842" b="1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</a:t>
            </a:r>
            <a:pPr algn="l" indent="0" marL="0">
              <a:lnSpc>
                <a:spcPts val="1423"/>
              </a:lnSpc>
              <a:buNone/>
            </a:pPr>
            <a:r>
              <a:rPr lang="en-US" sz="1238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0.551</a:t>
            </a:r>
            <a:endParaRPr lang="en-US" sz="1238" dirty="0"/>
          </a:p>
        </p:txBody>
      </p:sp>
      <p:sp>
        <p:nvSpPr>
          <p:cNvPr id="41" name="Text 38"/>
          <p:cNvSpPr/>
          <p:nvPr/>
        </p:nvSpPr>
        <p:spPr>
          <a:xfrm>
            <a:off x="2646759" y="4231444"/>
            <a:ext cx="1753791" cy="311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эффективный заряд CFT · против 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 = 1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625578" y="3873698"/>
            <a:ext cx="1989534" cy="880467"/>
          </a:xfrm>
          <a:prstGeom prst="roundRect">
            <a:avLst>
              <a:gd name="adj" fmla="val 10818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743450" y="3977283"/>
            <a:ext cx="1753791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D₂ = −1.835</a:t>
            </a:r>
            <a:endParaRPr lang="en-US" sz="1238" dirty="0"/>
          </a:p>
        </p:txBody>
      </p:sp>
      <p:sp>
        <p:nvSpPr>
          <p:cNvPr id="44" name="Text 41"/>
          <p:cNvSpPr/>
          <p:nvPr/>
        </p:nvSpPr>
        <p:spPr>
          <a:xfrm>
            <a:off x="4743450" y="4208004"/>
            <a:ext cx="1859018" cy="14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D₂ центрального состояния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722269" y="3873698"/>
            <a:ext cx="1989534" cy="880467"/>
          </a:xfrm>
          <a:prstGeom prst="roundRect">
            <a:avLst>
              <a:gd name="adj" fmla="val 10818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6840141" y="3977283"/>
            <a:ext cx="1753791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[3.2263, 3.2408]</a:t>
            </a:r>
            <a:endParaRPr lang="en-US" sz="1238" dirty="0"/>
          </a:p>
        </p:txBody>
      </p:sp>
      <p:sp>
        <p:nvSpPr>
          <p:cNvPr id="47" name="Text 44"/>
          <p:cNvSpPr/>
          <p:nvPr/>
        </p:nvSpPr>
        <p:spPr>
          <a:xfrm>
            <a:off x="6840141" y="4208004"/>
            <a:ext cx="1753791" cy="296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BTZ-период Клейна · bootstrap 95% CI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80F1B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428625" y="4961334"/>
            <a:ext cx="7864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· Монография v21 · Авторская редакция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284291" y="4961334"/>
            <a:ext cx="4539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4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pPr algn="l" indent="0" marL="0">
              <a:buNone/>
            </a:pPr>
            <a:r>
              <a:rPr lang="en-US" sz="800" spc="5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61634" y="3575447"/>
            <a:ext cx="2707481" cy="2707481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603333" y="257175"/>
            <a:ext cx="1540667" cy="70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5175" b="1" dirty="0">
                <a:solidFill>
                  <a:srgbClr val="4FC3F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B.2</a:t>
            </a:r>
            <a:endParaRPr lang="en-US" sz="5175" dirty="0"/>
          </a:p>
        </p:txBody>
      </p:sp>
      <p:sp>
        <p:nvSpPr>
          <p:cNvPr id="5" name="Shape 2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28625" y="314325"/>
            <a:ext cx="863600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ПРИЛОЖЕНИЕ B · СВОДНАЯ ТАБЛИЦА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28625" y="500063"/>
            <a:ext cx="8636000" cy="32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Таблицы верификации: </a:t>
            </a:r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сводная B.2</a:t>
            </a:r>
            <a:endParaRPr lang="en-US" sz="2081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8625" y="958490"/>
          <a:ext cx="8286750" cy="914400"/>
        </p:xfrm>
        <a:graphic>
          <a:graphicData uri="http://schemas.openxmlformats.org/drawingml/2006/table">
            <a:tbl>
              <a:tblPr/>
              <a:tblGrid>
                <a:gridCol w="745071"/>
                <a:gridCol w="2732261"/>
                <a:gridCol w="1241896"/>
                <a:gridCol w="356037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FC3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Блок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FC3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Объект / тест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FC3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Метрика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FC3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Результат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Квартика Клейна · 64 спинорные структуры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GUE: p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idx = 38: p = 0.598 · остальные 63: p ≈ 0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Подложка: тор и поверхность Клейна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⟨r⟩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≈ 0.937 — не зависит от геометрии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Тест Монтгомери · N = 500 нулей ζ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KS / p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0.047 / 0.27 → H₀ не отвергается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Критическая прямая σ = 1/2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KS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0.152 — минимум по σ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Вихрь q = +1 при α = 1/2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vF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≈ 0.125 — дираковский конус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Σ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Синтез: ζ-коды → GUE-класс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R₂(0)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GUE ⟹ R₂(0) = −1 · RH ⟺ GUE-класс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28625" y="3217925"/>
            <a:ext cx="863600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10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ПОДПИСИ К ТАБЛИЦЕ B.2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32197" y="3407234"/>
            <a:ext cx="2905162" cy="207169"/>
          </a:xfrm>
          <a:prstGeom prst="roundRect">
            <a:avLst>
              <a:gd name="adj" fmla="val 4593098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52983" y="3453668"/>
            <a:ext cx="2723666" cy="125403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Галуа-каналы PSL(2,7) и AB-фазы — 6 каналов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35781" y="3453668"/>
            <a:ext cx="269799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415940" y="3407234"/>
            <a:ext cx="2004938" cy="207169"/>
          </a:xfrm>
          <a:prstGeom prst="roundRect">
            <a:avLst>
              <a:gd name="adj" fmla="val 4593098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636727" y="3453668"/>
            <a:ext cx="1823442" cy="125403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Действие Конна для AB-облака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519525" y="3453668"/>
            <a:ext cx="17977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499460" y="3407234"/>
            <a:ext cx="1960848" cy="207169"/>
          </a:xfrm>
          <a:prstGeom prst="roundRect">
            <a:avLst>
              <a:gd name="adj" fmla="val 4593098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780298" y="3453668"/>
            <a:ext cx="2935077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Сравнение ζ(β) и Z (β)/N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603044" y="3453668"/>
            <a:ext cx="12862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ζβ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80F1B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28625" y="4961334"/>
            <a:ext cx="7864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· Монография v21 · Авторская редакция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8284291" y="4961334"/>
            <a:ext cx="4539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4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pPr algn="l" indent="0" marL="0">
              <a:buNone/>
            </a:pPr>
            <a:r>
              <a:rPr lang="en-US" sz="800" spc="5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0197" y="3504009"/>
            <a:ext cx="2993231" cy="2993231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433978" y="257175"/>
            <a:ext cx="633115" cy="70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5175" b="1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⟶</a:t>
            </a:r>
            <a:endParaRPr lang="en-US" sz="5175" dirty="0"/>
          </a:p>
        </p:txBody>
      </p:sp>
      <p:sp>
        <p:nvSpPr>
          <p:cNvPr id="5" name="Shape 2"/>
          <p:cNvSpPr/>
          <p:nvPr/>
        </p:nvSpPr>
        <p:spPr>
          <a:xfrm>
            <a:off x="428625" y="979922"/>
            <a:ext cx="4079081" cy="0"/>
          </a:xfrm>
          <a:prstGeom prst="line">
            <a:avLst/>
          </a:prstGeom>
          <a:noFill/>
          <a:ln w="14288">
            <a:solidFill>
              <a:srgbClr val="4FC3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04134" y="972778"/>
            <a:ext cx="0" cy="182813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2797336"/>
            <a:ext cx="4079081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2197" y="972778"/>
            <a:ext cx="0" cy="182813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36294" y="979922"/>
            <a:ext cx="4079081" cy="0"/>
          </a:xfrm>
          <a:prstGeom prst="line">
            <a:avLst/>
          </a:prstGeom>
          <a:noFill/>
          <a:ln w="14288">
            <a:solidFill>
              <a:srgbClr val="4FC3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11803" y="972778"/>
            <a:ext cx="0" cy="182813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36294" y="2797336"/>
            <a:ext cx="4079081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39866" y="972778"/>
            <a:ext cx="0" cy="182813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8625" y="2936639"/>
            <a:ext cx="4079081" cy="0"/>
          </a:xfrm>
          <a:prstGeom prst="line">
            <a:avLst/>
          </a:prstGeom>
          <a:noFill/>
          <a:ln w="14288">
            <a:solidFill>
              <a:srgbClr val="FFB74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04134" y="2929496"/>
            <a:ext cx="0" cy="1828242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8625" y="4754166"/>
            <a:ext cx="4079081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2197" y="2929496"/>
            <a:ext cx="0" cy="1828242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8644" y="3774914"/>
            <a:ext cx="3779044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54116" y="3771342"/>
            <a:ext cx="0" cy="346249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8644" y="4114019"/>
            <a:ext cx="3779044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9359" y="3771342"/>
            <a:ext cx="0" cy="346249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36294" y="2936639"/>
            <a:ext cx="4079081" cy="0"/>
          </a:xfrm>
          <a:prstGeom prst="line">
            <a:avLst/>
          </a:prstGeom>
          <a:noFill/>
          <a:ln w="14288">
            <a:solidFill>
              <a:srgbClr val="FFB74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711803" y="2929496"/>
            <a:ext cx="0" cy="1828242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294" y="4754166"/>
            <a:ext cx="4079081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39866" y="2929496"/>
            <a:ext cx="0" cy="1828242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8625" y="314325"/>
            <a:ext cx="863600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ДИСКУССИЯ · НАПРАВЛЕНИЯ РАБОТ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28625" y="500063"/>
            <a:ext cx="8636000" cy="32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Открытые вопросы </a:t>
            </a:r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 перспективы</a:t>
            </a:r>
            <a:endParaRPr lang="en-US" sz="2081" dirty="0"/>
          </a:p>
        </p:txBody>
      </p:sp>
      <p:sp>
        <p:nvSpPr>
          <p:cNvPr id="28" name="Text 25"/>
          <p:cNvSpPr/>
          <p:nvPr/>
        </p:nvSpPr>
        <p:spPr>
          <a:xfrm>
            <a:off x="428625" y="972778"/>
            <a:ext cx="4079081" cy="1828130"/>
          </a:xfrm>
          <a:prstGeom prst="roundRect">
            <a:avLst>
              <a:gd name="adj" fmla="val 5210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55784" y="1105366"/>
            <a:ext cx="1019391" cy="192024"/>
          </a:xfrm>
          <a:prstGeom prst="roundRect">
            <a:avLst>
              <a:gd name="adj" fmla="val 19841"/>
            </a:avLst>
          </a:prstGeom>
          <a:solidFill>
            <a:srgbClr val="4FC3F7">
              <a:alpha val="8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78644" y="1115653"/>
            <a:ext cx="9736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22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V9 → V10 / V16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78644" y="1358540"/>
            <a:ext cx="3779044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Эволюция верификации</a:t>
            </a:r>
            <a:endParaRPr lang="en-US" sz="956" dirty="0"/>
          </a:p>
        </p:txBody>
      </p:sp>
      <p:sp>
        <p:nvSpPr>
          <p:cNvPr id="32" name="Text 29"/>
          <p:cNvSpPr/>
          <p:nvPr/>
        </p:nvSpPr>
        <p:spPr>
          <a:xfrm>
            <a:off x="578644" y="1573523"/>
            <a:ext cx="3779044" cy="33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Каждая версия программы добавляла новые задачи: от базовых прогонов — к блокам 1–5, синтезу и фронту открытых задач D.1–D.12.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4636294" y="972778"/>
            <a:ext cx="4079081" cy="1828130"/>
          </a:xfrm>
          <a:prstGeom prst="roundRect">
            <a:avLst>
              <a:gd name="adj" fmla="val 5210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774409" y="1105366"/>
            <a:ext cx="321388" cy="192024"/>
          </a:xfrm>
          <a:prstGeom prst="roundRect">
            <a:avLst>
              <a:gd name="adj" fmla="val 19841"/>
            </a:avLst>
          </a:prstGeom>
          <a:solidFill>
            <a:srgbClr val="4FC3F7">
              <a:alpha val="8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786313" y="1115653"/>
            <a:ext cx="2975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22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RH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786313" y="1358540"/>
            <a:ext cx="3779044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даёт подтверждение RH</a:t>
            </a:r>
            <a:endParaRPr lang="en-US" sz="956" dirty="0"/>
          </a:p>
        </p:txBody>
      </p:sp>
      <p:sp>
        <p:nvSpPr>
          <p:cNvPr id="37" name="Text 34"/>
          <p:cNvSpPr/>
          <p:nvPr/>
        </p:nvSpPr>
        <p:spPr>
          <a:xfrm>
            <a:off x="4786313" y="1573523"/>
            <a:ext cx="3779044" cy="50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Подтверждение RH через GUE-универсальность — мост между теорией чисел и физикой: RH перестаёт быть чисто арифметическим утверждением и получает физический критерий истинности.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428625" y="2929496"/>
            <a:ext cx="4079081" cy="1828242"/>
          </a:xfrm>
          <a:prstGeom prst="roundRect">
            <a:avLst>
              <a:gd name="adj" fmla="val 5210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60552" y="3062084"/>
            <a:ext cx="488472" cy="192024"/>
          </a:xfrm>
          <a:prstGeom prst="roundRect">
            <a:avLst>
              <a:gd name="adj" fmla="val 19841"/>
            </a:avLst>
          </a:prstGeom>
          <a:solidFill>
            <a:srgbClr val="FFB74D">
              <a:alpha val="8000"/>
            </a:srgbClr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78644" y="3072371"/>
            <a:ext cx="4522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22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QECC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78644" y="3315258"/>
            <a:ext cx="3779044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Квантовые коды</a:t>
            </a:r>
            <a:endParaRPr lang="en-US" sz="956" dirty="0"/>
          </a:p>
        </p:txBody>
      </p:sp>
      <p:sp>
        <p:nvSpPr>
          <p:cNvPr id="42" name="Text 39"/>
          <p:cNvSpPr/>
          <p:nvPr/>
        </p:nvSpPr>
        <p:spPr>
          <a:xfrm>
            <a:off x="578644" y="3530240"/>
            <a:ext cx="3779044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Квантовые коды исправления ошибок из группы PSL(2,7) и плоскости Фано.</a:t>
            </a:r>
            <a:endParaRPr lang="en-US" sz="816" dirty="0"/>
          </a:p>
        </p:txBody>
      </p:sp>
      <p:sp>
        <p:nvSpPr>
          <p:cNvPr id="43" name="Text 40"/>
          <p:cNvSpPr/>
          <p:nvPr/>
        </p:nvSpPr>
        <p:spPr>
          <a:xfrm>
            <a:off x="578644" y="3771342"/>
            <a:ext cx="3779044" cy="346249"/>
          </a:xfrm>
          <a:prstGeom prst="roundRect">
            <a:avLst>
              <a:gd name="adj" fmla="val 22007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78644" y="3771342"/>
            <a:ext cx="3779044" cy="373949"/>
          </a:xfrm>
          <a:prstGeom prst="rect">
            <a:avLst/>
          </a:prstGeom>
          <a:noFill/>
          <a:ln/>
        </p:spPr>
        <p:txBody>
          <a:bodyPr wrap="square" lIns="114300" tIns="85725" rIns="114300" bIns="85725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PSL(2,7) ≅ GL(3,2) — автоморфизмы плоскости Фано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4636294" y="2929496"/>
            <a:ext cx="4079081" cy="1828242"/>
          </a:xfrm>
          <a:prstGeom prst="roundRect">
            <a:avLst>
              <a:gd name="adj" fmla="val 5210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763453" y="3062084"/>
            <a:ext cx="1112260" cy="192024"/>
          </a:xfrm>
          <a:prstGeom prst="roundRect">
            <a:avLst>
              <a:gd name="adj" fmla="val 19841"/>
            </a:avLst>
          </a:prstGeom>
          <a:solidFill>
            <a:srgbClr val="FFB74D">
              <a:alpha val="8000"/>
            </a:srgbClr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4786313" y="3072371"/>
            <a:ext cx="10665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22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ЭКСПЕРИМЕНТЫ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786313" y="3315258"/>
            <a:ext cx="3779044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Планы</a:t>
            </a:r>
            <a:endParaRPr lang="en-US" sz="956" dirty="0"/>
          </a:p>
        </p:txBody>
      </p:sp>
      <p:sp>
        <p:nvSpPr>
          <p:cNvPr id="49" name="Text 46"/>
          <p:cNvSpPr/>
          <p:nvPr/>
        </p:nvSpPr>
        <p:spPr>
          <a:xfrm>
            <a:off x="4786313" y="3544528"/>
            <a:ext cx="3779044" cy="741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Квантовый хадамард-бродилка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(quantum Hadamard walk)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2D-гидродинамика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00" baseline="300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−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/e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00" baseline="300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струй</a:t>
            </a:r>
            <a:endParaRPr lang="en-US" sz="844" dirty="0"/>
          </a:p>
          <a:p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66"/>
              </a:lnSpc>
              <a:spcAft>
                <a:spcPts val="563"/>
              </a:spcAft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3D вихревые линии</a:t>
            </a:r>
            <a:endParaRPr lang="en-US" sz="844" dirty="0"/>
          </a:p>
        </p:txBody>
      </p:sp>
      <p:sp>
        <p:nvSpPr>
          <p:cNvPr id="50" name="Text 47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80F1B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428625" y="4961334"/>
            <a:ext cx="7864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· Монография v21 · Авторская редакция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284291" y="4961334"/>
            <a:ext cx="4539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4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pPr algn="l" indent="0" marL="0">
              <a:buNone/>
            </a:pPr>
            <a:r>
              <a:rPr lang="en-US" sz="800" spc="5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425178" y="3289697"/>
            <a:ext cx="3707606" cy="3707606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504509" y="-996553"/>
            <a:ext cx="2421731" cy="2421731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00192" y="3929063"/>
            <a:ext cx="3143808" cy="84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88"/>
              </a:lnSpc>
              <a:buNone/>
            </a:pPr>
            <a:r>
              <a:rPr lang="en-US" sz="6188" b="1" dirty="0">
                <a:solidFill>
                  <a:srgbClr val="4FC3F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ζ(1/2)</a:t>
            </a:r>
            <a:endParaRPr lang="en-US" sz="6188" dirty="0"/>
          </a:p>
        </p:txBody>
      </p:sp>
      <p:sp>
        <p:nvSpPr>
          <p:cNvPr id="6" name="Shape 3"/>
          <p:cNvSpPr/>
          <p:nvPr/>
        </p:nvSpPr>
        <p:spPr>
          <a:xfrm>
            <a:off x="428625" y="2038759"/>
            <a:ext cx="4086225" cy="0"/>
          </a:xfrm>
          <a:prstGeom prst="line">
            <a:avLst/>
          </a:prstGeom>
          <a:noFill/>
          <a:ln w="14288">
            <a:solidFill>
              <a:srgbClr val="4FC3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11278" y="2031616"/>
            <a:ext cx="0" cy="648965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8625" y="2677009"/>
            <a:ext cx="408622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2197" y="2031616"/>
            <a:ext cx="0" cy="648965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9150" y="2038759"/>
            <a:ext cx="4086225" cy="0"/>
          </a:xfrm>
          <a:prstGeom prst="line">
            <a:avLst/>
          </a:prstGeom>
          <a:noFill/>
          <a:ln w="14288">
            <a:solidFill>
              <a:srgbClr val="4FC3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11803" y="2031616"/>
            <a:ext cx="0" cy="648965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29150" y="2677009"/>
            <a:ext cx="408622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32722" y="2031616"/>
            <a:ext cx="0" cy="648965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8625" y="314325"/>
            <a:ext cx="863600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ЗАКЛЮЧЕНИЕ · ТРАССИРУЕМОСТЬ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28625" y="500063"/>
            <a:ext cx="8636000" cy="325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числа </a:t>
            </a:r>
            <a:pPr algn="l" indent="0" marL="0">
              <a:lnSpc>
                <a:spcPts val="2373"/>
              </a:lnSpc>
              <a:buNone/>
            </a:pPr>
            <a:r>
              <a:rPr lang="en-US" sz="2081" b="1" spc="10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трассируемы</a:t>
            </a:r>
            <a:endParaRPr lang="en-US" sz="2081" dirty="0"/>
          </a:p>
        </p:txBody>
      </p:sp>
      <p:sp>
        <p:nvSpPr>
          <p:cNvPr id="17" name="Text 14"/>
          <p:cNvSpPr/>
          <p:nvPr/>
        </p:nvSpPr>
        <p:spPr>
          <a:xfrm>
            <a:off x="428625" y="872765"/>
            <a:ext cx="86360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результат привязан к прогону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V01–V115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32197" y="1212093"/>
            <a:ext cx="1581559" cy="715938"/>
          </a:xfrm>
          <a:prstGeom prst="roundRect">
            <a:avLst>
              <a:gd name="adj" fmla="val 13304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50069" y="1315678"/>
            <a:ext cx="1345816" cy="20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94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KS = 0.047</a:t>
            </a:r>
            <a:endParaRPr lang="en-US" sz="1294" dirty="0"/>
          </a:p>
        </p:txBody>
      </p:sp>
      <p:sp>
        <p:nvSpPr>
          <p:cNvPr id="20" name="Text 17"/>
          <p:cNvSpPr/>
          <p:nvPr/>
        </p:nvSpPr>
        <p:spPr>
          <a:xfrm>
            <a:off x="550069" y="1554547"/>
            <a:ext cx="1345816" cy="2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тест Монтгомери: облако ≈ нули ζ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106625" y="1212093"/>
            <a:ext cx="1581671" cy="715938"/>
          </a:xfrm>
          <a:prstGeom prst="roundRect">
            <a:avLst>
              <a:gd name="adj" fmla="val 13304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224497" y="1315678"/>
            <a:ext cx="1345927" cy="20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94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 = 0.598</a:t>
            </a:r>
            <a:endParaRPr lang="en-US" sz="1294" dirty="0"/>
          </a:p>
        </p:txBody>
      </p:sp>
      <p:sp>
        <p:nvSpPr>
          <p:cNvPr id="23" name="Text 20"/>
          <p:cNvSpPr/>
          <p:nvPr/>
        </p:nvSpPr>
        <p:spPr>
          <a:xfrm>
            <a:off x="2224497" y="1554547"/>
            <a:ext cx="1345927" cy="2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GUE-структура idx = 38 из 64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781165" y="1212093"/>
            <a:ext cx="1581559" cy="715938"/>
          </a:xfrm>
          <a:prstGeom prst="roundRect">
            <a:avLst>
              <a:gd name="adj" fmla="val 13304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899036" y="1315678"/>
            <a:ext cx="1345816" cy="20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94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≈ 0.937</a:t>
            </a:r>
            <a:endParaRPr lang="en-US" sz="1294" dirty="0"/>
          </a:p>
        </p:txBody>
      </p:sp>
      <p:sp>
        <p:nvSpPr>
          <p:cNvPr id="26" name="Text 23"/>
          <p:cNvSpPr/>
          <p:nvPr/>
        </p:nvSpPr>
        <p:spPr>
          <a:xfrm>
            <a:off x="3899036" y="1554547"/>
            <a:ext cx="1426564" cy="14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независимость от геометрии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455593" y="1212093"/>
            <a:ext cx="1581671" cy="715938"/>
          </a:xfrm>
          <a:prstGeom prst="roundRect">
            <a:avLst>
              <a:gd name="adj" fmla="val 13304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573464" y="1315678"/>
            <a:ext cx="1345927" cy="20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94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KS = 0.152</a:t>
            </a:r>
            <a:endParaRPr lang="en-US" sz="1294" dirty="0"/>
          </a:p>
        </p:txBody>
      </p:sp>
      <p:sp>
        <p:nvSpPr>
          <p:cNvPr id="29" name="Text 26"/>
          <p:cNvSpPr/>
          <p:nvPr/>
        </p:nvSpPr>
        <p:spPr>
          <a:xfrm>
            <a:off x="5573464" y="1554547"/>
            <a:ext cx="1345927" cy="148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минимум при σ = 1/2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130132" y="1212093"/>
            <a:ext cx="1581559" cy="715938"/>
          </a:xfrm>
          <a:prstGeom prst="roundRect">
            <a:avLst>
              <a:gd name="adj" fmla="val 13304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248004" y="1315678"/>
            <a:ext cx="1345816" cy="228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94" b="1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lnSpc>
                <a:spcPts val="1488"/>
              </a:lnSpc>
              <a:buNone/>
            </a:pPr>
            <a:r>
              <a:rPr lang="en-US" sz="880" b="1" baseline="-400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ts val="1488"/>
              </a:lnSpc>
              <a:buNone/>
            </a:pPr>
            <a:r>
              <a:rPr lang="en-US" sz="1294" b="1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≈ 0.125</a:t>
            </a:r>
            <a:endParaRPr lang="en-US" sz="1294" dirty="0"/>
          </a:p>
        </p:txBody>
      </p:sp>
      <p:sp>
        <p:nvSpPr>
          <p:cNvPr id="32" name="Text 29"/>
          <p:cNvSpPr/>
          <p:nvPr/>
        </p:nvSpPr>
        <p:spPr>
          <a:xfrm>
            <a:off x="7248004" y="1576983"/>
            <a:ext cx="1345816" cy="148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дираковский конус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28625" y="2031616"/>
            <a:ext cx="4086225" cy="648965"/>
          </a:xfrm>
          <a:prstGeom prst="roundRect">
            <a:avLst>
              <a:gd name="adj" fmla="val 14677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78644" y="2174491"/>
            <a:ext cx="3786188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Python-реализации</a:t>
            </a:r>
            <a:endParaRPr lang="en-US" sz="956" dirty="0"/>
          </a:p>
        </p:txBody>
      </p:sp>
      <p:sp>
        <p:nvSpPr>
          <p:cNvPr id="35" name="Text 32"/>
          <p:cNvSpPr/>
          <p:nvPr/>
        </p:nvSpPr>
        <p:spPr>
          <a:xfrm>
            <a:off x="578644" y="2389473"/>
            <a:ext cx="378618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Гамильтониан AB-облака · тест Монтгомери · сертификация нулей ζ (mpmath)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4629150" y="2031616"/>
            <a:ext cx="4086225" cy="648965"/>
          </a:xfrm>
          <a:prstGeom prst="roundRect">
            <a:avLst>
              <a:gd name="adj" fmla="val 14677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779169" y="2174491"/>
            <a:ext cx="3786187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Julia v12</a:t>
            </a:r>
            <a:endParaRPr lang="en-US" sz="956" dirty="0"/>
          </a:p>
        </p:txBody>
      </p:sp>
      <p:sp>
        <p:nvSpPr>
          <p:cNvPr id="38" name="Text 35"/>
          <p:cNvSpPr/>
          <p:nvPr/>
        </p:nvSpPr>
        <p:spPr>
          <a:xfrm>
            <a:off x="4779169" y="2389473"/>
            <a:ext cx="378618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Полный прогон V01–V115 · 23.06.2026 · 220.55 с · 12 задач без сбоев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2767757" y="2784165"/>
            <a:ext cx="1824893" cy="207169"/>
          </a:xfrm>
          <a:prstGeom prst="roundRect">
            <a:avLst>
              <a:gd name="adj" fmla="val 4593098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108647" y="2830599"/>
            <a:ext cx="152329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10.5281/zenodo.21825394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2871341" y="2830599"/>
            <a:ext cx="16177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DOI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671231" y="2784165"/>
            <a:ext cx="1704901" cy="207169"/>
          </a:xfrm>
          <a:prstGeom prst="roundRect">
            <a:avLst>
              <a:gd name="adj" fmla="val 4593098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132115" y="2830599"/>
            <a:ext cx="358326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0009-0003-7299-0701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774816" y="2830599"/>
            <a:ext cx="149773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ORCID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0" y="4288036"/>
            <a:ext cx="863600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spc="197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ИТОГ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28625" y="4473773"/>
            <a:ext cx="8286750" cy="26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8"/>
              </a:lnSpc>
              <a:buNone/>
            </a:pPr>
            <a:r>
              <a:rPr lang="en-US" sz="1406" b="1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Гипотеза Римана как условие универсальности квантового пространства</a:t>
            </a:r>
            <a:endParaRPr lang="en-US" sz="1406" dirty="0"/>
          </a:p>
        </p:txBody>
      </p:sp>
      <p:sp>
        <p:nvSpPr>
          <p:cNvPr id="47" name="Text 44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80F1B">
              <a:alpha val="7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428625" y="4961334"/>
            <a:ext cx="7864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· Монография v21 · Авторская редакция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8284291" y="4961334"/>
            <a:ext cx="4539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4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pPr algn="l" indent="0" marL="0">
              <a:buNone/>
            </a:pPr>
            <a:r>
              <a:rPr lang="en-US" sz="800" spc="5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2026-08-28T14:02:48Z</dcterms:created>
  <dcterms:modified xsi:type="dcterms:W3CDTF">2026-08-28T14:02:48Z</dcterms:modified>
</cp:coreProperties>
</file>